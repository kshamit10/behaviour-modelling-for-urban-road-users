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5143500" cx="9144000"/>
  <p:notesSz cx="6858000" cy="9144000"/>
  <p:embeddedFontLst>
    <p:embeddedFont>
      <p:font typeface="Roboto"/>
      <p:regular r:id="rId57"/>
      <p:bold r:id="rId58"/>
      <p:italic r:id="rId59"/>
      <p:boldItalic r:id="rId60"/>
    </p:embeddedFont>
    <p:embeddedFont>
      <p:font typeface="Josefin Sans"/>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45A3726-6D87-4FA0-885B-04208B5A4D76}">
  <a:tblStyle styleId="{D45A3726-6D87-4FA0-885B-04208B5A4D7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JosefinSans-bold.fntdata"/><Relationship Id="rId61" Type="http://schemas.openxmlformats.org/officeDocument/2006/relationships/font" Target="fonts/JosefinSans-regular.fntdata"/><Relationship Id="rId20" Type="http://schemas.openxmlformats.org/officeDocument/2006/relationships/slide" Target="slides/slide14.xml"/><Relationship Id="rId64" Type="http://schemas.openxmlformats.org/officeDocument/2006/relationships/font" Target="fonts/JosefinSans-boldItalic.fntdata"/><Relationship Id="rId63" Type="http://schemas.openxmlformats.org/officeDocument/2006/relationships/font" Target="fonts/JosefinSans-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Roboto-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Roboto-italic.fntdata"/><Relationship Id="rId14" Type="http://schemas.openxmlformats.org/officeDocument/2006/relationships/slide" Target="slides/slide8.xml"/><Relationship Id="rId58" Type="http://schemas.openxmlformats.org/officeDocument/2006/relationships/font" Target="fonts/Roboto-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0cc3f44ad1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0cc3f44ad1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19185ab513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19185ab513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19e06ec09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19e06ec09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3bd2905b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3bd2905b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19e06ec09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19e06ec09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0cc3f44ad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0cc3f44ad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0cc3f44ad1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0cc3f44ad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0cc3f44ad1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0cc3f44ad1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19185ab513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19185ab513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14165016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14165016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17a7f4ba92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17a7f4ba92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17a7f4ba92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17a7f4ba92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17a7f4ba92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17a7f4ba92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141650164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141650164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17a7f4ba9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17a7f4ba9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17a7f4ba9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17a7f4ba9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17a7f4ba9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17a7f4ba9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17a7f4ba92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17a7f4ba92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17a7f4ba92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17a7f4ba92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19185ab513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19185ab513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19185ab51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19185ab51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19185ab513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19185ab513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19185ab513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19185ab513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19e06ec099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19e06ec09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3bd2905b97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3bd2905b97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3bd2905b9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3bd2905b9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3bd2905b9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3bd2905b9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3bd2905b9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3bd2905b9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3bd2905b9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3bd2905b9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3bd2905b97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3bd2905b97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3bd2905b97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3bd2905b97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4f2440065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4f2440065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402829626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402829626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4f2440065b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4f2440065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3bd2905b97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3bd2905b97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4f2440065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4f2440065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402829626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402829626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4028296266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402829626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4028296266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4028296266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4028296266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4028296266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4028296266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4028296266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4028296266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4028296266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4028296266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4028296266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4f244006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4f244006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402829626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402829626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4f2440065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4f2440065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4028296266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4028296266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4f2440065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4f2440065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4f2440065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4f2440065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data.nvision2.eecs.yorku.ca/JAAD_dataset/" TargetMode="External"/><Relationship Id="rId4" Type="http://schemas.openxmlformats.org/officeDocument/2006/relationships/hyperlink" Target="http://pedestriandataset.situated-intent.net/" TargetMode="External"/><Relationship Id="rId5" Type="http://schemas.openxmlformats.org/officeDocument/2006/relationships/hyperlink" Target="https://pedsdataset.github.io/" TargetMode="External"/><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robotcar-dataset.robots.ox.ac.uk/" TargetMode="External"/><Relationship Id="rId4" Type="http://schemas.openxmlformats.org/officeDocument/2006/relationships/hyperlink" Target="https://drive.google.com/file/d/1pEb4CBkLKL0ZHpA3OOvO88dndWEX9_UG/view?usp=sharing" TargetMode="External"/><Relationship Id="rId5" Type="http://schemas.openxmlformats.org/officeDocument/2006/relationships/hyperlink" Target="https://www.kaggle.com/datasets/outofskills/driving-behavior" TargetMode="External"/><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docs.google.com/document/d/10wVdgLpXsNHM4jM3_9qKPojw6afZCkYUrZEILuZ1who/edit?usp=sharing" TargetMode="Externa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github.com/carla-simulator/carla" TargetMode="Externa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12.png"/><Relationship Id="rId6"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10.png"/><Relationship Id="rId6"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 Id="rId4" Type="http://schemas.openxmlformats.org/officeDocument/2006/relationships/image" Target="../media/image1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150" y="3907425"/>
            <a:ext cx="9144000" cy="1236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500">
                <a:solidFill>
                  <a:srgbClr val="FFFFFF"/>
                </a:solidFill>
                <a:latin typeface="Josefin Sans"/>
                <a:ea typeface="Josefin Sans"/>
                <a:cs typeface="Josefin Sans"/>
                <a:sym typeface="Josefin Sans"/>
              </a:rPr>
              <a:t>Behaviour Modeling of Urban Road Users</a:t>
            </a:r>
            <a:endParaRPr b="1" sz="1500">
              <a:solidFill>
                <a:srgbClr val="FFFFFF"/>
              </a:solidFill>
              <a:latin typeface="Josefin Sans"/>
              <a:ea typeface="Josefin Sans"/>
              <a:cs typeface="Josefin Sans"/>
              <a:sym typeface="Josefin Sans"/>
            </a:endParaRPr>
          </a:p>
          <a:p>
            <a:pPr indent="0" lvl="0" marL="0" rtl="0" algn="ctr">
              <a:spcBef>
                <a:spcPts val="0"/>
              </a:spcBef>
              <a:spcAft>
                <a:spcPts val="0"/>
              </a:spcAft>
              <a:buNone/>
            </a:pPr>
            <a:r>
              <a:rPr lang="en-GB">
                <a:solidFill>
                  <a:srgbClr val="FFFFFF"/>
                </a:solidFill>
                <a:latin typeface="Josefin Sans"/>
                <a:ea typeface="Josefin Sans"/>
                <a:cs typeface="Josefin Sans"/>
                <a:sym typeface="Josefin Sans"/>
              </a:rPr>
              <a:t>Kshamit Bombarde, 20BT3AI07</a:t>
            </a:r>
            <a:endParaRPr>
              <a:solidFill>
                <a:srgbClr val="FFFFFF"/>
              </a:solidFill>
              <a:latin typeface="Josefin Sans"/>
              <a:ea typeface="Josefin Sans"/>
              <a:cs typeface="Josefin Sans"/>
              <a:sym typeface="Josefin Sans"/>
            </a:endParaRPr>
          </a:p>
          <a:p>
            <a:pPr indent="0" lvl="0" marL="0" rtl="0" algn="ctr">
              <a:spcBef>
                <a:spcPts val="0"/>
              </a:spcBef>
              <a:spcAft>
                <a:spcPts val="0"/>
              </a:spcAft>
              <a:buNone/>
            </a:pPr>
            <a:r>
              <a:t/>
            </a:r>
            <a:endParaRPr>
              <a:solidFill>
                <a:srgbClr val="FFFFFF"/>
              </a:solidFill>
              <a:latin typeface="Josefin Sans"/>
              <a:ea typeface="Josefin Sans"/>
              <a:cs typeface="Josefin Sans"/>
              <a:sym typeface="Josefin Sans"/>
            </a:endParaRPr>
          </a:p>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Supervisor: Prof. Adway Mitra</a:t>
            </a:r>
            <a:endParaRPr b="1">
              <a:solidFill>
                <a:srgbClr val="FFFFFF"/>
              </a:solidFill>
              <a:latin typeface="Josefin Sans"/>
              <a:ea typeface="Josefin Sans"/>
              <a:cs typeface="Josefin Sans"/>
              <a:sym typeface="Josefin Sans"/>
            </a:endParaRPr>
          </a:p>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Indian Institute of Technology</a:t>
            </a:r>
            <a:r>
              <a:rPr b="1" lang="en-GB">
                <a:solidFill>
                  <a:srgbClr val="FFFFFF"/>
                </a:solidFill>
                <a:latin typeface="Josefin Sans"/>
                <a:ea typeface="Josefin Sans"/>
                <a:cs typeface="Josefin Sans"/>
                <a:sym typeface="Josefin Sans"/>
              </a:rPr>
              <a:t> Kharagpur</a:t>
            </a:r>
            <a:endParaRPr>
              <a:solidFill>
                <a:srgbClr val="FFFFFF"/>
              </a:solidFill>
              <a:latin typeface="Josefin Sans"/>
              <a:ea typeface="Josefin Sans"/>
              <a:cs typeface="Josefin Sans"/>
              <a:sym typeface="Josefin Sans"/>
            </a:endParaRPr>
          </a:p>
        </p:txBody>
      </p:sp>
      <p:sp>
        <p:nvSpPr>
          <p:cNvPr id="55" name="Google Shape;55;p13"/>
          <p:cNvSpPr txBox="1"/>
          <p:nvPr/>
        </p:nvSpPr>
        <p:spPr>
          <a:xfrm>
            <a:off x="6170550" y="0"/>
            <a:ext cx="30000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100">
                <a:solidFill>
                  <a:schemeClr val="lt1"/>
                </a:solidFill>
                <a:latin typeface="Josefin Sans"/>
                <a:ea typeface="Josefin Sans"/>
                <a:cs typeface="Josefin Sans"/>
                <a:sym typeface="Josefin Sans"/>
              </a:rPr>
              <a:t>            TATA POWER</a:t>
            </a:r>
            <a:endParaRPr sz="2300"/>
          </a:p>
        </p:txBody>
      </p:sp>
      <p:pic>
        <p:nvPicPr>
          <p:cNvPr id="56" name="Google Shape;56;p13"/>
          <p:cNvPicPr preferRelativeResize="0"/>
          <p:nvPr/>
        </p:nvPicPr>
        <p:blipFill>
          <a:blip r:embed="rId3">
            <a:alphaModFix/>
          </a:blip>
          <a:stretch>
            <a:fillRect/>
          </a:stretch>
        </p:blipFill>
        <p:spPr>
          <a:xfrm>
            <a:off x="0" y="0"/>
            <a:ext cx="9144000" cy="39074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p:nvPr/>
        </p:nvSpPr>
        <p:spPr>
          <a:xfrm>
            <a:off x="0" y="1991600"/>
            <a:ext cx="9144000" cy="315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chemeClr val="lt1"/>
                </a:solidFill>
                <a:latin typeface="Josefin Sans"/>
                <a:ea typeface="Josefin Sans"/>
                <a:cs typeface="Josefin Sans"/>
                <a:sym typeface="Josefin Sans"/>
              </a:rPr>
              <a:t>Behavioral modeling of urban road users involves analyzing and predicting the actions of pedestrians and drivers in city environments to enhance safety and traffic efficiency. This modeling utilizes data from various sources, including real-time surveillance and advanced algorithms, to understand how different factors—such as environmental conditions, human behaviors, and road designs—affect interactions between road users. By simulating these behaviors, researchers can identify patterns that lead to accidents and develop strategies to mitigate risks. Ultimately, this approach aims to inform urban planning and policy decisions, fostering safer streets for all users while accommodating the complexities of human behavior in dynamic urban settings.</a:t>
            </a:r>
            <a:endParaRPr>
              <a:solidFill>
                <a:schemeClr val="lt1"/>
              </a:solidFill>
              <a:highlight>
                <a:schemeClr val="accent1"/>
              </a:highlight>
              <a:latin typeface="Josefin Sans"/>
              <a:ea typeface="Josefin Sans"/>
              <a:cs typeface="Josefin Sans"/>
              <a:sym typeface="Josefin Sans"/>
            </a:endParaRPr>
          </a:p>
        </p:txBody>
      </p:sp>
      <p:sp>
        <p:nvSpPr>
          <p:cNvPr id="62" name="Google Shape;62;p14"/>
          <p:cNvSpPr txBox="1"/>
          <p:nvPr/>
        </p:nvSpPr>
        <p:spPr>
          <a:xfrm>
            <a:off x="6170550" y="0"/>
            <a:ext cx="30000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100">
                <a:solidFill>
                  <a:schemeClr val="lt1"/>
                </a:solidFill>
                <a:latin typeface="Josefin Sans"/>
                <a:ea typeface="Josefin Sans"/>
                <a:cs typeface="Josefin Sans"/>
                <a:sym typeface="Josefin Sans"/>
              </a:rPr>
              <a:t>            TATA POWER</a:t>
            </a:r>
            <a:endParaRPr sz="2300"/>
          </a:p>
        </p:txBody>
      </p:sp>
      <p:sp>
        <p:nvSpPr>
          <p:cNvPr id="63" name="Google Shape;63;p14"/>
          <p:cNvSpPr/>
          <p:nvPr/>
        </p:nvSpPr>
        <p:spPr>
          <a:xfrm>
            <a:off x="0" y="0"/>
            <a:ext cx="9144000" cy="2056500"/>
          </a:xfrm>
          <a:prstGeom prst="rect">
            <a:avLst/>
          </a:pr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Josefin Sans"/>
                <a:ea typeface="Josefin Sans"/>
                <a:cs typeface="Josefin Sans"/>
                <a:sym typeface="Josefin Sans"/>
              </a:rPr>
              <a:t>OVERVIEW</a:t>
            </a:r>
            <a:r>
              <a:rPr b="1" lang="en-GB">
                <a:solidFill>
                  <a:srgbClr val="000000"/>
                </a:solidFill>
                <a:latin typeface="Josefin Sans"/>
                <a:ea typeface="Josefin Sans"/>
                <a:cs typeface="Josefin Sans"/>
                <a:sym typeface="Josefin Sans"/>
              </a:rPr>
              <a:t>   </a:t>
            </a:r>
            <a:endParaRPr b="1">
              <a:solidFill>
                <a:srgbClr val="000000"/>
              </a:solidFill>
              <a:latin typeface="Josefin Sans"/>
              <a:ea typeface="Josefin Sans"/>
              <a:cs typeface="Josefin Sans"/>
              <a:sym typeface="Josefin Sans"/>
            </a:endParaRPr>
          </a:p>
        </p:txBody>
      </p:sp>
      <p:pic>
        <p:nvPicPr>
          <p:cNvPr id="64" name="Google Shape;64;p14"/>
          <p:cNvPicPr preferRelativeResize="0"/>
          <p:nvPr/>
        </p:nvPicPr>
        <p:blipFill>
          <a:blip r:embed="rId3">
            <a:alphaModFix/>
          </a:blip>
          <a:stretch>
            <a:fillRect/>
          </a:stretch>
        </p:blipFill>
        <p:spPr>
          <a:xfrm>
            <a:off x="84625" y="25350"/>
            <a:ext cx="407152" cy="457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6170550" y="0"/>
            <a:ext cx="30000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100">
                <a:solidFill>
                  <a:schemeClr val="lt1"/>
                </a:solidFill>
                <a:latin typeface="Josefin Sans"/>
                <a:ea typeface="Josefin Sans"/>
                <a:cs typeface="Josefin Sans"/>
                <a:sym typeface="Josefin Sans"/>
              </a:rPr>
              <a:t>            TATA POWER</a:t>
            </a:r>
            <a:endParaRPr sz="2300"/>
          </a:p>
        </p:txBody>
      </p:sp>
      <p:sp>
        <p:nvSpPr>
          <p:cNvPr id="70" name="Google Shape;70;p15"/>
          <p:cNvSpPr/>
          <p:nvPr/>
        </p:nvSpPr>
        <p:spPr>
          <a:xfrm>
            <a:off x="-150" y="-51600"/>
            <a:ext cx="9144000" cy="51435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3200">
                <a:solidFill>
                  <a:srgbClr val="FFFFFF"/>
                </a:solidFill>
                <a:latin typeface="Josefin Sans"/>
                <a:ea typeface="Josefin Sans"/>
                <a:cs typeface="Josefin Sans"/>
                <a:sym typeface="Josefin Sans"/>
              </a:rPr>
              <a:t>PART - I</a:t>
            </a:r>
            <a:endParaRPr b="1" sz="3200">
              <a:solidFill>
                <a:srgbClr val="FFFFFF"/>
              </a:solidFill>
              <a:latin typeface="Josefin Sans"/>
              <a:ea typeface="Josefin Sans"/>
              <a:cs typeface="Josefin Sans"/>
              <a:sym typeface="Josefi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nvSpPr>
        <p:spPr>
          <a:xfrm>
            <a:off x="6170550" y="0"/>
            <a:ext cx="30000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100">
                <a:solidFill>
                  <a:schemeClr val="lt1"/>
                </a:solidFill>
                <a:latin typeface="Josefin Sans"/>
                <a:ea typeface="Josefin Sans"/>
                <a:cs typeface="Josefin Sans"/>
                <a:sym typeface="Josefin Sans"/>
              </a:rPr>
              <a:t>            TATA POWER</a:t>
            </a:r>
            <a:endParaRPr sz="2300"/>
          </a:p>
        </p:txBody>
      </p:sp>
      <p:sp>
        <p:nvSpPr>
          <p:cNvPr id="76" name="Google Shape;76;p16"/>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LIST OF CONTENTS</a:t>
            </a:r>
            <a:endParaRPr b="1">
              <a:solidFill>
                <a:srgbClr val="FFFFFF"/>
              </a:solidFill>
              <a:latin typeface="Josefin Sans"/>
              <a:ea typeface="Josefin Sans"/>
              <a:cs typeface="Josefin Sans"/>
              <a:sym typeface="Josefin Sans"/>
            </a:endParaRPr>
          </a:p>
        </p:txBody>
      </p:sp>
      <p:pic>
        <p:nvPicPr>
          <p:cNvPr id="77" name="Google Shape;77;p16"/>
          <p:cNvPicPr preferRelativeResize="0"/>
          <p:nvPr/>
        </p:nvPicPr>
        <p:blipFill>
          <a:blip r:embed="rId3">
            <a:alphaModFix/>
          </a:blip>
          <a:stretch>
            <a:fillRect/>
          </a:stretch>
        </p:blipFill>
        <p:spPr>
          <a:xfrm>
            <a:off x="52150" y="-5850"/>
            <a:ext cx="407152" cy="457200"/>
          </a:xfrm>
          <a:prstGeom prst="rect">
            <a:avLst/>
          </a:prstGeom>
          <a:noFill/>
          <a:ln>
            <a:noFill/>
          </a:ln>
        </p:spPr>
      </p:pic>
      <p:sp>
        <p:nvSpPr>
          <p:cNvPr id="78" name="Google Shape;78;p16"/>
          <p:cNvSpPr txBox="1"/>
          <p:nvPr/>
        </p:nvSpPr>
        <p:spPr>
          <a:xfrm>
            <a:off x="859350" y="1186350"/>
            <a:ext cx="7425300" cy="2770800"/>
          </a:xfrm>
          <a:prstGeom prst="rect">
            <a:avLst/>
          </a:prstGeom>
          <a:noFill/>
          <a:ln>
            <a:noFill/>
          </a:ln>
        </p:spPr>
        <p:txBody>
          <a:bodyPr anchorCtr="0" anchor="t" bIns="91425" lIns="91425" spcFirstLastPara="1" rIns="91425" wrap="square" tIns="91425">
            <a:noAutofit/>
          </a:bodyPr>
          <a:lstStyle/>
          <a:p>
            <a:pPr indent="-419100" lvl="0" marL="457200" rtl="0" algn="l">
              <a:spcBef>
                <a:spcPts val="0"/>
              </a:spcBef>
              <a:spcAft>
                <a:spcPts val="0"/>
              </a:spcAft>
              <a:buClr>
                <a:schemeClr val="dk2"/>
              </a:buClr>
              <a:buSzPts val="3000"/>
              <a:buChar char="●"/>
            </a:pPr>
            <a:r>
              <a:rPr lang="en-GB" sz="3000">
                <a:solidFill>
                  <a:schemeClr val="dk2"/>
                </a:solidFill>
              </a:rPr>
              <a:t>Overview</a:t>
            </a:r>
            <a:endParaRPr sz="3000">
              <a:solidFill>
                <a:schemeClr val="dk2"/>
              </a:solidFill>
            </a:endParaRPr>
          </a:p>
          <a:p>
            <a:pPr indent="-419100" lvl="0" marL="457200" rtl="0" algn="l">
              <a:spcBef>
                <a:spcPts val="0"/>
              </a:spcBef>
              <a:spcAft>
                <a:spcPts val="0"/>
              </a:spcAft>
              <a:buClr>
                <a:schemeClr val="dk2"/>
              </a:buClr>
              <a:buSzPts val="3000"/>
              <a:buChar char="●"/>
            </a:pPr>
            <a:r>
              <a:rPr lang="en-GB" sz="3000">
                <a:solidFill>
                  <a:schemeClr val="dk2"/>
                </a:solidFill>
              </a:rPr>
              <a:t>Task I - Data Exploration</a:t>
            </a:r>
            <a:endParaRPr sz="3000">
              <a:solidFill>
                <a:schemeClr val="dk2"/>
              </a:solidFill>
            </a:endParaRPr>
          </a:p>
          <a:p>
            <a:pPr indent="-419100" lvl="0" marL="457200" rtl="0" algn="l">
              <a:spcBef>
                <a:spcPts val="0"/>
              </a:spcBef>
              <a:spcAft>
                <a:spcPts val="0"/>
              </a:spcAft>
              <a:buClr>
                <a:schemeClr val="dk2"/>
              </a:buClr>
              <a:buSzPts val="3000"/>
              <a:buChar char="●"/>
            </a:pPr>
            <a:r>
              <a:rPr lang="en-GB" sz="3000">
                <a:solidFill>
                  <a:schemeClr val="dk2"/>
                </a:solidFill>
              </a:rPr>
              <a:t>Task II - Statistical Deep Dive</a:t>
            </a:r>
            <a:endParaRPr sz="3000">
              <a:solidFill>
                <a:schemeClr val="dk2"/>
              </a:solidFill>
            </a:endParaRPr>
          </a:p>
          <a:p>
            <a:pPr indent="-419100" lvl="0" marL="457200" rtl="0" algn="l">
              <a:spcBef>
                <a:spcPts val="0"/>
              </a:spcBef>
              <a:spcAft>
                <a:spcPts val="0"/>
              </a:spcAft>
              <a:buClr>
                <a:schemeClr val="dk2"/>
              </a:buClr>
              <a:buSzPts val="3000"/>
              <a:buChar char="●"/>
            </a:pPr>
            <a:r>
              <a:rPr lang="en-GB" sz="3000">
                <a:solidFill>
                  <a:schemeClr val="dk2"/>
                </a:solidFill>
              </a:rPr>
              <a:t>Task III - Trajectories, Risky Situations, Simulation Platforms</a:t>
            </a:r>
            <a:endParaRPr sz="30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p:nvPr/>
        </p:nvSpPr>
        <p:spPr>
          <a:xfrm>
            <a:off x="-26550" y="1075050"/>
            <a:ext cx="9197100" cy="4068300"/>
          </a:xfrm>
          <a:prstGeom prst="rect">
            <a:avLst/>
          </a:prstGeom>
          <a:solidFill>
            <a:schemeClr val="accent1"/>
          </a:solidFill>
          <a:ln>
            <a:noFill/>
          </a:ln>
        </p:spPr>
        <p:txBody>
          <a:bodyPr anchorCtr="0" anchor="ctr" bIns="91425" lIns="91425" spcFirstLastPara="1" rIns="91425" wrap="square" tIns="91425">
            <a:noAutofit/>
          </a:bodyPr>
          <a:lstStyle/>
          <a:p>
            <a:pPr indent="-330200" lvl="0" marL="457200" rtl="0" algn="ctr">
              <a:spcBef>
                <a:spcPts val="0"/>
              </a:spcBef>
              <a:spcAft>
                <a:spcPts val="0"/>
              </a:spcAft>
              <a:buClr>
                <a:schemeClr val="lt1"/>
              </a:buClr>
              <a:buSzPts val="1600"/>
              <a:buFont typeface="Josefin Sans"/>
              <a:buChar char="●"/>
            </a:pPr>
            <a:r>
              <a:rPr lang="en-GB" sz="1600">
                <a:solidFill>
                  <a:schemeClr val="lt1"/>
                </a:solidFill>
                <a:highlight>
                  <a:schemeClr val="accent1"/>
                </a:highlight>
                <a:latin typeface="Josefin Sans"/>
                <a:ea typeface="Josefin Sans"/>
                <a:cs typeface="Josefin Sans"/>
                <a:sym typeface="Josefin Sans"/>
              </a:rPr>
              <a:t>Existing pedestrian /driver behavior datasets</a:t>
            </a:r>
            <a:endParaRPr sz="1600">
              <a:solidFill>
                <a:schemeClr val="lt1"/>
              </a:solidFill>
              <a:highlight>
                <a:schemeClr val="accent1"/>
              </a:highlight>
              <a:latin typeface="Josefin Sans"/>
              <a:ea typeface="Josefin Sans"/>
              <a:cs typeface="Josefin Sans"/>
              <a:sym typeface="Josefin Sans"/>
            </a:endParaRPr>
          </a:p>
          <a:p>
            <a:pPr indent="-330200" lvl="0" marL="457200" rtl="0" algn="ctr">
              <a:spcBef>
                <a:spcPts val="0"/>
              </a:spcBef>
              <a:spcAft>
                <a:spcPts val="0"/>
              </a:spcAft>
              <a:buClr>
                <a:schemeClr val="lt1"/>
              </a:buClr>
              <a:buSzPts val="1600"/>
              <a:buFont typeface="Josefin Sans"/>
              <a:buChar char="●"/>
            </a:pPr>
            <a:r>
              <a:rPr lang="en-GB" sz="1600">
                <a:solidFill>
                  <a:schemeClr val="lt1"/>
                </a:solidFill>
                <a:highlight>
                  <a:schemeClr val="accent1"/>
                </a:highlight>
                <a:latin typeface="Josefin Sans"/>
                <a:ea typeface="Josefin Sans"/>
                <a:cs typeface="Josefin Sans"/>
                <a:sym typeface="Josefin Sans"/>
              </a:rPr>
              <a:t>Techniques used to create/record such data</a:t>
            </a:r>
            <a:endParaRPr sz="1600">
              <a:solidFill>
                <a:schemeClr val="lt1"/>
              </a:solidFill>
              <a:highlight>
                <a:schemeClr val="accent1"/>
              </a:highlight>
              <a:latin typeface="Josefin Sans"/>
              <a:ea typeface="Josefin Sans"/>
              <a:cs typeface="Josefin Sans"/>
              <a:sym typeface="Josefin Sans"/>
            </a:endParaRPr>
          </a:p>
        </p:txBody>
      </p:sp>
      <p:sp>
        <p:nvSpPr>
          <p:cNvPr id="84" name="Google Shape;84;p17"/>
          <p:cNvSpPr txBox="1"/>
          <p:nvPr/>
        </p:nvSpPr>
        <p:spPr>
          <a:xfrm>
            <a:off x="6170550" y="0"/>
            <a:ext cx="30000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100">
                <a:solidFill>
                  <a:schemeClr val="lt1"/>
                </a:solidFill>
                <a:latin typeface="Josefin Sans"/>
                <a:ea typeface="Josefin Sans"/>
                <a:cs typeface="Josefin Sans"/>
                <a:sym typeface="Josefin Sans"/>
              </a:rPr>
              <a:t>            TATA POWER</a:t>
            </a:r>
            <a:endParaRPr sz="2300"/>
          </a:p>
        </p:txBody>
      </p:sp>
      <p:sp>
        <p:nvSpPr>
          <p:cNvPr id="85" name="Google Shape;85;p17"/>
          <p:cNvSpPr/>
          <p:nvPr/>
        </p:nvSpPr>
        <p:spPr>
          <a:xfrm>
            <a:off x="0" y="194625"/>
            <a:ext cx="9144000" cy="750900"/>
          </a:xfrm>
          <a:prstGeom prst="rect">
            <a:avLst/>
          </a:pr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100">
                <a:latin typeface="Josefin Sans"/>
                <a:ea typeface="Josefin Sans"/>
                <a:cs typeface="Josefin Sans"/>
                <a:sym typeface="Josefin Sans"/>
              </a:rPr>
              <a:t>TASK I</a:t>
            </a:r>
            <a:r>
              <a:rPr b="1" lang="en-GB" sz="2100">
                <a:solidFill>
                  <a:srgbClr val="000000"/>
                </a:solidFill>
                <a:latin typeface="Josefin Sans"/>
                <a:ea typeface="Josefin Sans"/>
                <a:cs typeface="Josefin Sans"/>
                <a:sym typeface="Josefin Sans"/>
              </a:rPr>
              <a:t>   </a:t>
            </a:r>
            <a:endParaRPr b="1" sz="2100">
              <a:solidFill>
                <a:srgbClr val="000000"/>
              </a:solidFill>
              <a:latin typeface="Josefin Sans"/>
              <a:ea typeface="Josefin Sans"/>
              <a:cs typeface="Josefin Sans"/>
              <a:sym typeface="Josefin Sans"/>
            </a:endParaRPr>
          </a:p>
        </p:txBody>
      </p:sp>
      <p:pic>
        <p:nvPicPr>
          <p:cNvPr id="86" name="Google Shape;86;p17"/>
          <p:cNvPicPr preferRelativeResize="0"/>
          <p:nvPr/>
        </p:nvPicPr>
        <p:blipFill>
          <a:blip r:embed="rId3">
            <a:alphaModFix/>
          </a:blip>
          <a:stretch>
            <a:fillRect/>
          </a:stretch>
        </p:blipFill>
        <p:spPr>
          <a:xfrm>
            <a:off x="84625" y="25350"/>
            <a:ext cx="407152" cy="45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Existing </a:t>
            </a:r>
            <a:r>
              <a:rPr b="1" lang="en-GB">
                <a:solidFill>
                  <a:srgbClr val="FFFFFF"/>
                </a:solidFill>
                <a:latin typeface="Josefin Sans"/>
                <a:ea typeface="Josefin Sans"/>
                <a:cs typeface="Josefin Sans"/>
                <a:sym typeface="Josefin Sans"/>
              </a:rPr>
              <a:t>pedestrian/driver behaviour dataset</a:t>
            </a:r>
            <a:endParaRPr b="1">
              <a:solidFill>
                <a:srgbClr val="FFFFFF"/>
              </a:solidFill>
              <a:latin typeface="Josefin Sans"/>
              <a:ea typeface="Josefin Sans"/>
              <a:cs typeface="Josefin Sans"/>
              <a:sym typeface="Josefin Sans"/>
            </a:endParaRPr>
          </a:p>
        </p:txBody>
      </p:sp>
      <p:sp>
        <p:nvSpPr>
          <p:cNvPr id="92" name="Google Shape;92;p18"/>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DATA COLLECTION</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93" name="Google Shape;93;p18"/>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Datasets focusing more on the pedestrian side of parameters - JAAD, PSI, and PEDS</a:t>
            </a:r>
            <a:endParaRPr sz="1100">
              <a:solidFill>
                <a:srgbClr val="FFFFFF"/>
              </a:solidFill>
              <a:latin typeface="Josefin Sans"/>
              <a:ea typeface="Josefin Sans"/>
              <a:cs typeface="Josefin Sans"/>
              <a:sym typeface="Josefin Sans"/>
            </a:endParaRPr>
          </a:p>
        </p:txBody>
      </p:sp>
      <p:sp>
        <p:nvSpPr>
          <p:cNvPr id="94" name="Google Shape;94;p18"/>
          <p:cNvSpPr txBox="1"/>
          <p:nvPr/>
        </p:nvSpPr>
        <p:spPr>
          <a:xfrm>
            <a:off x="341263" y="919250"/>
            <a:ext cx="2729700" cy="457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JAAD Dataset</a:t>
            </a:r>
            <a:endParaRPr b="1" sz="1200">
              <a:solidFill>
                <a:srgbClr val="FFFFFF"/>
              </a:solidFill>
              <a:latin typeface="Josefin Sans"/>
              <a:ea typeface="Josefin Sans"/>
              <a:cs typeface="Josefin Sans"/>
              <a:sym typeface="Josefin Sans"/>
            </a:endParaRPr>
          </a:p>
        </p:txBody>
      </p:sp>
      <p:sp>
        <p:nvSpPr>
          <p:cNvPr id="95" name="Google Shape;95;p18"/>
          <p:cNvSpPr txBox="1"/>
          <p:nvPr/>
        </p:nvSpPr>
        <p:spPr>
          <a:xfrm>
            <a:off x="341309" y="1513901"/>
            <a:ext cx="2729700" cy="3057000"/>
          </a:xfrm>
          <a:prstGeom prst="rect">
            <a:avLst/>
          </a:prstGeom>
          <a:solidFill>
            <a:srgbClr val="F3F3F3"/>
          </a:solidFill>
          <a:ln cap="flat" cmpd="sng" w="9525">
            <a:solidFill>
              <a:srgbClr val="4285F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Overview: The JAAD dataset focuses on studying pedestrian and driver behaviors at crosswalks, particularly the interactions that occur when pedestrians are about to cross the street.</a:t>
            </a:r>
            <a:endParaRPr sz="1200">
              <a:solidFill>
                <a:schemeClr val="dk1"/>
              </a:solidFill>
              <a:latin typeface="Josefin Sans"/>
              <a:ea typeface="Josefin Sans"/>
              <a:cs typeface="Josefin Sans"/>
              <a:sym typeface="Josefin Sans"/>
            </a:endParaRPr>
          </a:p>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Purpose: Designed for research in pedestrian detection and understanding interactions at crosswalks to improve autonomous vehicle systems.</a:t>
            </a:r>
            <a:endParaRPr sz="1200">
              <a:solidFill>
                <a:schemeClr val="dk1"/>
              </a:solidFill>
              <a:latin typeface="Josefin Sans"/>
              <a:ea typeface="Josefin Sans"/>
              <a:cs typeface="Josefin Sans"/>
              <a:sym typeface="Josefin Sans"/>
            </a:endParaRPr>
          </a:p>
          <a:p>
            <a:pPr indent="0" lvl="0" marL="0" rtl="0" algn="l">
              <a:lnSpc>
                <a:spcPct val="115000"/>
              </a:lnSpc>
              <a:spcBef>
                <a:spcPts val="600"/>
              </a:spcBef>
              <a:spcAft>
                <a:spcPts val="600"/>
              </a:spcAft>
              <a:buNone/>
            </a:pPr>
            <a:r>
              <a:rPr lang="en-GB" sz="1200">
                <a:solidFill>
                  <a:schemeClr val="dk1"/>
                </a:solidFill>
                <a:latin typeface="Josefin Sans"/>
                <a:ea typeface="Josefin Sans"/>
                <a:cs typeface="Josefin Sans"/>
                <a:sym typeface="Josefin Sans"/>
              </a:rPr>
              <a:t>Link: </a:t>
            </a:r>
            <a:r>
              <a:rPr lang="en-GB" sz="1200" u="sng">
                <a:solidFill>
                  <a:schemeClr val="hlink"/>
                </a:solidFill>
                <a:latin typeface="Josefin Sans"/>
                <a:ea typeface="Josefin Sans"/>
                <a:cs typeface="Josefin Sans"/>
                <a:sym typeface="Josefin Sans"/>
                <a:hlinkClick r:id="rId3"/>
              </a:rPr>
              <a:t>JAAD Dataset</a:t>
            </a:r>
            <a:endParaRPr sz="1000">
              <a:solidFill>
                <a:schemeClr val="dk1"/>
              </a:solidFill>
              <a:latin typeface="Josefin Sans"/>
              <a:ea typeface="Josefin Sans"/>
              <a:cs typeface="Josefin Sans"/>
              <a:sym typeface="Josefin Sans"/>
            </a:endParaRPr>
          </a:p>
        </p:txBody>
      </p:sp>
      <p:sp>
        <p:nvSpPr>
          <p:cNvPr id="96" name="Google Shape;96;p18"/>
          <p:cNvSpPr txBox="1"/>
          <p:nvPr/>
        </p:nvSpPr>
        <p:spPr>
          <a:xfrm>
            <a:off x="3207001" y="919250"/>
            <a:ext cx="2729700" cy="457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PSI</a:t>
            </a:r>
            <a:r>
              <a:rPr b="1" lang="en-GB" sz="1200">
                <a:solidFill>
                  <a:srgbClr val="FFFFFF"/>
                </a:solidFill>
                <a:latin typeface="Josefin Sans"/>
                <a:ea typeface="Josefin Sans"/>
                <a:cs typeface="Josefin Sans"/>
                <a:sym typeface="Josefin Sans"/>
              </a:rPr>
              <a:t> Dataset</a:t>
            </a:r>
            <a:endParaRPr b="1" sz="1200">
              <a:solidFill>
                <a:srgbClr val="FFFFFF"/>
              </a:solidFill>
              <a:latin typeface="Josefin Sans"/>
              <a:ea typeface="Josefin Sans"/>
              <a:cs typeface="Josefin Sans"/>
              <a:sym typeface="Josefin Sans"/>
            </a:endParaRPr>
          </a:p>
        </p:txBody>
      </p:sp>
      <p:sp>
        <p:nvSpPr>
          <p:cNvPr id="97" name="Google Shape;97;p18"/>
          <p:cNvSpPr txBox="1"/>
          <p:nvPr/>
        </p:nvSpPr>
        <p:spPr>
          <a:xfrm>
            <a:off x="3207048" y="1513901"/>
            <a:ext cx="2729700" cy="3057000"/>
          </a:xfrm>
          <a:prstGeom prst="rect">
            <a:avLst/>
          </a:prstGeom>
          <a:solidFill>
            <a:srgbClr val="F3F3F3"/>
          </a:solidFill>
          <a:ln cap="flat" cmpd="sng" w="9525">
            <a:solidFill>
              <a:srgbClr val="4285F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Overview: Contains dynamic intent changes of pedestrians and text-based explanations of driver reasoning during interactions. It includes comprehensive computer vision annotations across various scenes.</a:t>
            </a:r>
            <a:endParaRPr sz="1200">
              <a:solidFill>
                <a:schemeClr val="dk1"/>
              </a:solidFill>
              <a:latin typeface="Josefin Sans"/>
              <a:ea typeface="Josefin Sans"/>
              <a:cs typeface="Josefin Sans"/>
              <a:sym typeface="Josefin Sans"/>
            </a:endParaRPr>
          </a:p>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Applications: Useful for developing algorithms that predict pedestrian behavior and improve vehicle-pedestrian interaction understanding.</a:t>
            </a:r>
            <a:endParaRPr sz="1200">
              <a:solidFill>
                <a:schemeClr val="dk1"/>
              </a:solidFill>
              <a:latin typeface="Josefin Sans"/>
              <a:ea typeface="Josefin Sans"/>
              <a:cs typeface="Josefin Sans"/>
              <a:sym typeface="Josefin Sans"/>
            </a:endParaRPr>
          </a:p>
          <a:p>
            <a:pPr indent="0" lvl="0" marL="0" rtl="0" algn="l">
              <a:lnSpc>
                <a:spcPct val="115000"/>
              </a:lnSpc>
              <a:spcBef>
                <a:spcPts val="600"/>
              </a:spcBef>
              <a:spcAft>
                <a:spcPts val="600"/>
              </a:spcAft>
              <a:buNone/>
            </a:pPr>
            <a:r>
              <a:rPr lang="en-GB" sz="1200">
                <a:solidFill>
                  <a:schemeClr val="dk1"/>
                </a:solidFill>
                <a:latin typeface="Josefin Sans"/>
                <a:ea typeface="Josefin Sans"/>
                <a:cs typeface="Josefin Sans"/>
                <a:sym typeface="Josefin Sans"/>
              </a:rPr>
              <a:t>Link: </a:t>
            </a:r>
            <a:r>
              <a:rPr lang="en-GB" sz="1200" u="sng">
                <a:solidFill>
                  <a:schemeClr val="hlink"/>
                </a:solidFill>
                <a:latin typeface="Josefin Sans"/>
                <a:ea typeface="Josefin Sans"/>
                <a:cs typeface="Josefin Sans"/>
                <a:sym typeface="Josefin Sans"/>
                <a:hlinkClick r:id="rId4"/>
              </a:rPr>
              <a:t>PSI Dataset</a:t>
            </a:r>
            <a:endParaRPr sz="1200">
              <a:solidFill>
                <a:schemeClr val="dk1"/>
              </a:solidFill>
              <a:latin typeface="Josefin Sans"/>
              <a:ea typeface="Josefin Sans"/>
              <a:cs typeface="Josefin Sans"/>
              <a:sym typeface="Josefin Sans"/>
            </a:endParaRPr>
          </a:p>
        </p:txBody>
      </p:sp>
      <p:sp>
        <p:nvSpPr>
          <p:cNvPr id="98" name="Google Shape;98;p18"/>
          <p:cNvSpPr txBox="1"/>
          <p:nvPr/>
        </p:nvSpPr>
        <p:spPr>
          <a:xfrm>
            <a:off x="6072696" y="919250"/>
            <a:ext cx="2729700" cy="457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PEDS</a:t>
            </a:r>
            <a:r>
              <a:rPr b="1" lang="en-GB" sz="1200">
                <a:solidFill>
                  <a:srgbClr val="FFFFFF"/>
                </a:solidFill>
                <a:latin typeface="Josefin Sans"/>
                <a:ea typeface="Josefin Sans"/>
                <a:cs typeface="Josefin Sans"/>
                <a:sym typeface="Josefin Sans"/>
              </a:rPr>
              <a:t> Dataset</a:t>
            </a:r>
            <a:endParaRPr b="1" sz="1200">
              <a:solidFill>
                <a:srgbClr val="FFFFFF"/>
              </a:solidFill>
              <a:latin typeface="Josefin Sans"/>
              <a:ea typeface="Josefin Sans"/>
              <a:cs typeface="Josefin Sans"/>
              <a:sym typeface="Josefin Sans"/>
            </a:endParaRPr>
          </a:p>
        </p:txBody>
      </p:sp>
      <p:sp>
        <p:nvSpPr>
          <p:cNvPr id="99" name="Google Shape;99;p18"/>
          <p:cNvSpPr txBox="1"/>
          <p:nvPr/>
        </p:nvSpPr>
        <p:spPr>
          <a:xfrm>
            <a:off x="6072742" y="1513901"/>
            <a:ext cx="2729700" cy="3057000"/>
          </a:xfrm>
          <a:prstGeom prst="rect">
            <a:avLst/>
          </a:prstGeom>
          <a:solidFill>
            <a:srgbClr val="F3F3F3"/>
          </a:solidFill>
          <a:ln cap="flat" cmpd="sng" w="9525">
            <a:solidFill>
              <a:srgbClr val="4285F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Overview: The PEDS dataset consists of video recordings of pedestrian behavior in urban environments. It includes annotations for pedestrian interactions, movements, and environmental factors that influence crossing decisions.</a:t>
            </a:r>
            <a:endParaRPr sz="1200">
              <a:solidFill>
                <a:schemeClr val="dk1"/>
              </a:solidFill>
              <a:latin typeface="Josefin Sans"/>
              <a:ea typeface="Josefin Sans"/>
              <a:cs typeface="Josefin Sans"/>
              <a:sym typeface="Josefin Sans"/>
            </a:endParaRPr>
          </a:p>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Purpose: Focuses on understanding how pedestrians behave in real-world scenarios to aid in traffic safety research and autonomous vehicle development.</a:t>
            </a:r>
            <a:endParaRPr sz="1200">
              <a:solidFill>
                <a:schemeClr val="dk1"/>
              </a:solidFill>
              <a:latin typeface="Josefin Sans"/>
              <a:ea typeface="Josefin Sans"/>
              <a:cs typeface="Josefin Sans"/>
              <a:sym typeface="Josefin Sans"/>
            </a:endParaRPr>
          </a:p>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Link: </a:t>
            </a:r>
            <a:r>
              <a:rPr lang="en-GB" sz="1200" u="sng">
                <a:solidFill>
                  <a:schemeClr val="hlink"/>
                </a:solidFill>
                <a:latin typeface="Josefin Sans"/>
                <a:ea typeface="Josefin Sans"/>
                <a:cs typeface="Josefin Sans"/>
                <a:sym typeface="Josefin Sans"/>
                <a:hlinkClick r:id="rId5"/>
              </a:rPr>
              <a:t>PEDS Dataset</a:t>
            </a:r>
            <a:endParaRPr sz="1200" u="sng">
              <a:solidFill>
                <a:schemeClr val="hlink"/>
              </a:solidFill>
              <a:latin typeface="Josefin Sans"/>
              <a:ea typeface="Josefin Sans"/>
              <a:cs typeface="Josefin Sans"/>
              <a:sym typeface="Josefin Sans"/>
            </a:endParaRPr>
          </a:p>
          <a:p>
            <a:pPr indent="0" lvl="0" marL="0" rtl="0" algn="l">
              <a:lnSpc>
                <a:spcPct val="115000"/>
              </a:lnSpc>
              <a:spcBef>
                <a:spcPts val="600"/>
              </a:spcBef>
              <a:spcAft>
                <a:spcPts val="600"/>
              </a:spcAft>
              <a:buNone/>
            </a:pPr>
            <a:r>
              <a:t/>
            </a:r>
            <a:endParaRPr sz="1000">
              <a:solidFill>
                <a:schemeClr val="dk1"/>
              </a:solidFill>
              <a:latin typeface="Josefin Sans"/>
              <a:ea typeface="Josefin Sans"/>
              <a:cs typeface="Josefin Sans"/>
              <a:sym typeface="Josefin Sans"/>
            </a:endParaRPr>
          </a:p>
        </p:txBody>
      </p:sp>
      <p:pic>
        <p:nvPicPr>
          <p:cNvPr id="100" name="Google Shape;100;p18"/>
          <p:cNvPicPr preferRelativeResize="0"/>
          <p:nvPr/>
        </p:nvPicPr>
        <p:blipFill>
          <a:blip r:embed="rId6">
            <a:alphaModFix/>
          </a:blip>
          <a:stretch>
            <a:fillRect/>
          </a:stretch>
        </p:blipFill>
        <p:spPr>
          <a:xfrm>
            <a:off x="52150" y="-5850"/>
            <a:ext cx="407152" cy="457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Existing pedestrian/driver behaviour dataset</a:t>
            </a:r>
            <a:endParaRPr b="1">
              <a:solidFill>
                <a:srgbClr val="FFFFFF"/>
              </a:solidFill>
              <a:latin typeface="Josefin Sans"/>
              <a:ea typeface="Josefin Sans"/>
              <a:cs typeface="Josefin Sans"/>
              <a:sym typeface="Josefin Sans"/>
            </a:endParaRPr>
          </a:p>
        </p:txBody>
      </p:sp>
      <p:sp>
        <p:nvSpPr>
          <p:cNvPr id="106" name="Google Shape;106;p19"/>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DATA COLLECTION</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107" name="Google Shape;107;p19"/>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Datasets focusing more on the driver side of parameters - Oxford Robotcar, Carla Driver Behaviour, and Kaggle Driving Behaviour</a:t>
            </a:r>
            <a:endParaRPr sz="1100">
              <a:solidFill>
                <a:srgbClr val="FFFFFF"/>
              </a:solidFill>
              <a:latin typeface="Josefin Sans"/>
              <a:ea typeface="Josefin Sans"/>
              <a:cs typeface="Josefin Sans"/>
              <a:sym typeface="Josefin Sans"/>
            </a:endParaRPr>
          </a:p>
        </p:txBody>
      </p:sp>
      <p:sp>
        <p:nvSpPr>
          <p:cNvPr id="108" name="Google Shape;108;p19"/>
          <p:cNvSpPr txBox="1"/>
          <p:nvPr/>
        </p:nvSpPr>
        <p:spPr>
          <a:xfrm>
            <a:off x="341263" y="919250"/>
            <a:ext cx="2729700" cy="457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Oxford Robotcar</a:t>
            </a:r>
            <a:r>
              <a:rPr b="1" lang="en-GB" sz="1200">
                <a:solidFill>
                  <a:srgbClr val="FFFFFF"/>
                </a:solidFill>
                <a:latin typeface="Josefin Sans"/>
                <a:ea typeface="Josefin Sans"/>
                <a:cs typeface="Josefin Sans"/>
                <a:sym typeface="Josefin Sans"/>
              </a:rPr>
              <a:t> Dataset</a:t>
            </a:r>
            <a:endParaRPr b="1" sz="1200">
              <a:solidFill>
                <a:srgbClr val="FFFFFF"/>
              </a:solidFill>
              <a:latin typeface="Josefin Sans"/>
              <a:ea typeface="Josefin Sans"/>
              <a:cs typeface="Josefin Sans"/>
              <a:sym typeface="Josefin Sans"/>
            </a:endParaRPr>
          </a:p>
        </p:txBody>
      </p:sp>
      <p:sp>
        <p:nvSpPr>
          <p:cNvPr id="109" name="Google Shape;109;p19"/>
          <p:cNvSpPr txBox="1"/>
          <p:nvPr/>
        </p:nvSpPr>
        <p:spPr>
          <a:xfrm>
            <a:off x="341309" y="1513901"/>
            <a:ext cx="2729700" cy="3057000"/>
          </a:xfrm>
          <a:prstGeom prst="rect">
            <a:avLst/>
          </a:prstGeom>
          <a:solidFill>
            <a:srgbClr val="F3F3F3"/>
          </a:solidFill>
          <a:ln cap="flat" cmpd="sng" w="9525">
            <a:solidFill>
              <a:srgbClr val="4285F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Overview: A large-scale dataset consisting of driving data collected over a year in Oxford, UK, under varying weather conditions and times of day.</a:t>
            </a:r>
            <a:endParaRPr sz="1200">
              <a:solidFill>
                <a:schemeClr val="dk1"/>
              </a:solidFill>
              <a:latin typeface="Josefin Sans"/>
              <a:ea typeface="Josefin Sans"/>
              <a:cs typeface="Josefin Sans"/>
              <a:sym typeface="Josefin Sans"/>
            </a:endParaRPr>
          </a:p>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Purpose: Aimed at advancing research in autonomous driving systems by providing rich contextual data on urban driving scenarios.</a:t>
            </a:r>
            <a:endParaRPr sz="1200">
              <a:solidFill>
                <a:schemeClr val="dk1"/>
              </a:solidFill>
              <a:latin typeface="Josefin Sans"/>
              <a:ea typeface="Josefin Sans"/>
              <a:cs typeface="Josefin Sans"/>
              <a:sym typeface="Josefin Sans"/>
            </a:endParaRPr>
          </a:p>
          <a:p>
            <a:pPr indent="0" lvl="0" marL="0" rtl="0" algn="l">
              <a:lnSpc>
                <a:spcPct val="115000"/>
              </a:lnSpc>
              <a:spcBef>
                <a:spcPts val="600"/>
              </a:spcBef>
              <a:spcAft>
                <a:spcPts val="600"/>
              </a:spcAft>
              <a:buNone/>
            </a:pPr>
            <a:r>
              <a:rPr lang="en-GB" sz="1200">
                <a:solidFill>
                  <a:schemeClr val="dk1"/>
                </a:solidFill>
                <a:latin typeface="Josefin Sans"/>
                <a:ea typeface="Josefin Sans"/>
                <a:cs typeface="Josefin Sans"/>
                <a:sym typeface="Josefin Sans"/>
              </a:rPr>
              <a:t>Link: </a:t>
            </a:r>
            <a:r>
              <a:rPr lang="en-GB" sz="1200" u="sng">
                <a:solidFill>
                  <a:schemeClr val="hlink"/>
                </a:solidFill>
                <a:latin typeface="Josefin Sans"/>
                <a:ea typeface="Josefin Sans"/>
                <a:cs typeface="Josefin Sans"/>
                <a:sym typeface="Josefin Sans"/>
                <a:hlinkClick r:id="rId3"/>
              </a:rPr>
              <a:t>Oxford RobotCar Dataset</a:t>
            </a:r>
            <a:endParaRPr sz="1200">
              <a:solidFill>
                <a:schemeClr val="dk1"/>
              </a:solidFill>
              <a:latin typeface="Josefin Sans"/>
              <a:ea typeface="Josefin Sans"/>
              <a:cs typeface="Josefin Sans"/>
              <a:sym typeface="Josefin Sans"/>
            </a:endParaRPr>
          </a:p>
        </p:txBody>
      </p:sp>
      <p:sp>
        <p:nvSpPr>
          <p:cNvPr id="110" name="Google Shape;110;p19"/>
          <p:cNvSpPr txBox="1"/>
          <p:nvPr/>
        </p:nvSpPr>
        <p:spPr>
          <a:xfrm>
            <a:off x="3207001" y="919250"/>
            <a:ext cx="2729700" cy="457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Carla Driver Behaviour</a:t>
            </a:r>
            <a:r>
              <a:rPr b="1" lang="en-GB" sz="1200">
                <a:solidFill>
                  <a:srgbClr val="FFFFFF"/>
                </a:solidFill>
                <a:latin typeface="Josefin Sans"/>
                <a:ea typeface="Josefin Sans"/>
                <a:cs typeface="Josefin Sans"/>
                <a:sym typeface="Josefin Sans"/>
              </a:rPr>
              <a:t> Dataset</a:t>
            </a:r>
            <a:endParaRPr b="1" sz="1200">
              <a:solidFill>
                <a:srgbClr val="FFFFFF"/>
              </a:solidFill>
              <a:latin typeface="Josefin Sans"/>
              <a:ea typeface="Josefin Sans"/>
              <a:cs typeface="Josefin Sans"/>
              <a:sym typeface="Josefin Sans"/>
            </a:endParaRPr>
          </a:p>
        </p:txBody>
      </p:sp>
      <p:sp>
        <p:nvSpPr>
          <p:cNvPr id="111" name="Google Shape;111;p19"/>
          <p:cNvSpPr txBox="1"/>
          <p:nvPr/>
        </p:nvSpPr>
        <p:spPr>
          <a:xfrm>
            <a:off x="3207048" y="1513901"/>
            <a:ext cx="2729700" cy="3057000"/>
          </a:xfrm>
          <a:prstGeom prst="rect">
            <a:avLst/>
          </a:prstGeom>
          <a:solidFill>
            <a:srgbClr val="F3F3F3"/>
          </a:solidFill>
          <a:ln cap="flat" cmpd="sng" w="9525">
            <a:solidFill>
              <a:srgbClr val="4285F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Overview: This dataset is generated using a virtual simulator to capture various driving behaviors under controlled conditions.</a:t>
            </a:r>
            <a:endParaRPr sz="1200">
              <a:solidFill>
                <a:schemeClr val="dk1"/>
              </a:solidFill>
              <a:latin typeface="Josefin Sans"/>
              <a:ea typeface="Josefin Sans"/>
              <a:cs typeface="Josefin Sans"/>
              <a:sym typeface="Josefin Sans"/>
            </a:endParaRPr>
          </a:p>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Purpose: Useful for training machine learning models aimed at predicting driver behavior in autonomous vehicles.</a:t>
            </a:r>
            <a:endParaRPr sz="1200">
              <a:solidFill>
                <a:schemeClr val="dk1"/>
              </a:solidFill>
              <a:latin typeface="Josefin Sans"/>
              <a:ea typeface="Josefin Sans"/>
              <a:cs typeface="Josefin Sans"/>
              <a:sym typeface="Josefin Sans"/>
            </a:endParaRPr>
          </a:p>
          <a:p>
            <a:pPr indent="0" lvl="0" marL="0" rtl="0" algn="l">
              <a:lnSpc>
                <a:spcPct val="115000"/>
              </a:lnSpc>
              <a:spcBef>
                <a:spcPts val="600"/>
              </a:spcBef>
              <a:spcAft>
                <a:spcPts val="600"/>
              </a:spcAft>
              <a:buNone/>
            </a:pPr>
            <a:r>
              <a:rPr lang="en-GB" sz="1200">
                <a:solidFill>
                  <a:schemeClr val="dk1"/>
                </a:solidFill>
                <a:latin typeface="Josefin Sans"/>
                <a:ea typeface="Josefin Sans"/>
                <a:cs typeface="Josefin Sans"/>
                <a:sym typeface="Josefin Sans"/>
              </a:rPr>
              <a:t>Link: </a:t>
            </a:r>
            <a:r>
              <a:rPr lang="en-GB" sz="1200" u="sng">
                <a:solidFill>
                  <a:schemeClr val="hlink"/>
                </a:solidFill>
                <a:latin typeface="Josefin Sans"/>
                <a:ea typeface="Josefin Sans"/>
                <a:cs typeface="Josefin Sans"/>
                <a:sym typeface="Josefin Sans"/>
                <a:hlinkClick r:id="rId4"/>
              </a:rPr>
              <a:t>Carla Driver Behavior Dataset</a:t>
            </a:r>
            <a:endParaRPr sz="1200">
              <a:solidFill>
                <a:schemeClr val="dk1"/>
              </a:solidFill>
              <a:latin typeface="Josefin Sans"/>
              <a:ea typeface="Josefin Sans"/>
              <a:cs typeface="Josefin Sans"/>
              <a:sym typeface="Josefin Sans"/>
            </a:endParaRPr>
          </a:p>
        </p:txBody>
      </p:sp>
      <p:sp>
        <p:nvSpPr>
          <p:cNvPr id="112" name="Google Shape;112;p19"/>
          <p:cNvSpPr txBox="1"/>
          <p:nvPr/>
        </p:nvSpPr>
        <p:spPr>
          <a:xfrm>
            <a:off x="6072696" y="919250"/>
            <a:ext cx="2729700" cy="457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Kaggle Driving Behaviour</a:t>
            </a:r>
            <a:r>
              <a:rPr b="1" lang="en-GB" sz="1200">
                <a:solidFill>
                  <a:srgbClr val="FFFFFF"/>
                </a:solidFill>
                <a:latin typeface="Josefin Sans"/>
                <a:ea typeface="Josefin Sans"/>
                <a:cs typeface="Josefin Sans"/>
                <a:sym typeface="Josefin Sans"/>
              </a:rPr>
              <a:t> Dataset</a:t>
            </a:r>
            <a:endParaRPr b="1" sz="1200">
              <a:solidFill>
                <a:srgbClr val="FFFFFF"/>
              </a:solidFill>
              <a:latin typeface="Josefin Sans"/>
              <a:ea typeface="Josefin Sans"/>
              <a:cs typeface="Josefin Sans"/>
              <a:sym typeface="Josefin Sans"/>
            </a:endParaRPr>
          </a:p>
        </p:txBody>
      </p:sp>
      <p:sp>
        <p:nvSpPr>
          <p:cNvPr id="113" name="Google Shape;113;p19"/>
          <p:cNvSpPr txBox="1"/>
          <p:nvPr/>
        </p:nvSpPr>
        <p:spPr>
          <a:xfrm>
            <a:off x="6072742" y="1513901"/>
            <a:ext cx="2729700" cy="3057000"/>
          </a:xfrm>
          <a:prstGeom prst="rect">
            <a:avLst/>
          </a:prstGeom>
          <a:solidFill>
            <a:srgbClr val="F3F3F3"/>
          </a:solidFill>
          <a:ln cap="flat" cmpd="sng" w="9525">
            <a:solidFill>
              <a:srgbClr val="4285F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Overview: These datasets focus on aggressive driving behaviors captured through accelerometer and gyroscope data from vehicles.</a:t>
            </a:r>
            <a:endParaRPr sz="1200">
              <a:solidFill>
                <a:schemeClr val="dk1"/>
              </a:solidFill>
              <a:latin typeface="Josefin Sans"/>
              <a:ea typeface="Josefin Sans"/>
              <a:cs typeface="Josefin Sans"/>
              <a:sym typeface="Josefin Sans"/>
            </a:endParaRPr>
          </a:p>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Purpose: Aimed at developing algorithms that can detect aggressive driving patterns to enhance road safety measures.</a:t>
            </a:r>
            <a:endParaRPr sz="1200">
              <a:solidFill>
                <a:schemeClr val="dk1"/>
              </a:solidFill>
              <a:latin typeface="Josefin Sans"/>
              <a:ea typeface="Josefin Sans"/>
              <a:cs typeface="Josefin Sans"/>
              <a:sym typeface="Josefin Sans"/>
            </a:endParaRPr>
          </a:p>
          <a:p>
            <a:pPr indent="0" lvl="0" marL="0" rtl="0" algn="l">
              <a:lnSpc>
                <a:spcPct val="115000"/>
              </a:lnSpc>
              <a:spcBef>
                <a:spcPts val="600"/>
              </a:spcBef>
              <a:spcAft>
                <a:spcPts val="600"/>
              </a:spcAft>
              <a:buNone/>
            </a:pPr>
            <a:r>
              <a:rPr lang="en-GB" sz="1200">
                <a:solidFill>
                  <a:schemeClr val="dk1"/>
                </a:solidFill>
                <a:latin typeface="Josefin Sans"/>
                <a:ea typeface="Josefin Sans"/>
                <a:cs typeface="Josefin Sans"/>
                <a:sym typeface="Josefin Sans"/>
              </a:rPr>
              <a:t>Link: </a:t>
            </a:r>
            <a:r>
              <a:rPr lang="en-GB" sz="1200" u="sng">
                <a:solidFill>
                  <a:schemeClr val="hlink"/>
                </a:solidFill>
                <a:latin typeface="Josefin Sans"/>
                <a:ea typeface="Josefin Sans"/>
                <a:cs typeface="Josefin Sans"/>
                <a:sym typeface="Josefin Sans"/>
                <a:hlinkClick r:id="rId5"/>
              </a:rPr>
              <a:t>Driving Behavior Dataset</a:t>
            </a:r>
            <a:endParaRPr sz="1200">
              <a:solidFill>
                <a:schemeClr val="dk1"/>
              </a:solidFill>
              <a:latin typeface="Josefin Sans"/>
              <a:ea typeface="Josefin Sans"/>
              <a:cs typeface="Josefin Sans"/>
              <a:sym typeface="Josefin Sans"/>
            </a:endParaRPr>
          </a:p>
        </p:txBody>
      </p:sp>
      <p:pic>
        <p:nvPicPr>
          <p:cNvPr id="114" name="Google Shape;114;p19"/>
          <p:cNvPicPr preferRelativeResize="0"/>
          <p:nvPr/>
        </p:nvPicPr>
        <p:blipFill>
          <a:blip r:embed="rId6">
            <a:alphaModFix/>
          </a:blip>
          <a:stretch>
            <a:fillRect/>
          </a:stretch>
        </p:blipFill>
        <p:spPr>
          <a:xfrm>
            <a:off x="52150" y="-5850"/>
            <a:ext cx="407152" cy="457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Techniques used to create/record such data</a:t>
            </a:r>
            <a:endParaRPr b="1">
              <a:solidFill>
                <a:srgbClr val="FFFFFF"/>
              </a:solidFill>
              <a:latin typeface="Josefin Sans"/>
              <a:ea typeface="Josefin Sans"/>
              <a:cs typeface="Josefin Sans"/>
              <a:sym typeface="Josefin Sans"/>
            </a:endParaRPr>
          </a:p>
        </p:txBody>
      </p:sp>
      <p:sp>
        <p:nvSpPr>
          <p:cNvPr id="120" name="Google Shape;120;p20"/>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DATA COLLECTION</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121" name="Google Shape;121;p20"/>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Recording data using - Onboard Cameras, Video Recording, and Behavioral Annotations </a:t>
            </a:r>
            <a:endParaRPr sz="1100">
              <a:solidFill>
                <a:srgbClr val="FFFFFF"/>
              </a:solidFill>
              <a:latin typeface="Josefin Sans"/>
              <a:ea typeface="Josefin Sans"/>
              <a:cs typeface="Josefin Sans"/>
              <a:sym typeface="Josefin Sans"/>
            </a:endParaRPr>
          </a:p>
        </p:txBody>
      </p:sp>
      <p:sp>
        <p:nvSpPr>
          <p:cNvPr id="122" name="Google Shape;122;p20"/>
          <p:cNvSpPr txBox="1"/>
          <p:nvPr/>
        </p:nvSpPr>
        <p:spPr>
          <a:xfrm>
            <a:off x="341263" y="919250"/>
            <a:ext cx="2729700" cy="457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Onboard Cameras</a:t>
            </a:r>
            <a:endParaRPr b="1" sz="1200">
              <a:solidFill>
                <a:srgbClr val="FFFFFF"/>
              </a:solidFill>
              <a:latin typeface="Josefin Sans"/>
              <a:ea typeface="Josefin Sans"/>
              <a:cs typeface="Josefin Sans"/>
              <a:sym typeface="Josefin Sans"/>
            </a:endParaRPr>
          </a:p>
        </p:txBody>
      </p:sp>
      <p:sp>
        <p:nvSpPr>
          <p:cNvPr id="123" name="Google Shape;123;p20"/>
          <p:cNvSpPr txBox="1"/>
          <p:nvPr/>
        </p:nvSpPr>
        <p:spPr>
          <a:xfrm>
            <a:off x="341309" y="1513901"/>
            <a:ext cx="2729700" cy="3057000"/>
          </a:xfrm>
          <a:prstGeom prst="rect">
            <a:avLst/>
          </a:prstGeom>
          <a:solidFill>
            <a:srgbClr val="F3F3F3"/>
          </a:solidFill>
          <a:ln cap="flat" cmpd="sng" w="9525">
            <a:solidFill>
              <a:srgbClr val="4285F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GB" sz="1200">
                <a:solidFill>
                  <a:schemeClr val="dk1"/>
                </a:solidFill>
                <a:latin typeface="Josefin Sans"/>
                <a:ea typeface="Josefin Sans"/>
                <a:cs typeface="Josefin Sans"/>
                <a:sym typeface="Josefin Sans"/>
              </a:rPr>
              <a:t>Functionality: These cameras can record high-definition videos and images from the vehicle's perspective, providing a first-person view of the environment.</a:t>
            </a:r>
            <a:endParaRPr sz="12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0"/>
              </a:spcAft>
              <a:buNone/>
            </a:pPr>
            <a:r>
              <a:rPr lang="en-GB" sz="1200">
                <a:solidFill>
                  <a:schemeClr val="dk1"/>
                </a:solidFill>
                <a:latin typeface="Josefin Sans"/>
                <a:ea typeface="Josefin Sans"/>
                <a:cs typeface="Josefin Sans"/>
                <a:sym typeface="Josefin Sans"/>
              </a:rPr>
              <a:t>Design Considerations: Onboard cameras are designed to withstand harsh conditions, including vibrations, varying light conditions, and extreme temperatures</a:t>
            </a:r>
            <a:endParaRPr sz="12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600"/>
              </a:spcAft>
              <a:buNone/>
            </a:pPr>
            <a:r>
              <a:t/>
            </a:r>
            <a:endParaRPr sz="1200">
              <a:solidFill>
                <a:schemeClr val="dk1"/>
              </a:solidFill>
              <a:latin typeface="Josefin Sans"/>
              <a:ea typeface="Josefin Sans"/>
              <a:cs typeface="Josefin Sans"/>
              <a:sym typeface="Josefin Sans"/>
            </a:endParaRPr>
          </a:p>
        </p:txBody>
      </p:sp>
      <p:sp>
        <p:nvSpPr>
          <p:cNvPr id="124" name="Google Shape;124;p20"/>
          <p:cNvSpPr txBox="1"/>
          <p:nvPr/>
        </p:nvSpPr>
        <p:spPr>
          <a:xfrm>
            <a:off x="3207001" y="919250"/>
            <a:ext cx="2729700" cy="457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Video Recording</a:t>
            </a:r>
            <a:endParaRPr b="1" sz="1200">
              <a:solidFill>
                <a:srgbClr val="FFFFFF"/>
              </a:solidFill>
              <a:latin typeface="Josefin Sans"/>
              <a:ea typeface="Josefin Sans"/>
              <a:cs typeface="Josefin Sans"/>
              <a:sym typeface="Josefin Sans"/>
            </a:endParaRPr>
          </a:p>
        </p:txBody>
      </p:sp>
      <p:sp>
        <p:nvSpPr>
          <p:cNvPr id="125" name="Google Shape;125;p20"/>
          <p:cNvSpPr txBox="1"/>
          <p:nvPr/>
        </p:nvSpPr>
        <p:spPr>
          <a:xfrm>
            <a:off x="3207048" y="1513901"/>
            <a:ext cx="2729700" cy="3057000"/>
          </a:xfrm>
          <a:prstGeom prst="rect">
            <a:avLst/>
          </a:prstGeom>
          <a:solidFill>
            <a:srgbClr val="F3F3F3"/>
          </a:solidFill>
          <a:ln cap="flat" cmpd="sng" w="9525">
            <a:solidFill>
              <a:srgbClr val="4285F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GB" sz="1200">
                <a:solidFill>
                  <a:schemeClr val="dk1"/>
                </a:solidFill>
                <a:latin typeface="Josefin Sans"/>
                <a:ea typeface="Josefin Sans"/>
                <a:cs typeface="Josefin Sans"/>
                <a:sym typeface="Josefin Sans"/>
              </a:rPr>
              <a:t>High-Definition Footage: Datasets like JAAD utilize HD video clips (5-10 seconds long) recorded at 30 frames per second (FPS), capturing detailed interactions between drivers and pedestrians.</a:t>
            </a:r>
            <a:endParaRPr sz="12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0"/>
              </a:spcAft>
              <a:buNone/>
            </a:pPr>
            <a:r>
              <a:rPr lang="en-GB" sz="1200">
                <a:solidFill>
                  <a:schemeClr val="dk1"/>
                </a:solidFill>
                <a:latin typeface="Josefin Sans"/>
                <a:ea typeface="Josefin Sans"/>
                <a:cs typeface="Josefin Sans"/>
                <a:sym typeface="Josefin Sans"/>
              </a:rPr>
              <a:t>Diverse Conditions: Recordings are made in various environments and weather conditions to ensure the dataset is comprehensive and representative of real-world scenarios.</a:t>
            </a:r>
            <a:endParaRPr sz="12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600"/>
              </a:spcAft>
              <a:buNone/>
            </a:pPr>
            <a:r>
              <a:t/>
            </a:r>
            <a:endParaRPr sz="1200">
              <a:solidFill>
                <a:schemeClr val="dk1"/>
              </a:solidFill>
              <a:latin typeface="Josefin Sans"/>
              <a:ea typeface="Josefin Sans"/>
              <a:cs typeface="Josefin Sans"/>
              <a:sym typeface="Josefin Sans"/>
            </a:endParaRPr>
          </a:p>
        </p:txBody>
      </p:sp>
      <p:sp>
        <p:nvSpPr>
          <p:cNvPr id="126" name="Google Shape;126;p20"/>
          <p:cNvSpPr txBox="1"/>
          <p:nvPr/>
        </p:nvSpPr>
        <p:spPr>
          <a:xfrm>
            <a:off x="6072696" y="919250"/>
            <a:ext cx="2729700" cy="457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Behavioral Annotations</a:t>
            </a:r>
            <a:endParaRPr b="1" sz="1200">
              <a:solidFill>
                <a:srgbClr val="FFFFFF"/>
              </a:solidFill>
              <a:latin typeface="Josefin Sans"/>
              <a:ea typeface="Josefin Sans"/>
              <a:cs typeface="Josefin Sans"/>
              <a:sym typeface="Josefin Sans"/>
            </a:endParaRPr>
          </a:p>
        </p:txBody>
      </p:sp>
      <p:sp>
        <p:nvSpPr>
          <p:cNvPr id="127" name="Google Shape;127;p20"/>
          <p:cNvSpPr txBox="1"/>
          <p:nvPr/>
        </p:nvSpPr>
        <p:spPr>
          <a:xfrm>
            <a:off x="6072742" y="1513901"/>
            <a:ext cx="2729700" cy="3057000"/>
          </a:xfrm>
          <a:prstGeom prst="rect">
            <a:avLst/>
          </a:prstGeom>
          <a:solidFill>
            <a:srgbClr val="F3F3F3"/>
          </a:solidFill>
          <a:ln cap="flat" cmpd="sng" w="9525">
            <a:solidFill>
              <a:srgbClr val="4285F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GB" sz="1200">
                <a:solidFill>
                  <a:schemeClr val="dk1"/>
                </a:solidFill>
                <a:latin typeface="Josefin Sans"/>
                <a:ea typeface="Josefin Sans"/>
                <a:cs typeface="Josefin Sans"/>
                <a:sym typeface="Josefin Sans"/>
              </a:rPr>
              <a:t>Timestamped Actions: Each video frame is annotated with specific actions performed by pedestrians and drivers, such as walking, stopping, or looking. This allows for precise tracking of behaviors over time.</a:t>
            </a:r>
            <a:endParaRPr sz="12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0"/>
              </a:spcAft>
              <a:buNone/>
            </a:pPr>
            <a:r>
              <a:rPr lang="en-GB" sz="1200">
                <a:solidFill>
                  <a:schemeClr val="dk1"/>
                </a:solidFill>
                <a:latin typeface="Josefin Sans"/>
                <a:ea typeface="Josefin Sans"/>
                <a:cs typeface="Josefin Sans"/>
                <a:sym typeface="Josefin Sans"/>
              </a:rPr>
              <a:t>Demographic Data: Annotations often include demographic attributes of pedestrians (e.g., age, gender) and contextual information (e.g., weather conditions, time of day) to enrich the dataset.</a:t>
            </a:r>
            <a:endParaRPr sz="12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600"/>
              </a:spcAft>
              <a:buNone/>
            </a:pPr>
            <a:r>
              <a:t/>
            </a:r>
            <a:endParaRPr sz="1200">
              <a:solidFill>
                <a:schemeClr val="dk1"/>
              </a:solidFill>
              <a:latin typeface="Josefin Sans"/>
              <a:ea typeface="Josefin Sans"/>
              <a:cs typeface="Josefin Sans"/>
              <a:sym typeface="Josefin Sans"/>
            </a:endParaRPr>
          </a:p>
        </p:txBody>
      </p:sp>
      <p:pic>
        <p:nvPicPr>
          <p:cNvPr id="128" name="Google Shape;128;p20"/>
          <p:cNvPicPr preferRelativeResize="0"/>
          <p:nvPr/>
        </p:nvPicPr>
        <p:blipFill>
          <a:blip r:embed="rId3">
            <a:alphaModFix/>
          </a:blip>
          <a:stretch>
            <a:fillRect/>
          </a:stretch>
        </p:blipFill>
        <p:spPr>
          <a:xfrm>
            <a:off x="52150" y="-5850"/>
            <a:ext cx="407152" cy="45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Techniques used to create/record such data</a:t>
            </a:r>
            <a:endParaRPr b="1">
              <a:solidFill>
                <a:srgbClr val="FFFFFF"/>
              </a:solidFill>
              <a:latin typeface="Josefin Sans"/>
              <a:ea typeface="Josefin Sans"/>
              <a:cs typeface="Josefin Sans"/>
              <a:sym typeface="Josefin Sans"/>
            </a:endParaRPr>
          </a:p>
        </p:txBody>
      </p:sp>
      <p:sp>
        <p:nvSpPr>
          <p:cNvPr id="134" name="Google Shape;134;p21"/>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DATA COLLECTION</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135" name="Google Shape;135;p21"/>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Recording data using - Pose Estimation Techniques, Sensor Fusion, and Event Logging Softwares</a:t>
            </a:r>
            <a:endParaRPr sz="1100">
              <a:solidFill>
                <a:srgbClr val="FFFFFF"/>
              </a:solidFill>
              <a:latin typeface="Josefin Sans"/>
              <a:ea typeface="Josefin Sans"/>
              <a:cs typeface="Josefin Sans"/>
              <a:sym typeface="Josefin Sans"/>
            </a:endParaRPr>
          </a:p>
        </p:txBody>
      </p:sp>
      <p:sp>
        <p:nvSpPr>
          <p:cNvPr id="136" name="Google Shape;136;p21"/>
          <p:cNvSpPr txBox="1"/>
          <p:nvPr/>
        </p:nvSpPr>
        <p:spPr>
          <a:xfrm>
            <a:off x="341263" y="919250"/>
            <a:ext cx="2729700" cy="457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Pose Estimation Techniques</a:t>
            </a:r>
            <a:endParaRPr b="1" sz="1200">
              <a:solidFill>
                <a:srgbClr val="FFFFFF"/>
              </a:solidFill>
              <a:latin typeface="Josefin Sans"/>
              <a:ea typeface="Josefin Sans"/>
              <a:cs typeface="Josefin Sans"/>
              <a:sym typeface="Josefin Sans"/>
            </a:endParaRPr>
          </a:p>
        </p:txBody>
      </p:sp>
      <p:sp>
        <p:nvSpPr>
          <p:cNvPr id="137" name="Google Shape;137;p21"/>
          <p:cNvSpPr txBox="1"/>
          <p:nvPr/>
        </p:nvSpPr>
        <p:spPr>
          <a:xfrm>
            <a:off x="341309" y="1513901"/>
            <a:ext cx="2729700" cy="3057000"/>
          </a:xfrm>
          <a:prstGeom prst="rect">
            <a:avLst/>
          </a:prstGeom>
          <a:solidFill>
            <a:srgbClr val="F3F3F3"/>
          </a:solidFill>
          <a:ln cap="flat" cmpd="sng" w="9525">
            <a:solidFill>
              <a:srgbClr val="4285F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GB" sz="1200">
                <a:solidFill>
                  <a:schemeClr val="dk1"/>
                </a:solidFill>
                <a:latin typeface="Josefin Sans"/>
                <a:ea typeface="Josefin Sans"/>
                <a:cs typeface="Josefin Sans"/>
                <a:sym typeface="Josefin Sans"/>
              </a:rPr>
              <a:t>Analysis of Movement: Advanced techniques are used to estimate the physical stance and movement patterns of pedestrians, providing insights into their behavior in relation to vehicles.</a:t>
            </a:r>
            <a:endParaRPr sz="12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0"/>
              </a:spcAft>
              <a:buNone/>
            </a:pPr>
            <a:r>
              <a:rPr lang="en-GB" sz="1200">
                <a:solidFill>
                  <a:schemeClr val="dk1"/>
                </a:solidFill>
                <a:latin typeface="Josefin Sans"/>
                <a:ea typeface="Josefin Sans"/>
                <a:cs typeface="Josefin Sans"/>
                <a:sym typeface="Josefin Sans"/>
              </a:rPr>
              <a:t>Integration with Video Data: Pose estimation data can be combined with video footage to analyze how pedestrian movements correlate with driver reactions.</a:t>
            </a:r>
            <a:endParaRPr sz="12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0"/>
              </a:spcAft>
              <a:buNone/>
            </a:pPr>
            <a:r>
              <a:t/>
            </a:r>
            <a:endParaRPr sz="12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600"/>
              </a:spcAft>
              <a:buNone/>
            </a:pPr>
            <a:r>
              <a:t/>
            </a:r>
            <a:endParaRPr sz="1200">
              <a:solidFill>
                <a:schemeClr val="dk1"/>
              </a:solidFill>
              <a:latin typeface="Josefin Sans"/>
              <a:ea typeface="Josefin Sans"/>
              <a:cs typeface="Josefin Sans"/>
              <a:sym typeface="Josefin Sans"/>
            </a:endParaRPr>
          </a:p>
        </p:txBody>
      </p:sp>
      <p:sp>
        <p:nvSpPr>
          <p:cNvPr id="138" name="Google Shape;138;p21"/>
          <p:cNvSpPr txBox="1"/>
          <p:nvPr/>
        </p:nvSpPr>
        <p:spPr>
          <a:xfrm>
            <a:off x="3207001" y="919250"/>
            <a:ext cx="2729700" cy="457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Sensor Fusion</a:t>
            </a:r>
            <a:endParaRPr b="1" sz="1200">
              <a:solidFill>
                <a:srgbClr val="FFFFFF"/>
              </a:solidFill>
              <a:latin typeface="Josefin Sans"/>
              <a:ea typeface="Josefin Sans"/>
              <a:cs typeface="Josefin Sans"/>
              <a:sym typeface="Josefin Sans"/>
            </a:endParaRPr>
          </a:p>
        </p:txBody>
      </p:sp>
      <p:sp>
        <p:nvSpPr>
          <p:cNvPr id="139" name="Google Shape;139;p21"/>
          <p:cNvSpPr txBox="1"/>
          <p:nvPr/>
        </p:nvSpPr>
        <p:spPr>
          <a:xfrm>
            <a:off x="3207048" y="1513901"/>
            <a:ext cx="2729700" cy="3057000"/>
          </a:xfrm>
          <a:prstGeom prst="rect">
            <a:avLst/>
          </a:prstGeom>
          <a:solidFill>
            <a:srgbClr val="F3F3F3"/>
          </a:solidFill>
          <a:ln cap="flat" cmpd="sng" w="9525">
            <a:solidFill>
              <a:srgbClr val="4285F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GB" sz="1200">
                <a:solidFill>
                  <a:schemeClr val="dk1"/>
                </a:solidFill>
                <a:latin typeface="Josefin Sans"/>
                <a:ea typeface="Josefin Sans"/>
                <a:cs typeface="Josefin Sans"/>
                <a:sym typeface="Josefin Sans"/>
              </a:rPr>
              <a:t>Multimodal Data Collection: Some datasets integrate data from various sensors (e.g., LIDAR, radar) alongside video footage to provide a more comprehensive view of the environment.</a:t>
            </a:r>
            <a:endParaRPr sz="12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1500"/>
              </a:spcAft>
              <a:buNone/>
            </a:pPr>
            <a:r>
              <a:rPr lang="en-GB" sz="1200">
                <a:solidFill>
                  <a:schemeClr val="dk1"/>
                </a:solidFill>
                <a:latin typeface="Josefin Sans"/>
                <a:ea typeface="Josefin Sans"/>
                <a:cs typeface="Josefin Sans"/>
                <a:sym typeface="Josefin Sans"/>
              </a:rPr>
              <a:t>Enhanced Contextual Understanding: This approach helps in understanding complex interactions between vehicles and pedestrians by combining visual data with spatial awareness from other sensors.</a:t>
            </a:r>
            <a:endParaRPr sz="1200">
              <a:solidFill>
                <a:schemeClr val="dk1"/>
              </a:solidFill>
              <a:latin typeface="Josefin Sans"/>
              <a:ea typeface="Josefin Sans"/>
              <a:cs typeface="Josefin Sans"/>
              <a:sym typeface="Josefin Sans"/>
            </a:endParaRPr>
          </a:p>
        </p:txBody>
      </p:sp>
      <p:sp>
        <p:nvSpPr>
          <p:cNvPr id="140" name="Google Shape;140;p21"/>
          <p:cNvSpPr txBox="1"/>
          <p:nvPr/>
        </p:nvSpPr>
        <p:spPr>
          <a:xfrm>
            <a:off x="6072696" y="919250"/>
            <a:ext cx="2729700" cy="457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Event Logging Softwares</a:t>
            </a:r>
            <a:endParaRPr b="1" sz="1200">
              <a:solidFill>
                <a:srgbClr val="FFFFFF"/>
              </a:solidFill>
              <a:latin typeface="Josefin Sans"/>
              <a:ea typeface="Josefin Sans"/>
              <a:cs typeface="Josefin Sans"/>
              <a:sym typeface="Josefin Sans"/>
            </a:endParaRPr>
          </a:p>
        </p:txBody>
      </p:sp>
      <p:sp>
        <p:nvSpPr>
          <p:cNvPr id="141" name="Google Shape;141;p21"/>
          <p:cNvSpPr txBox="1"/>
          <p:nvPr/>
        </p:nvSpPr>
        <p:spPr>
          <a:xfrm>
            <a:off x="6072742" y="1513901"/>
            <a:ext cx="2729700" cy="3057000"/>
          </a:xfrm>
          <a:prstGeom prst="rect">
            <a:avLst/>
          </a:prstGeom>
          <a:solidFill>
            <a:srgbClr val="F3F3F3"/>
          </a:solidFill>
          <a:ln cap="flat" cmpd="sng" w="9525">
            <a:solidFill>
              <a:srgbClr val="4285F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GB" sz="1200">
                <a:solidFill>
                  <a:schemeClr val="dk1"/>
                </a:solidFill>
                <a:latin typeface="Josefin Sans"/>
                <a:ea typeface="Josefin Sans"/>
                <a:cs typeface="Josefin Sans"/>
                <a:sym typeface="Josefin Sans"/>
              </a:rPr>
              <a:t>Behavior Tracking Tools: Software like BORIS is used for logging events during video observations, allowing researchers to capture detailed behavioral data efficiently.</a:t>
            </a:r>
            <a:endParaRPr sz="12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0"/>
              </a:spcAft>
              <a:buNone/>
            </a:pPr>
            <a:r>
              <a:rPr lang="en-GB" sz="1200">
                <a:solidFill>
                  <a:schemeClr val="dk1"/>
                </a:solidFill>
                <a:latin typeface="Josefin Sans"/>
                <a:ea typeface="Josefin Sans"/>
                <a:cs typeface="Josefin Sans"/>
                <a:sym typeface="Josefin Sans"/>
              </a:rPr>
              <a:t>Structured Data Output: The software produces structured output files containing timestamps and action labels for each subject in the video.</a:t>
            </a:r>
            <a:endParaRPr sz="12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600"/>
              </a:spcAft>
              <a:buNone/>
            </a:pPr>
            <a:r>
              <a:t/>
            </a:r>
            <a:endParaRPr sz="1200">
              <a:solidFill>
                <a:schemeClr val="dk1"/>
              </a:solidFill>
              <a:latin typeface="Josefin Sans"/>
              <a:ea typeface="Josefin Sans"/>
              <a:cs typeface="Josefin Sans"/>
              <a:sym typeface="Josefin Sans"/>
            </a:endParaRPr>
          </a:p>
        </p:txBody>
      </p:sp>
      <p:sp>
        <p:nvSpPr>
          <p:cNvPr id="142" name="Google Shape;142;p21"/>
          <p:cNvSpPr txBox="1"/>
          <p:nvPr/>
        </p:nvSpPr>
        <p:spPr>
          <a:xfrm>
            <a:off x="7877575" y="4887125"/>
            <a:ext cx="1076700" cy="167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u="sng">
                <a:solidFill>
                  <a:schemeClr val="hlink"/>
                </a:solidFill>
                <a:latin typeface="Josefin Sans"/>
                <a:ea typeface="Josefin Sans"/>
                <a:cs typeface="Josefin Sans"/>
                <a:sym typeface="Josefin Sans"/>
                <a:hlinkClick r:id="rId3"/>
              </a:rPr>
              <a:t>Annexure</a:t>
            </a:r>
            <a:endParaRPr b="1" sz="900">
              <a:solidFill>
                <a:srgbClr val="FFFFFF"/>
              </a:solidFill>
              <a:latin typeface="Josefin Sans"/>
              <a:ea typeface="Josefin Sans"/>
              <a:cs typeface="Josefin Sans"/>
              <a:sym typeface="Josefin Sans"/>
            </a:endParaRPr>
          </a:p>
        </p:txBody>
      </p:sp>
      <p:pic>
        <p:nvPicPr>
          <p:cNvPr id="143" name="Google Shape;143;p21"/>
          <p:cNvPicPr preferRelativeResize="0"/>
          <p:nvPr/>
        </p:nvPicPr>
        <p:blipFill>
          <a:blip r:embed="rId4">
            <a:alphaModFix/>
          </a:blip>
          <a:stretch>
            <a:fillRect/>
          </a:stretch>
        </p:blipFill>
        <p:spPr>
          <a:xfrm>
            <a:off x="52150" y="-5850"/>
            <a:ext cx="407152" cy="457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p:nvPr/>
        </p:nvSpPr>
        <p:spPr>
          <a:xfrm>
            <a:off x="-26550" y="1075050"/>
            <a:ext cx="9197100" cy="4068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600">
                <a:solidFill>
                  <a:schemeClr val="lt1"/>
                </a:solidFill>
                <a:highlight>
                  <a:srgbClr val="4285F4"/>
                </a:highlight>
                <a:latin typeface="Josefin Sans"/>
                <a:ea typeface="Josefin Sans"/>
                <a:cs typeface="Josefin Sans"/>
                <a:sym typeface="Josefin Sans"/>
              </a:rPr>
              <a:t>  Choose any two of these datasets (possibly JAAD and CARLA) and make an analysis.</a:t>
            </a:r>
            <a:endParaRPr sz="1600">
              <a:solidFill>
                <a:schemeClr val="lt1"/>
              </a:solidFill>
              <a:highlight>
                <a:srgbClr val="4285F4"/>
              </a:highlight>
              <a:latin typeface="Josefin Sans"/>
              <a:ea typeface="Josefin Sans"/>
              <a:cs typeface="Josefin Sans"/>
              <a:sym typeface="Josefin Sans"/>
            </a:endParaRPr>
          </a:p>
          <a:p>
            <a:pPr indent="-330200" lvl="0" marL="457200" rtl="0" algn="l">
              <a:spcBef>
                <a:spcPts val="0"/>
              </a:spcBef>
              <a:spcAft>
                <a:spcPts val="0"/>
              </a:spcAft>
              <a:buClr>
                <a:schemeClr val="lt1"/>
              </a:buClr>
              <a:buSzPts val="1600"/>
              <a:buFont typeface="Josefin Sans"/>
              <a:buChar char="●"/>
            </a:pPr>
            <a:r>
              <a:rPr lang="en-GB" sz="1600">
                <a:solidFill>
                  <a:schemeClr val="lt1"/>
                </a:solidFill>
                <a:highlight>
                  <a:srgbClr val="4285F4"/>
                </a:highlight>
                <a:latin typeface="Josefin Sans"/>
                <a:ea typeface="Josefin Sans"/>
                <a:cs typeface="Josefin Sans"/>
                <a:sym typeface="Josefin Sans"/>
              </a:rPr>
              <a:t>First of all list down the basic </a:t>
            </a:r>
            <a:r>
              <a:rPr lang="en-GB" sz="1600">
                <a:solidFill>
                  <a:schemeClr val="lt1"/>
                </a:solidFill>
                <a:highlight>
                  <a:srgbClr val="4285F4"/>
                </a:highlight>
                <a:latin typeface="Josefin Sans"/>
                <a:ea typeface="Josefin Sans"/>
                <a:cs typeface="Josefin Sans"/>
                <a:sym typeface="Josefin Sans"/>
              </a:rPr>
              <a:t>statistics</a:t>
            </a:r>
            <a:r>
              <a:rPr lang="en-GB" sz="1600">
                <a:solidFill>
                  <a:schemeClr val="lt1"/>
                </a:solidFill>
                <a:highlight>
                  <a:srgbClr val="4285F4"/>
                </a:highlight>
                <a:latin typeface="Josefin Sans"/>
                <a:ea typeface="Josefin Sans"/>
                <a:cs typeface="Josefin Sans"/>
                <a:sym typeface="Josefin Sans"/>
              </a:rPr>
              <a:t> of these datasets - location of data collection, how many videos/frames, what kinds of vehicles, how many pedestrians etc.</a:t>
            </a:r>
            <a:endParaRPr sz="1600">
              <a:solidFill>
                <a:schemeClr val="lt1"/>
              </a:solidFill>
              <a:highlight>
                <a:srgbClr val="4285F4"/>
              </a:highlight>
              <a:latin typeface="Josefin Sans"/>
              <a:ea typeface="Josefin Sans"/>
              <a:cs typeface="Josefin Sans"/>
              <a:sym typeface="Josefin Sans"/>
            </a:endParaRPr>
          </a:p>
          <a:p>
            <a:pPr indent="-330200" lvl="0" marL="457200" rtl="0" algn="l">
              <a:spcBef>
                <a:spcPts val="0"/>
              </a:spcBef>
              <a:spcAft>
                <a:spcPts val="0"/>
              </a:spcAft>
              <a:buClr>
                <a:schemeClr val="lt1"/>
              </a:buClr>
              <a:buSzPts val="1600"/>
              <a:buFont typeface="Josefin Sans"/>
              <a:buChar char="●"/>
            </a:pPr>
            <a:r>
              <a:rPr lang="en-GB" sz="1600">
                <a:solidFill>
                  <a:schemeClr val="lt1"/>
                </a:solidFill>
                <a:highlight>
                  <a:srgbClr val="4285F4"/>
                </a:highlight>
                <a:latin typeface="Josefin Sans"/>
                <a:ea typeface="Josefin Sans"/>
                <a:cs typeface="Josefin Sans"/>
                <a:sym typeface="Josefin Sans"/>
              </a:rPr>
              <a:t>Next, try to develop statistics of behavior of both pedestrians and drivers, with the aims to answer the following questions: how often do pedestrians watch before crossing a road, and how often do drivers slow down when they see pedestrians ahead?</a:t>
            </a:r>
            <a:endParaRPr sz="1600">
              <a:solidFill>
                <a:schemeClr val="lt1"/>
              </a:solidFill>
              <a:highlight>
                <a:srgbClr val="4285F4"/>
              </a:highlight>
              <a:latin typeface="Josefin Sans"/>
              <a:ea typeface="Josefin Sans"/>
              <a:cs typeface="Josefin Sans"/>
              <a:sym typeface="Josefin Sans"/>
            </a:endParaRPr>
          </a:p>
        </p:txBody>
      </p:sp>
      <p:sp>
        <p:nvSpPr>
          <p:cNvPr id="149" name="Google Shape;149;p22"/>
          <p:cNvSpPr txBox="1"/>
          <p:nvPr/>
        </p:nvSpPr>
        <p:spPr>
          <a:xfrm>
            <a:off x="6170550" y="0"/>
            <a:ext cx="30000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100">
                <a:solidFill>
                  <a:schemeClr val="lt1"/>
                </a:solidFill>
                <a:latin typeface="Josefin Sans"/>
                <a:ea typeface="Josefin Sans"/>
                <a:cs typeface="Josefin Sans"/>
                <a:sym typeface="Josefin Sans"/>
              </a:rPr>
              <a:t>            TATA POWER</a:t>
            </a:r>
            <a:endParaRPr sz="2300"/>
          </a:p>
        </p:txBody>
      </p:sp>
      <p:sp>
        <p:nvSpPr>
          <p:cNvPr id="150" name="Google Shape;150;p22"/>
          <p:cNvSpPr/>
          <p:nvPr/>
        </p:nvSpPr>
        <p:spPr>
          <a:xfrm>
            <a:off x="0" y="194625"/>
            <a:ext cx="9144000" cy="750900"/>
          </a:xfrm>
          <a:prstGeom prst="rect">
            <a:avLst/>
          </a:pr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100">
                <a:latin typeface="Josefin Sans"/>
                <a:ea typeface="Josefin Sans"/>
                <a:cs typeface="Josefin Sans"/>
                <a:sym typeface="Josefin Sans"/>
              </a:rPr>
              <a:t>TASK II</a:t>
            </a:r>
            <a:r>
              <a:rPr b="1" lang="en-GB" sz="2100">
                <a:solidFill>
                  <a:srgbClr val="000000"/>
                </a:solidFill>
                <a:latin typeface="Josefin Sans"/>
                <a:ea typeface="Josefin Sans"/>
                <a:cs typeface="Josefin Sans"/>
                <a:sym typeface="Josefin Sans"/>
              </a:rPr>
              <a:t>   </a:t>
            </a:r>
            <a:endParaRPr b="1" sz="2100">
              <a:solidFill>
                <a:srgbClr val="000000"/>
              </a:solidFill>
              <a:latin typeface="Josefin Sans"/>
              <a:ea typeface="Josefin Sans"/>
              <a:cs typeface="Josefin Sans"/>
              <a:sym typeface="Josefin Sans"/>
            </a:endParaRPr>
          </a:p>
        </p:txBody>
      </p:sp>
      <p:pic>
        <p:nvPicPr>
          <p:cNvPr id="151" name="Google Shape;151;p22"/>
          <p:cNvPicPr preferRelativeResize="0"/>
          <p:nvPr/>
        </p:nvPicPr>
        <p:blipFill>
          <a:blip r:embed="rId3">
            <a:alphaModFix/>
          </a:blip>
          <a:stretch>
            <a:fillRect/>
          </a:stretch>
        </p:blipFill>
        <p:spPr>
          <a:xfrm>
            <a:off x="52150" y="25350"/>
            <a:ext cx="407152" cy="457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Statistical</a:t>
            </a:r>
            <a:r>
              <a:rPr b="1" lang="en-GB">
                <a:solidFill>
                  <a:srgbClr val="FFFFFF"/>
                </a:solidFill>
                <a:latin typeface="Josefin Sans"/>
                <a:ea typeface="Josefin Sans"/>
                <a:cs typeface="Josefin Sans"/>
                <a:sym typeface="Josefin Sans"/>
              </a:rPr>
              <a:t> deep dive into relevant </a:t>
            </a:r>
            <a:r>
              <a:rPr b="1" lang="en-GB">
                <a:solidFill>
                  <a:srgbClr val="FFFFFF"/>
                </a:solidFill>
                <a:latin typeface="Josefin Sans"/>
                <a:ea typeface="Josefin Sans"/>
                <a:cs typeface="Josefin Sans"/>
                <a:sym typeface="Josefin Sans"/>
              </a:rPr>
              <a:t>datasets</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157" name="Google Shape;157;p23"/>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JAAD Dataset</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158" name="Google Shape;158;p23"/>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The overview and key features of JAAD dataset</a:t>
            </a:r>
            <a:endParaRPr sz="1100">
              <a:solidFill>
                <a:srgbClr val="FFFFFF"/>
              </a:solidFill>
              <a:latin typeface="Josefin Sans"/>
              <a:ea typeface="Josefin Sans"/>
              <a:cs typeface="Josefin Sans"/>
              <a:sym typeface="Josefin Sans"/>
            </a:endParaRPr>
          </a:p>
        </p:txBody>
      </p:sp>
      <p:cxnSp>
        <p:nvCxnSpPr>
          <p:cNvPr id="159" name="Google Shape;159;p23"/>
          <p:cNvCxnSpPr/>
          <p:nvPr/>
        </p:nvCxnSpPr>
        <p:spPr>
          <a:xfrm>
            <a:off x="3400500" y="965388"/>
            <a:ext cx="15300" cy="3753600"/>
          </a:xfrm>
          <a:prstGeom prst="straightConnector1">
            <a:avLst/>
          </a:prstGeom>
          <a:noFill/>
          <a:ln cap="flat" cmpd="sng" w="9525">
            <a:solidFill>
              <a:srgbClr val="4285F4"/>
            </a:solidFill>
            <a:prstDash val="dash"/>
            <a:round/>
            <a:headEnd len="med" w="med" type="none"/>
            <a:tailEnd len="med" w="med" type="none"/>
          </a:ln>
        </p:spPr>
      </p:cxnSp>
      <p:sp>
        <p:nvSpPr>
          <p:cNvPr id="160" name="Google Shape;160;p23"/>
          <p:cNvSpPr txBox="1"/>
          <p:nvPr/>
        </p:nvSpPr>
        <p:spPr>
          <a:xfrm>
            <a:off x="325125" y="965400"/>
            <a:ext cx="27747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Overview</a:t>
            </a:r>
            <a:endParaRPr b="1" sz="1200">
              <a:solidFill>
                <a:srgbClr val="FFFFFF"/>
              </a:solidFill>
              <a:latin typeface="Josefin Sans"/>
              <a:ea typeface="Josefin Sans"/>
              <a:cs typeface="Josefin Sans"/>
              <a:sym typeface="Josefin Sans"/>
            </a:endParaRPr>
          </a:p>
        </p:txBody>
      </p:sp>
      <p:sp>
        <p:nvSpPr>
          <p:cNvPr id="161" name="Google Shape;161;p23"/>
          <p:cNvSpPr txBox="1"/>
          <p:nvPr/>
        </p:nvSpPr>
        <p:spPr>
          <a:xfrm rot="-5400000">
            <a:off x="1855975" y="2696250"/>
            <a:ext cx="37713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Key Features</a:t>
            </a:r>
            <a:endParaRPr b="1" sz="1200">
              <a:solidFill>
                <a:srgbClr val="FFFFFF"/>
              </a:solidFill>
              <a:latin typeface="Josefin Sans"/>
              <a:ea typeface="Josefin Sans"/>
              <a:cs typeface="Josefin Sans"/>
              <a:sym typeface="Josefin Sans"/>
            </a:endParaRPr>
          </a:p>
        </p:txBody>
      </p:sp>
      <p:sp>
        <p:nvSpPr>
          <p:cNvPr id="162" name="Google Shape;162;p23"/>
          <p:cNvSpPr txBox="1"/>
          <p:nvPr/>
        </p:nvSpPr>
        <p:spPr>
          <a:xfrm>
            <a:off x="336225" y="1423200"/>
            <a:ext cx="2752500" cy="141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1"/>
                </a:solidFill>
                <a:latin typeface="Josefin Sans"/>
                <a:ea typeface="Josefin Sans"/>
                <a:cs typeface="Josefin Sans"/>
                <a:sym typeface="Josefin Sans"/>
              </a:rPr>
              <a:t>The JAAD (Joint Attention for Autonomous Driving) dataset is a valuable resource in the domain of autonomous driving research, specifically designed for studying pedestrian behavior in urban traffic environments</a:t>
            </a:r>
            <a:endParaRPr b="1" sz="1100">
              <a:solidFill>
                <a:srgbClr val="000000"/>
              </a:solidFill>
              <a:latin typeface="Josefin Sans"/>
              <a:ea typeface="Josefin Sans"/>
              <a:cs typeface="Josefin Sans"/>
              <a:sym typeface="Josefin Sans"/>
            </a:endParaRPr>
          </a:p>
        </p:txBody>
      </p:sp>
      <p:sp>
        <p:nvSpPr>
          <p:cNvPr id="163" name="Google Shape;163;p23"/>
          <p:cNvSpPr txBox="1"/>
          <p:nvPr/>
        </p:nvSpPr>
        <p:spPr>
          <a:xfrm>
            <a:off x="336225" y="2932100"/>
            <a:ext cx="2752500" cy="16035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latin typeface="Josefin Sans"/>
                <a:ea typeface="Josefin Sans"/>
                <a:cs typeface="Josefin Sans"/>
                <a:sym typeface="Josefin Sans"/>
              </a:rPr>
              <a:t>The dataset is widely used for analyzing pedestrian intention, gaze direction, and interactions between pedestrians and drivers.</a:t>
            </a:r>
            <a:endParaRPr sz="1100">
              <a:solidFill>
                <a:srgbClr val="000000"/>
              </a:solidFill>
              <a:latin typeface="Josefin Sans"/>
              <a:ea typeface="Josefin Sans"/>
              <a:cs typeface="Josefin Sans"/>
              <a:sym typeface="Josefin Sans"/>
            </a:endParaRPr>
          </a:p>
        </p:txBody>
      </p:sp>
      <p:sp>
        <p:nvSpPr>
          <p:cNvPr id="164" name="Google Shape;164;p23"/>
          <p:cNvSpPr txBox="1"/>
          <p:nvPr/>
        </p:nvSpPr>
        <p:spPr>
          <a:xfrm>
            <a:off x="4082750" y="946688"/>
            <a:ext cx="2275200" cy="9429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600"/>
              </a:spcBef>
              <a:spcAft>
                <a:spcPts val="0"/>
              </a:spcAft>
              <a:buNone/>
            </a:pPr>
            <a:r>
              <a:rPr b="1" lang="en-GB" sz="1100">
                <a:solidFill>
                  <a:schemeClr val="dk1"/>
                </a:solidFill>
                <a:latin typeface="Josefin Sans"/>
                <a:ea typeface="Josefin Sans"/>
                <a:cs typeface="Josefin Sans"/>
                <a:sym typeface="Josefin Sans"/>
              </a:rPr>
              <a:t>Video footage</a:t>
            </a:r>
            <a:r>
              <a:rPr b="1" lang="en-GB" sz="1100">
                <a:solidFill>
                  <a:schemeClr val="dk1"/>
                </a:solidFill>
                <a:latin typeface="Josefin Sans"/>
                <a:ea typeface="Josefin Sans"/>
                <a:cs typeface="Josefin Sans"/>
                <a:sym typeface="Josefin Sans"/>
              </a:rPr>
              <a:t> </a:t>
            </a:r>
            <a:endParaRPr b="1" sz="1100">
              <a:solidFill>
                <a:schemeClr val="dk1"/>
              </a:solidFill>
              <a:latin typeface="Josefin Sans"/>
              <a:ea typeface="Josefin Sans"/>
              <a:cs typeface="Josefin Sans"/>
              <a:sym typeface="Josefin Sans"/>
            </a:endParaRPr>
          </a:p>
          <a:p>
            <a:pPr indent="0" lvl="0" marL="0" rtl="0" algn="ctr">
              <a:lnSpc>
                <a:spcPct val="115000"/>
              </a:lnSpc>
              <a:spcBef>
                <a:spcPts val="600"/>
              </a:spcBef>
              <a:spcAft>
                <a:spcPts val="600"/>
              </a:spcAft>
              <a:buNone/>
            </a:pPr>
            <a:r>
              <a:rPr lang="en-GB" sz="1050">
                <a:solidFill>
                  <a:schemeClr val="dk1"/>
                </a:solidFill>
                <a:highlight>
                  <a:srgbClr val="FFFFFF"/>
                </a:highlight>
                <a:latin typeface="Josefin Sans"/>
                <a:ea typeface="Josefin Sans"/>
                <a:cs typeface="Josefin Sans"/>
                <a:sym typeface="Josefin Sans"/>
              </a:rPr>
              <a:t>346 HD video clips 5-10 seconds long are recorded with on-board camera at 30 FPS.</a:t>
            </a:r>
            <a:endParaRPr b="1" sz="1000">
              <a:solidFill>
                <a:schemeClr val="dk1"/>
              </a:solidFill>
              <a:latin typeface="Josefin Sans"/>
              <a:ea typeface="Josefin Sans"/>
              <a:cs typeface="Josefin Sans"/>
              <a:sym typeface="Josefin Sans"/>
            </a:endParaRPr>
          </a:p>
        </p:txBody>
      </p:sp>
      <p:sp>
        <p:nvSpPr>
          <p:cNvPr id="165" name="Google Shape;165;p23"/>
          <p:cNvSpPr txBox="1"/>
          <p:nvPr/>
        </p:nvSpPr>
        <p:spPr>
          <a:xfrm>
            <a:off x="6561975" y="946688"/>
            <a:ext cx="2275200" cy="9429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600"/>
              </a:spcBef>
              <a:spcAft>
                <a:spcPts val="0"/>
              </a:spcAft>
              <a:buNone/>
            </a:pPr>
            <a:r>
              <a:rPr b="1" lang="en-GB" sz="1100">
                <a:latin typeface="Josefin Sans"/>
                <a:ea typeface="Josefin Sans"/>
                <a:cs typeface="Josefin Sans"/>
                <a:sym typeface="Josefin Sans"/>
              </a:rPr>
              <a:t>Spatial annotations</a:t>
            </a:r>
            <a:endParaRPr b="1" sz="1100">
              <a:latin typeface="Josefin Sans"/>
              <a:ea typeface="Josefin Sans"/>
              <a:cs typeface="Josefin Sans"/>
              <a:sym typeface="Josefin Sans"/>
            </a:endParaRPr>
          </a:p>
          <a:p>
            <a:pPr indent="0" lvl="0" marL="0" rtl="0" algn="ctr">
              <a:lnSpc>
                <a:spcPct val="115000"/>
              </a:lnSpc>
              <a:spcBef>
                <a:spcPts val="600"/>
              </a:spcBef>
              <a:spcAft>
                <a:spcPts val="600"/>
              </a:spcAft>
              <a:buNone/>
            </a:pPr>
            <a:r>
              <a:rPr lang="en-GB" sz="1100">
                <a:solidFill>
                  <a:schemeClr val="dk1"/>
                </a:solidFill>
                <a:highlight>
                  <a:srgbClr val="FFFFFF"/>
                </a:highlight>
                <a:latin typeface="Josefin Sans"/>
                <a:ea typeface="Josefin Sans"/>
                <a:cs typeface="Josefin Sans"/>
                <a:sym typeface="Josefin Sans"/>
              </a:rPr>
              <a:t>Bounding boxes are provided for all 2793 pedestrians present in the videos.</a:t>
            </a:r>
            <a:endParaRPr b="1" sz="1100">
              <a:solidFill>
                <a:schemeClr val="dk1"/>
              </a:solidFill>
              <a:latin typeface="Josefin Sans"/>
              <a:ea typeface="Josefin Sans"/>
              <a:cs typeface="Josefin Sans"/>
              <a:sym typeface="Josefin Sans"/>
            </a:endParaRPr>
          </a:p>
        </p:txBody>
      </p:sp>
      <p:sp>
        <p:nvSpPr>
          <p:cNvPr id="166" name="Google Shape;166;p23"/>
          <p:cNvSpPr txBox="1"/>
          <p:nvPr/>
        </p:nvSpPr>
        <p:spPr>
          <a:xfrm>
            <a:off x="4082750" y="1988525"/>
            <a:ext cx="2275200" cy="11427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600"/>
              </a:spcBef>
              <a:spcAft>
                <a:spcPts val="0"/>
              </a:spcAft>
              <a:buNone/>
            </a:pPr>
            <a:r>
              <a:rPr b="1" lang="en-GB" sz="1100">
                <a:solidFill>
                  <a:schemeClr val="dk1"/>
                </a:solidFill>
                <a:latin typeface="Josefin Sans"/>
                <a:ea typeface="Josefin Sans"/>
                <a:cs typeface="Josefin Sans"/>
                <a:sym typeface="Josefin Sans"/>
              </a:rPr>
              <a:t>Behaviour annotations</a:t>
            </a:r>
            <a:r>
              <a:rPr b="1" lang="en-GB" sz="1100">
                <a:solidFill>
                  <a:schemeClr val="dk1"/>
                </a:solidFill>
                <a:latin typeface="Josefin Sans"/>
                <a:ea typeface="Josefin Sans"/>
                <a:cs typeface="Josefin Sans"/>
                <a:sym typeface="Josefin Sans"/>
              </a:rPr>
              <a:t> </a:t>
            </a:r>
            <a:endParaRPr b="1" sz="1100">
              <a:solidFill>
                <a:schemeClr val="dk1"/>
              </a:solidFill>
              <a:latin typeface="Josefin Sans"/>
              <a:ea typeface="Josefin Sans"/>
              <a:cs typeface="Josefin Sans"/>
              <a:sym typeface="Josefin Sans"/>
            </a:endParaRPr>
          </a:p>
          <a:p>
            <a:pPr indent="0" lvl="0" marL="0" rtl="0" algn="ctr">
              <a:lnSpc>
                <a:spcPct val="115000"/>
              </a:lnSpc>
              <a:spcBef>
                <a:spcPts val="600"/>
              </a:spcBef>
              <a:spcAft>
                <a:spcPts val="600"/>
              </a:spcAft>
              <a:buNone/>
            </a:pPr>
            <a:r>
              <a:rPr lang="en-GB" sz="1050">
                <a:solidFill>
                  <a:schemeClr val="dk1"/>
                </a:solidFill>
                <a:highlight>
                  <a:srgbClr val="FFFFFF"/>
                </a:highlight>
                <a:latin typeface="Josefin Sans"/>
                <a:ea typeface="Josefin Sans"/>
                <a:cs typeface="Josefin Sans"/>
                <a:sym typeface="Josefin Sans"/>
              </a:rPr>
              <a:t>Behavior tags are provided for each pedestrian per frame, including actions like walking, standing, crossing, etc.</a:t>
            </a:r>
            <a:endParaRPr b="1" sz="1000">
              <a:solidFill>
                <a:schemeClr val="dk1"/>
              </a:solidFill>
              <a:latin typeface="Josefin Sans"/>
              <a:ea typeface="Josefin Sans"/>
              <a:cs typeface="Josefin Sans"/>
              <a:sym typeface="Josefin Sans"/>
            </a:endParaRPr>
          </a:p>
        </p:txBody>
      </p:sp>
      <p:sp>
        <p:nvSpPr>
          <p:cNvPr id="167" name="Google Shape;167;p23"/>
          <p:cNvSpPr txBox="1"/>
          <p:nvPr/>
        </p:nvSpPr>
        <p:spPr>
          <a:xfrm>
            <a:off x="6561975" y="1988775"/>
            <a:ext cx="2275200" cy="11427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600"/>
              </a:spcBef>
              <a:spcAft>
                <a:spcPts val="0"/>
              </a:spcAft>
              <a:buNone/>
            </a:pPr>
            <a:r>
              <a:rPr b="1" lang="en-GB" sz="1100">
                <a:solidFill>
                  <a:schemeClr val="dk1"/>
                </a:solidFill>
                <a:latin typeface="Josefin Sans"/>
                <a:ea typeface="Josefin Sans"/>
                <a:cs typeface="Josefin Sans"/>
                <a:sym typeface="Josefin Sans"/>
              </a:rPr>
              <a:t>Variety of scenarios</a:t>
            </a:r>
            <a:endParaRPr b="1" sz="1100">
              <a:solidFill>
                <a:schemeClr val="dk1"/>
              </a:solidFill>
              <a:latin typeface="Josefin Sans"/>
              <a:ea typeface="Josefin Sans"/>
              <a:cs typeface="Josefin Sans"/>
              <a:sym typeface="Josefin Sans"/>
            </a:endParaRPr>
          </a:p>
          <a:p>
            <a:pPr indent="0" lvl="0" marL="0" rtl="0" algn="ctr">
              <a:lnSpc>
                <a:spcPct val="115000"/>
              </a:lnSpc>
              <a:spcBef>
                <a:spcPts val="600"/>
              </a:spcBef>
              <a:spcAft>
                <a:spcPts val="600"/>
              </a:spcAft>
              <a:buNone/>
            </a:pPr>
            <a:r>
              <a:rPr lang="en-GB" sz="1050">
                <a:solidFill>
                  <a:schemeClr val="dk1"/>
                </a:solidFill>
                <a:highlight>
                  <a:srgbClr val="FFFFFF"/>
                </a:highlight>
                <a:latin typeface="Josefin Sans"/>
                <a:ea typeface="Josefin Sans"/>
                <a:cs typeface="Josefin Sans"/>
                <a:sym typeface="Josefin Sans"/>
              </a:rPr>
              <a:t>Videos were recorded in several locations in North America and Europe under different weather conditions.</a:t>
            </a:r>
            <a:endParaRPr b="1" sz="1100">
              <a:solidFill>
                <a:schemeClr val="dk1"/>
              </a:solidFill>
              <a:latin typeface="Josefin Sans"/>
              <a:ea typeface="Josefin Sans"/>
              <a:cs typeface="Josefin Sans"/>
              <a:sym typeface="Josefin Sans"/>
            </a:endParaRPr>
          </a:p>
        </p:txBody>
      </p:sp>
      <p:sp>
        <p:nvSpPr>
          <p:cNvPr id="168" name="Google Shape;168;p23"/>
          <p:cNvSpPr txBox="1"/>
          <p:nvPr/>
        </p:nvSpPr>
        <p:spPr>
          <a:xfrm>
            <a:off x="4082750" y="3224575"/>
            <a:ext cx="2275200" cy="14802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600"/>
              </a:spcBef>
              <a:spcAft>
                <a:spcPts val="0"/>
              </a:spcAft>
              <a:buNone/>
            </a:pPr>
            <a:r>
              <a:rPr b="1" lang="en-GB" sz="1100">
                <a:solidFill>
                  <a:schemeClr val="dk1"/>
                </a:solidFill>
                <a:latin typeface="Josefin Sans"/>
                <a:ea typeface="Josefin Sans"/>
                <a:cs typeface="Josefin Sans"/>
                <a:sym typeface="Josefin Sans"/>
              </a:rPr>
              <a:t>Pedestrian attributes</a:t>
            </a:r>
            <a:r>
              <a:rPr b="1" lang="en-GB" sz="1100">
                <a:solidFill>
                  <a:schemeClr val="dk1"/>
                </a:solidFill>
                <a:latin typeface="Josefin Sans"/>
                <a:ea typeface="Josefin Sans"/>
                <a:cs typeface="Josefin Sans"/>
                <a:sym typeface="Josefin Sans"/>
              </a:rPr>
              <a:t> </a:t>
            </a:r>
            <a:endParaRPr b="1" sz="1100">
              <a:solidFill>
                <a:schemeClr val="dk1"/>
              </a:solidFill>
              <a:latin typeface="Josefin Sans"/>
              <a:ea typeface="Josefin Sans"/>
              <a:cs typeface="Josefin Sans"/>
              <a:sym typeface="Josefin Sans"/>
            </a:endParaRPr>
          </a:p>
          <a:p>
            <a:pPr indent="0" lvl="0" marL="0" rtl="0" algn="ctr">
              <a:lnSpc>
                <a:spcPct val="115000"/>
              </a:lnSpc>
              <a:spcBef>
                <a:spcPts val="600"/>
              </a:spcBef>
              <a:spcAft>
                <a:spcPts val="600"/>
              </a:spcAft>
              <a:buNone/>
            </a:pPr>
            <a:r>
              <a:rPr lang="en-GB" sz="1050">
                <a:solidFill>
                  <a:schemeClr val="dk1"/>
                </a:solidFill>
                <a:highlight>
                  <a:srgbClr val="FFFFFF"/>
                </a:highlight>
                <a:latin typeface="Josefin Sans"/>
                <a:ea typeface="Josefin Sans"/>
                <a:cs typeface="Josefin Sans"/>
                <a:sym typeface="Josefin Sans"/>
              </a:rPr>
              <a:t>A list of attributes is provided for each pedestrian. Attributes include age, gender, clothing and accessories, direction of motion, crossing location, number of people in the group.</a:t>
            </a:r>
            <a:endParaRPr b="1" sz="1000">
              <a:solidFill>
                <a:schemeClr val="dk1"/>
              </a:solidFill>
              <a:latin typeface="Josefin Sans"/>
              <a:ea typeface="Josefin Sans"/>
              <a:cs typeface="Josefin Sans"/>
              <a:sym typeface="Josefin Sans"/>
            </a:endParaRPr>
          </a:p>
        </p:txBody>
      </p:sp>
      <p:sp>
        <p:nvSpPr>
          <p:cNvPr id="169" name="Google Shape;169;p23"/>
          <p:cNvSpPr txBox="1"/>
          <p:nvPr/>
        </p:nvSpPr>
        <p:spPr>
          <a:xfrm>
            <a:off x="6561975" y="3224575"/>
            <a:ext cx="2275200" cy="14802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600"/>
              </a:spcBef>
              <a:spcAft>
                <a:spcPts val="0"/>
              </a:spcAft>
              <a:buNone/>
            </a:pPr>
            <a:r>
              <a:rPr b="1" lang="en-GB" sz="1100">
                <a:solidFill>
                  <a:schemeClr val="dk1"/>
                </a:solidFill>
                <a:latin typeface="Josefin Sans"/>
                <a:ea typeface="Josefin Sans"/>
                <a:cs typeface="Josefin Sans"/>
                <a:sym typeface="Josefin Sans"/>
              </a:rPr>
              <a:t>Context </a:t>
            </a:r>
            <a:r>
              <a:rPr b="1" lang="en-GB" sz="1100">
                <a:solidFill>
                  <a:schemeClr val="dk1"/>
                </a:solidFill>
                <a:latin typeface="Josefin Sans"/>
                <a:ea typeface="Josefin Sans"/>
                <a:cs typeface="Josefin Sans"/>
                <a:sym typeface="Josefin Sans"/>
              </a:rPr>
              <a:t>annotation</a:t>
            </a:r>
            <a:endParaRPr b="1" sz="1100">
              <a:solidFill>
                <a:schemeClr val="dk1"/>
              </a:solidFill>
              <a:latin typeface="Josefin Sans"/>
              <a:ea typeface="Josefin Sans"/>
              <a:cs typeface="Josefin Sans"/>
              <a:sym typeface="Josefin Sans"/>
            </a:endParaRPr>
          </a:p>
          <a:p>
            <a:pPr indent="0" lvl="0" marL="0" rtl="0" algn="ctr">
              <a:lnSpc>
                <a:spcPct val="115000"/>
              </a:lnSpc>
              <a:spcBef>
                <a:spcPts val="600"/>
              </a:spcBef>
              <a:spcAft>
                <a:spcPts val="600"/>
              </a:spcAft>
              <a:buNone/>
            </a:pPr>
            <a:r>
              <a:rPr lang="en-GB" sz="1050">
                <a:solidFill>
                  <a:schemeClr val="dk1"/>
                </a:solidFill>
                <a:highlight>
                  <a:srgbClr val="FFFFFF"/>
                </a:highlight>
                <a:latin typeface="Josefin Sans"/>
                <a:ea typeface="Josefin Sans"/>
                <a:cs typeface="Josefin Sans"/>
                <a:sym typeface="Josefin Sans"/>
              </a:rPr>
              <a:t>Each video is annotated with weather and time of day attribute. Text annotations for visible elements of infrastructure such as crosswalks, traffic lights, stop lights, etc</a:t>
            </a:r>
            <a:endParaRPr b="1" sz="1100">
              <a:solidFill>
                <a:schemeClr val="dk1"/>
              </a:solidFill>
              <a:latin typeface="Josefin Sans"/>
              <a:ea typeface="Josefin Sans"/>
              <a:cs typeface="Josefin Sans"/>
              <a:sym typeface="Josefin Sans"/>
            </a:endParaRPr>
          </a:p>
        </p:txBody>
      </p:sp>
      <p:pic>
        <p:nvPicPr>
          <p:cNvPr id="170" name="Google Shape;170;p23"/>
          <p:cNvPicPr preferRelativeResize="0"/>
          <p:nvPr/>
        </p:nvPicPr>
        <p:blipFill>
          <a:blip r:embed="rId3">
            <a:alphaModFix/>
          </a:blip>
          <a:stretch>
            <a:fillRect/>
          </a:stretch>
        </p:blipFill>
        <p:spPr>
          <a:xfrm>
            <a:off x="52150" y="-5850"/>
            <a:ext cx="407152" cy="457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4"/>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Statistical deep dive into relevant datasets </a:t>
            </a:r>
            <a:endParaRPr b="1">
              <a:solidFill>
                <a:srgbClr val="FFFFFF"/>
              </a:solidFill>
              <a:latin typeface="Josefin Sans"/>
              <a:ea typeface="Josefin Sans"/>
              <a:cs typeface="Josefin Sans"/>
              <a:sym typeface="Josefin Sans"/>
            </a:endParaRPr>
          </a:p>
        </p:txBody>
      </p:sp>
      <p:sp>
        <p:nvSpPr>
          <p:cNvPr id="176" name="Google Shape;176;p24"/>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JAAD Dataset</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177" name="Google Shape;177;p24"/>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Basic statistics and quantitative data on pedestrian count</a:t>
            </a:r>
            <a:endParaRPr sz="1100">
              <a:solidFill>
                <a:srgbClr val="FFFFFF"/>
              </a:solidFill>
              <a:latin typeface="Josefin Sans"/>
              <a:ea typeface="Josefin Sans"/>
              <a:cs typeface="Josefin Sans"/>
              <a:sym typeface="Josefin Sans"/>
            </a:endParaRPr>
          </a:p>
        </p:txBody>
      </p:sp>
      <p:sp>
        <p:nvSpPr>
          <p:cNvPr id="178" name="Google Shape;178;p24"/>
          <p:cNvSpPr txBox="1"/>
          <p:nvPr/>
        </p:nvSpPr>
        <p:spPr>
          <a:xfrm>
            <a:off x="1604225" y="945650"/>
            <a:ext cx="27747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Basic Statistics</a:t>
            </a:r>
            <a:endParaRPr b="1" sz="1200">
              <a:solidFill>
                <a:srgbClr val="FFFFFF"/>
              </a:solidFill>
              <a:latin typeface="Josefin Sans"/>
              <a:ea typeface="Josefin Sans"/>
              <a:cs typeface="Josefin Sans"/>
              <a:sym typeface="Josefin Sans"/>
            </a:endParaRPr>
          </a:p>
        </p:txBody>
      </p:sp>
      <p:graphicFrame>
        <p:nvGraphicFramePr>
          <p:cNvPr id="179" name="Google Shape;179;p24"/>
          <p:cNvGraphicFramePr/>
          <p:nvPr/>
        </p:nvGraphicFramePr>
        <p:xfrm>
          <a:off x="325125" y="1383688"/>
          <a:ext cx="3000000" cy="3000000"/>
        </p:xfrm>
        <a:graphic>
          <a:graphicData uri="http://schemas.openxmlformats.org/drawingml/2006/table">
            <a:tbl>
              <a:tblPr>
                <a:noFill/>
                <a:tableStyleId>{D45A3726-6D87-4FA0-885B-04208B5A4D76}</a:tableStyleId>
              </a:tblPr>
              <a:tblGrid>
                <a:gridCol w="2666450"/>
                <a:gridCol w="2666450"/>
              </a:tblGrid>
              <a:tr h="541500">
                <a:tc>
                  <a:txBody>
                    <a:bodyPr/>
                    <a:lstStyle/>
                    <a:p>
                      <a:pPr indent="0" lvl="0" marL="0" rtl="0" algn="ctr">
                        <a:lnSpc>
                          <a:spcPct val="171429"/>
                        </a:lnSpc>
                        <a:spcBef>
                          <a:spcPts val="1100"/>
                        </a:spcBef>
                        <a:spcAft>
                          <a:spcPts val="1100"/>
                        </a:spcAft>
                        <a:buNone/>
                      </a:pPr>
                      <a:r>
                        <a:rPr b="1" lang="en-GB" sz="1100">
                          <a:latin typeface="Josefin Sans"/>
                          <a:ea typeface="Josefin Sans"/>
                          <a:cs typeface="Josefin Sans"/>
                          <a:sym typeface="Josefin Sans"/>
                        </a:rPr>
                        <a:t>Feature</a:t>
                      </a:r>
                      <a:endParaRPr b="1" sz="1100">
                        <a:latin typeface="Josefin Sans"/>
                        <a:ea typeface="Josefin Sans"/>
                        <a:cs typeface="Josefin Sans"/>
                        <a:sym typeface="Josefin Sans"/>
                      </a:endParaRPr>
                    </a:p>
                  </a:txBody>
                  <a:tcPr marT="91425" marB="91425" marR="91425" marL="91425" anchor="ctr">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ctr">
                        <a:lnSpc>
                          <a:spcPct val="171429"/>
                        </a:lnSpc>
                        <a:spcBef>
                          <a:spcPts val="1100"/>
                        </a:spcBef>
                        <a:spcAft>
                          <a:spcPts val="1100"/>
                        </a:spcAft>
                        <a:buNone/>
                      </a:pPr>
                      <a:r>
                        <a:rPr b="1" lang="en-GB" sz="1100">
                          <a:latin typeface="Josefin Sans"/>
                          <a:ea typeface="Josefin Sans"/>
                          <a:cs typeface="Josefin Sans"/>
                          <a:sym typeface="Josefin Sans"/>
                        </a:rPr>
                        <a:t>Details</a:t>
                      </a:r>
                      <a:endParaRPr b="1" sz="1100">
                        <a:latin typeface="Josefin Sans"/>
                        <a:ea typeface="Josefin Sans"/>
                        <a:cs typeface="Josefin Sans"/>
                        <a:sym typeface="Josefin Sans"/>
                      </a:endParaRPr>
                    </a:p>
                  </a:txBody>
                  <a:tcPr marT="91425" marB="91425" marR="91425" marL="91425" anchor="ctr">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375900">
                <a:tc>
                  <a:txBody>
                    <a:bodyPr/>
                    <a:lstStyle/>
                    <a:p>
                      <a:pPr indent="0" lvl="0" marL="0" rtl="0" algn="l">
                        <a:lnSpc>
                          <a:spcPct val="115000"/>
                        </a:lnSpc>
                        <a:spcBef>
                          <a:spcPts val="1100"/>
                        </a:spcBef>
                        <a:spcAft>
                          <a:spcPts val="1100"/>
                        </a:spcAft>
                        <a:buNone/>
                      </a:pPr>
                      <a:r>
                        <a:rPr lang="en-GB" sz="1050">
                          <a:solidFill>
                            <a:schemeClr val="dk1"/>
                          </a:solidFill>
                          <a:highlight>
                            <a:srgbClr val="FFFFFF"/>
                          </a:highlight>
                          <a:latin typeface="Josefin Sans"/>
                          <a:ea typeface="Josefin Sans"/>
                          <a:cs typeface="Josefin Sans"/>
                          <a:sym typeface="Josefin Sans"/>
                        </a:rPr>
                        <a:t>Total number of frames</a:t>
                      </a:r>
                      <a:endParaRPr sz="1050">
                        <a:solidFill>
                          <a:schemeClr val="dk1"/>
                        </a:solidFill>
                        <a:highlight>
                          <a:srgbClr val="FFFFFF"/>
                        </a:highlight>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ctr">
                        <a:lnSpc>
                          <a:spcPct val="115000"/>
                        </a:lnSpc>
                        <a:spcBef>
                          <a:spcPts val="1100"/>
                        </a:spcBef>
                        <a:spcAft>
                          <a:spcPts val="1100"/>
                        </a:spcAft>
                        <a:buNone/>
                      </a:pPr>
                      <a:r>
                        <a:rPr lang="en-GB" sz="1050">
                          <a:solidFill>
                            <a:schemeClr val="dk1"/>
                          </a:solidFill>
                          <a:highlight>
                            <a:srgbClr val="FFFFFF"/>
                          </a:highlight>
                          <a:latin typeface="Josefin Sans"/>
                          <a:ea typeface="Josefin Sans"/>
                          <a:cs typeface="Josefin Sans"/>
                          <a:sym typeface="Josefin Sans"/>
                        </a:rPr>
                        <a:t>82,032</a:t>
                      </a:r>
                      <a:endParaRPr sz="1050">
                        <a:solidFill>
                          <a:schemeClr val="dk1"/>
                        </a:solidFill>
                        <a:highlight>
                          <a:srgbClr val="FFFFFF"/>
                        </a:highlight>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497400">
                <a:tc>
                  <a:txBody>
                    <a:bodyPr/>
                    <a:lstStyle/>
                    <a:p>
                      <a:pPr indent="0" lvl="0" marL="0" rtl="0" algn="l">
                        <a:lnSpc>
                          <a:spcPct val="115000"/>
                        </a:lnSpc>
                        <a:spcBef>
                          <a:spcPts val="1100"/>
                        </a:spcBef>
                        <a:spcAft>
                          <a:spcPts val="1100"/>
                        </a:spcAft>
                        <a:buNone/>
                      </a:pPr>
                      <a:r>
                        <a:rPr lang="en-GB" sz="1050">
                          <a:solidFill>
                            <a:schemeClr val="dk1"/>
                          </a:solidFill>
                          <a:highlight>
                            <a:srgbClr val="FFFFFF"/>
                          </a:highlight>
                          <a:latin typeface="Josefin Sans"/>
                          <a:ea typeface="Josefin Sans"/>
                          <a:cs typeface="Josefin Sans"/>
                          <a:sym typeface="Josefin Sans"/>
                        </a:rPr>
                        <a:t>Total number of annotated frames</a:t>
                      </a:r>
                      <a:endParaRPr sz="1050">
                        <a:solidFill>
                          <a:schemeClr val="dk1"/>
                        </a:solidFill>
                        <a:highlight>
                          <a:srgbClr val="FFFFFF"/>
                        </a:highlight>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ctr">
                        <a:lnSpc>
                          <a:spcPct val="115000"/>
                        </a:lnSpc>
                        <a:spcBef>
                          <a:spcPts val="1100"/>
                        </a:spcBef>
                        <a:spcAft>
                          <a:spcPts val="1100"/>
                        </a:spcAft>
                        <a:buNone/>
                      </a:pPr>
                      <a:r>
                        <a:rPr lang="en-GB" sz="1050">
                          <a:solidFill>
                            <a:schemeClr val="dk1"/>
                          </a:solidFill>
                          <a:highlight>
                            <a:srgbClr val="FFFFFF"/>
                          </a:highlight>
                          <a:latin typeface="Josefin Sans"/>
                          <a:ea typeface="Josefin Sans"/>
                          <a:cs typeface="Josefin Sans"/>
                          <a:sym typeface="Josefin Sans"/>
                        </a:rPr>
                        <a:t>82,032</a:t>
                      </a:r>
                      <a:endParaRPr sz="1050">
                        <a:solidFill>
                          <a:schemeClr val="dk1"/>
                        </a:solidFill>
                        <a:highlight>
                          <a:srgbClr val="FFFFFF"/>
                        </a:highlight>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375900">
                <a:tc>
                  <a:txBody>
                    <a:bodyPr/>
                    <a:lstStyle/>
                    <a:p>
                      <a:pPr indent="0" lvl="0" marL="0" rtl="0" algn="l">
                        <a:lnSpc>
                          <a:spcPct val="115000"/>
                        </a:lnSpc>
                        <a:spcBef>
                          <a:spcPts val="1100"/>
                        </a:spcBef>
                        <a:spcAft>
                          <a:spcPts val="1100"/>
                        </a:spcAft>
                        <a:buNone/>
                      </a:pPr>
                      <a:r>
                        <a:rPr lang="en-GB" sz="1050">
                          <a:solidFill>
                            <a:schemeClr val="dk1"/>
                          </a:solidFill>
                          <a:highlight>
                            <a:srgbClr val="FFFFFF"/>
                          </a:highlight>
                          <a:latin typeface="Josefin Sans"/>
                          <a:ea typeface="Josefin Sans"/>
                          <a:cs typeface="Josefin Sans"/>
                          <a:sym typeface="Josefin Sans"/>
                        </a:rPr>
                        <a:t>Number of pedestrians with behavior annotations</a:t>
                      </a:r>
                      <a:endParaRPr sz="1050">
                        <a:solidFill>
                          <a:schemeClr val="dk1"/>
                        </a:solidFill>
                        <a:highlight>
                          <a:srgbClr val="FFFFFF"/>
                        </a:highlight>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ctr">
                        <a:lnSpc>
                          <a:spcPct val="115000"/>
                        </a:lnSpc>
                        <a:spcBef>
                          <a:spcPts val="1100"/>
                        </a:spcBef>
                        <a:spcAft>
                          <a:spcPts val="1100"/>
                        </a:spcAft>
                        <a:buNone/>
                      </a:pPr>
                      <a:r>
                        <a:rPr lang="en-GB" sz="1050">
                          <a:solidFill>
                            <a:schemeClr val="dk1"/>
                          </a:solidFill>
                          <a:highlight>
                            <a:srgbClr val="FFFFFF"/>
                          </a:highlight>
                          <a:latin typeface="Josefin Sans"/>
                          <a:ea typeface="Josefin Sans"/>
                          <a:cs typeface="Josefin Sans"/>
                          <a:sym typeface="Josefin Sans"/>
                        </a:rPr>
                        <a:t>686</a:t>
                      </a:r>
                      <a:endParaRPr sz="1050">
                        <a:solidFill>
                          <a:schemeClr val="dk1"/>
                        </a:solidFill>
                        <a:highlight>
                          <a:srgbClr val="FFFFFF"/>
                        </a:highlight>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497400">
                <a:tc>
                  <a:txBody>
                    <a:bodyPr/>
                    <a:lstStyle/>
                    <a:p>
                      <a:pPr indent="0" lvl="0" marL="0" rtl="0" algn="l">
                        <a:lnSpc>
                          <a:spcPct val="115000"/>
                        </a:lnSpc>
                        <a:spcBef>
                          <a:spcPts val="1100"/>
                        </a:spcBef>
                        <a:spcAft>
                          <a:spcPts val="1100"/>
                        </a:spcAft>
                        <a:buNone/>
                      </a:pPr>
                      <a:r>
                        <a:rPr lang="en-GB" sz="1050">
                          <a:solidFill>
                            <a:schemeClr val="dk1"/>
                          </a:solidFill>
                          <a:highlight>
                            <a:srgbClr val="FFFFFF"/>
                          </a:highlight>
                          <a:latin typeface="Josefin Sans"/>
                          <a:ea typeface="Josefin Sans"/>
                          <a:cs typeface="Josefin Sans"/>
                          <a:sym typeface="Josefin Sans"/>
                        </a:rPr>
                        <a:t>Total number of pedestrians</a:t>
                      </a:r>
                      <a:endParaRPr sz="1050">
                        <a:solidFill>
                          <a:schemeClr val="dk1"/>
                        </a:solidFill>
                        <a:highlight>
                          <a:srgbClr val="FFFFFF"/>
                        </a:highlight>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ctr">
                        <a:lnSpc>
                          <a:spcPct val="115000"/>
                        </a:lnSpc>
                        <a:spcBef>
                          <a:spcPts val="1100"/>
                        </a:spcBef>
                        <a:spcAft>
                          <a:spcPts val="1100"/>
                        </a:spcAft>
                        <a:buNone/>
                      </a:pPr>
                      <a:r>
                        <a:rPr lang="en-GB" sz="1050">
                          <a:solidFill>
                            <a:schemeClr val="dk1"/>
                          </a:solidFill>
                          <a:highlight>
                            <a:srgbClr val="FFFFFF"/>
                          </a:highlight>
                          <a:latin typeface="Josefin Sans"/>
                          <a:ea typeface="Josefin Sans"/>
                          <a:cs typeface="Josefin Sans"/>
                          <a:sym typeface="Josefin Sans"/>
                        </a:rPr>
                        <a:t>2,786</a:t>
                      </a:r>
                      <a:endParaRPr sz="1050">
                        <a:solidFill>
                          <a:schemeClr val="dk1"/>
                        </a:solidFill>
                        <a:highlight>
                          <a:srgbClr val="FFFFFF"/>
                        </a:highlight>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497400">
                <a:tc>
                  <a:txBody>
                    <a:bodyPr/>
                    <a:lstStyle/>
                    <a:p>
                      <a:pPr indent="0" lvl="0" marL="0" rtl="0" algn="l">
                        <a:lnSpc>
                          <a:spcPct val="115000"/>
                        </a:lnSpc>
                        <a:spcBef>
                          <a:spcPts val="1100"/>
                        </a:spcBef>
                        <a:spcAft>
                          <a:spcPts val="1100"/>
                        </a:spcAft>
                        <a:buNone/>
                      </a:pPr>
                      <a:r>
                        <a:rPr lang="en-GB" sz="1050">
                          <a:solidFill>
                            <a:schemeClr val="dk1"/>
                          </a:solidFill>
                          <a:highlight>
                            <a:srgbClr val="FFFFFF"/>
                          </a:highlight>
                          <a:latin typeface="Josefin Sans"/>
                          <a:ea typeface="Josefin Sans"/>
                          <a:cs typeface="Josefin Sans"/>
                          <a:sym typeface="Josefin Sans"/>
                        </a:rPr>
                        <a:t>Number of pedestrian bounding boxes</a:t>
                      </a:r>
                      <a:endParaRPr sz="1050">
                        <a:solidFill>
                          <a:schemeClr val="dk1"/>
                        </a:solidFill>
                        <a:highlight>
                          <a:srgbClr val="FFFFFF"/>
                        </a:highlight>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ctr">
                        <a:lnSpc>
                          <a:spcPct val="115000"/>
                        </a:lnSpc>
                        <a:spcBef>
                          <a:spcPts val="1100"/>
                        </a:spcBef>
                        <a:spcAft>
                          <a:spcPts val="1100"/>
                        </a:spcAft>
                        <a:buNone/>
                      </a:pPr>
                      <a:r>
                        <a:rPr lang="en-GB" sz="1050">
                          <a:solidFill>
                            <a:schemeClr val="dk1"/>
                          </a:solidFill>
                          <a:highlight>
                            <a:srgbClr val="FFFFFF"/>
                          </a:highlight>
                          <a:latin typeface="Josefin Sans"/>
                          <a:ea typeface="Josefin Sans"/>
                          <a:cs typeface="Josefin Sans"/>
                          <a:sym typeface="Josefin Sans"/>
                        </a:rPr>
                        <a:t>378,643</a:t>
                      </a:r>
                      <a:endParaRPr sz="1050">
                        <a:solidFill>
                          <a:schemeClr val="dk1"/>
                        </a:solidFill>
                        <a:highlight>
                          <a:srgbClr val="FFFFFF"/>
                        </a:highlight>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375900">
                <a:tc>
                  <a:txBody>
                    <a:bodyPr/>
                    <a:lstStyle/>
                    <a:p>
                      <a:pPr indent="0" lvl="0" marL="0" rtl="0" algn="l">
                        <a:lnSpc>
                          <a:spcPct val="115000"/>
                        </a:lnSpc>
                        <a:spcBef>
                          <a:spcPts val="1100"/>
                        </a:spcBef>
                        <a:spcAft>
                          <a:spcPts val="1100"/>
                        </a:spcAft>
                        <a:buNone/>
                      </a:pPr>
                      <a:r>
                        <a:rPr lang="en-GB" sz="1050">
                          <a:solidFill>
                            <a:schemeClr val="dk1"/>
                          </a:solidFill>
                          <a:highlight>
                            <a:srgbClr val="FFFFFF"/>
                          </a:highlight>
                          <a:latin typeface="Josefin Sans"/>
                          <a:ea typeface="Josefin Sans"/>
                          <a:cs typeface="Josefin Sans"/>
                          <a:sym typeface="Josefin Sans"/>
                        </a:rPr>
                        <a:t>Average length of pedestrian track</a:t>
                      </a:r>
                      <a:endParaRPr sz="1050">
                        <a:solidFill>
                          <a:schemeClr val="dk1"/>
                        </a:solidFill>
                        <a:highlight>
                          <a:srgbClr val="FFFFFF"/>
                        </a:highlight>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ctr">
                        <a:lnSpc>
                          <a:spcPct val="115000"/>
                        </a:lnSpc>
                        <a:spcBef>
                          <a:spcPts val="1100"/>
                        </a:spcBef>
                        <a:spcAft>
                          <a:spcPts val="1100"/>
                        </a:spcAft>
                        <a:buNone/>
                      </a:pPr>
                      <a:r>
                        <a:rPr lang="en-GB" sz="1050">
                          <a:solidFill>
                            <a:schemeClr val="dk1"/>
                          </a:solidFill>
                          <a:highlight>
                            <a:srgbClr val="FFFFFF"/>
                          </a:highlight>
                          <a:latin typeface="Josefin Sans"/>
                          <a:ea typeface="Josefin Sans"/>
                          <a:cs typeface="Josefin Sans"/>
                          <a:sym typeface="Josefin Sans"/>
                        </a:rPr>
                        <a:t>121 frames</a:t>
                      </a:r>
                      <a:endParaRPr sz="1050">
                        <a:solidFill>
                          <a:schemeClr val="dk1"/>
                        </a:solidFill>
                        <a:highlight>
                          <a:srgbClr val="FFFFFF"/>
                        </a:highlight>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bl>
          </a:graphicData>
        </a:graphic>
      </p:graphicFrame>
      <p:sp>
        <p:nvSpPr>
          <p:cNvPr id="180" name="Google Shape;180;p24"/>
          <p:cNvSpPr txBox="1"/>
          <p:nvPr/>
        </p:nvSpPr>
        <p:spPr>
          <a:xfrm>
            <a:off x="6060975" y="945650"/>
            <a:ext cx="27747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Pedestrian Count</a:t>
            </a:r>
            <a:endParaRPr b="1" sz="1200">
              <a:solidFill>
                <a:srgbClr val="FFFFFF"/>
              </a:solidFill>
              <a:latin typeface="Josefin Sans"/>
              <a:ea typeface="Josefin Sans"/>
              <a:cs typeface="Josefin Sans"/>
              <a:sym typeface="Josefin Sans"/>
            </a:endParaRPr>
          </a:p>
        </p:txBody>
      </p:sp>
      <p:sp>
        <p:nvSpPr>
          <p:cNvPr id="181" name="Google Shape;181;p24"/>
          <p:cNvSpPr txBox="1"/>
          <p:nvPr/>
        </p:nvSpPr>
        <p:spPr>
          <a:xfrm>
            <a:off x="6060975" y="1972863"/>
            <a:ext cx="2774700" cy="9450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150">
                <a:solidFill>
                  <a:schemeClr val="dk1"/>
                </a:solidFill>
                <a:highlight>
                  <a:srgbClr val="EFEFEF"/>
                </a:highlight>
                <a:latin typeface="Josefin Sans"/>
                <a:ea typeface="Josefin Sans"/>
                <a:cs typeface="Josefin Sans"/>
                <a:sym typeface="Josefin Sans"/>
              </a:rPr>
              <a:t>Number of pedestrians who cross the street are</a:t>
            </a:r>
            <a:endParaRPr sz="1150">
              <a:solidFill>
                <a:schemeClr val="dk1"/>
              </a:solidFill>
              <a:highlight>
                <a:srgbClr val="EFEFEF"/>
              </a:highlight>
              <a:latin typeface="Josefin Sans"/>
              <a:ea typeface="Josefin Sans"/>
              <a:cs typeface="Josefin Sans"/>
              <a:sym typeface="Josefin Sans"/>
            </a:endParaRPr>
          </a:p>
          <a:p>
            <a:pPr indent="0" lvl="0" marL="0" rtl="0" algn="ctr">
              <a:lnSpc>
                <a:spcPct val="115000"/>
              </a:lnSpc>
              <a:spcBef>
                <a:spcPts val="0"/>
              </a:spcBef>
              <a:spcAft>
                <a:spcPts val="0"/>
              </a:spcAft>
              <a:buNone/>
            </a:pPr>
            <a:r>
              <a:t/>
            </a:r>
            <a:endParaRPr sz="1150">
              <a:solidFill>
                <a:schemeClr val="dk1"/>
              </a:solidFill>
              <a:highlight>
                <a:srgbClr val="EFEFEF"/>
              </a:highlight>
              <a:latin typeface="Josefin Sans"/>
              <a:ea typeface="Josefin Sans"/>
              <a:cs typeface="Josefin Sans"/>
              <a:sym typeface="Josefin Sans"/>
            </a:endParaRPr>
          </a:p>
          <a:p>
            <a:pPr indent="0" lvl="0" marL="0" rtl="0" algn="ctr">
              <a:lnSpc>
                <a:spcPct val="115000"/>
              </a:lnSpc>
              <a:spcBef>
                <a:spcPts val="0"/>
              </a:spcBef>
              <a:spcAft>
                <a:spcPts val="0"/>
              </a:spcAft>
              <a:buNone/>
            </a:pPr>
            <a:r>
              <a:rPr lang="en-GB" sz="1150">
                <a:solidFill>
                  <a:schemeClr val="dk1"/>
                </a:solidFill>
                <a:highlight>
                  <a:srgbClr val="EFEFEF"/>
                </a:highlight>
                <a:latin typeface="Josefin Sans"/>
                <a:ea typeface="Josefin Sans"/>
                <a:cs typeface="Josefin Sans"/>
                <a:sym typeface="Josefin Sans"/>
              </a:rPr>
              <a:t>495</a:t>
            </a:r>
            <a:endParaRPr sz="1200">
              <a:solidFill>
                <a:schemeClr val="dk1"/>
              </a:solidFill>
              <a:highlight>
                <a:srgbClr val="EFEFEF"/>
              </a:highlight>
              <a:latin typeface="Josefin Sans"/>
              <a:ea typeface="Josefin Sans"/>
              <a:cs typeface="Josefin Sans"/>
              <a:sym typeface="Josefin Sans"/>
            </a:endParaRPr>
          </a:p>
        </p:txBody>
      </p:sp>
      <p:sp>
        <p:nvSpPr>
          <p:cNvPr id="182" name="Google Shape;182;p24"/>
          <p:cNvSpPr txBox="1"/>
          <p:nvPr/>
        </p:nvSpPr>
        <p:spPr>
          <a:xfrm>
            <a:off x="6060975" y="3161913"/>
            <a:ext cx="2774700" cy="9450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050">
                <a:solidFill>
                  <a:schemeClr val="dk1"/>
                </a:solidFill>
                <a:highlight>
                  <a:srgbClr val="EFEFEF"/>
                </a:highlight>
                <a:latin typeface="Josefin Sans"/>
                <a:ea typeface="Josefin Sans"/>
                <a:cs typeface="Josefin Sans"/>
                <a:sym typeface="Josefin Sans"/>
              </a:rPr>
              <a:t>Number of pedestrians who do not cross the stree</a:t>
            </a:r>
            <a:r>
              <a:rPr lang="en-GB" sz="1050">
                <a:solidFill>
                  <a:schemeClr val="dk1"/>
                </a:solidFill>
                <a:highlight>
                  <a:srgbClr val="EFEFEF"/>
                </a:highlight>
                <a:latin typeface="Josefin Sans"/>
                <a:ea typeface="Josefin Sans"/>
                <a:cs typeface="Josefin Sans"/>
                <a:sym typeface="Josefin Sans"/>
              </a:rPr>
              <a:t>t</a:t>
            </a:r>
            <a:endParaRPr sz="1050">
              <a:solidFill>
                <a:schemeClr val="dk1"/>
              </a:solidFill>
              <a:highlight>
                <a:srgbClr val="EFEFEF"/>
              </a:highlight>
              <a:latin typeface="Josefin Sans"/>
              <a:ea typeface="Josefin Sans"/>
              <a:cs typeface="Josefin Sans"/>
              <a:sym typeface="Josefin Sans"/>
            </a:endParaRPr>
          </a:p>
          <a:p>
            <a:pPr indent="0" lvl="0" marL="0" rtl="0" algn="ctr">
              <a:lnSpc>
                <a:spcPct val="115000"/>
              </a:lnSpc>
              <a:spcBef>
                <a:spcPts val="0"/>
              </a:spcBef>
              <a:spcAft>
                <a:spcPts val="0"/>
              </a:spcAft>
              <a:buNone/>
            </a:pPr>
            <a:r>
              <a:t/>
            </a:r>
            <a:endParaRPr sz="1050">
              <a:solidFill>
                <a:schemeClr val="dk1"/>
              </a:solidFill>
              <a:highlight>
                <a:srgbClr val="EFEFEF"/>
              </a:highlight>
              <a:latin typeface="Josefin Sans"/>
              <a:ea typeface="Josefin Sans"/>
              <a:cs typeface="Josefin Sans"/>
              <a:sym typeface="Josefin Sans"/>
            </a:endParaRPr>
          </a:p>
          <a:p>
            <a:pPr indent="0" lvl="0" marL="0" rtl="0" algn="ctr">
              <a:lnSpc>
                <a:spcPct val="115000"/>
              </a:lnSpc>
              <a:spcBef>
                <a:spcPts val="0"/>
              </a:spcBef>
              <a:spcAft>
                <a:spcPts val="0"/>
              </a:spcAft>
              <a:buNone/>
            </a:pPr>
            <a:r>
              <a:rPr lang="en-GB" sz="1050">
                <a:solidFill>
                  <a:schemeClr val="dk1"/>
                </a:solidFill>
                <a:highlight>
                  <a:srgbClr val="EFEFEF"/>
                </a:highlight>
                <a:latin typeface="Josefin Sans"/>
                <a:ea typeface="Josefin Sans"/>
                <a:cs typeface="Josefin Sans"/>
                <a:sym typeface="Josefin Sans"/>
              </a:rPr>
              <a:t>191</a:t>
            </a:r>
            <a:endParaRPr sz="1150">
              <a:solidFill>
                <a:schemeClr val="dk1"/>
              </a:solidFill>
              <a:highlight>
                <a:srgbClr val="EFEFEF"/>
              </a:highlight>
              <a:latin typeface="Josefin Sans"/>
              <a:ea typeface="Josefin Sans"/>
              <a:cs typeface="Josefin Sans"/>
              <a:sym typeface="Josefin Sans"/>
            </a:endParaRPr>
          </a:p>
        </p:txBody>
      </p:sp>
      <p:pic>
        <p:nvPicPr>
          <p:cNvPr id="183" name="Google Shape;183;p24"/>
          <p:cNvPicPr preferRelativeResize="0"/>
          <p:nvPr/>
        </p:nvPicPr>
        <p:blipFill>
          <a:blip r:embed="rId3">
            <a:alphaModFix/>
          </a:blip>
          <a:stretch>
            <a:fillRect/>
          </a:stretch>
        </p:blipFill>
        <p:spPr>
          <a:xfrm>
            <a:off x="52150" y="-5850"/>
            <a:ext cx="407152" cy="457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5"/>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Statistical deep dive into relevant datasets </a:t>
            </a:r>
            <a:endParaRPr b="1">
              <a:solidFill>
                <a:srgbClr val="FFFFFF"/>
              </a:solidFill>
              <a:latin typeface="Josefin Sans"/>
              <a:ea typeface="Josefin Sans"/>
              <a:cs typeface="Josefin Sans"/>
              <a:sym typeface="Josefin Sans"/>
            </a:endParaRPr>
          </a:p>
        </p:txBody>
      </p:sp>
      <p:sp>
        <p:nvSpPr>
          <p:cNvPr id="189" name="Google Shape;189;p25"/>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JAAD Dataset</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190" name="Google Shape;190;p25"/>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rgbClr val="FFFFFF"/>
              </a:solidFill>
              <a:latin typeface="Josefin Sans"/>
              <a:ea typeface="Josefin Sans"/>
              <a:cs typeface="Josefin Sans"/>
              <a:sym typeface="Josefin Sans"/>
            </a:endParaRPr>
          </a:p>
        </p:txBody>
      </p:sp>
      <p:sp>
        <p:nvSpPr>
          <p:cNvPr id="191" name="Google Shape;191;p25"/>
          <p:cNvSpPr txBox="1"/>
          <p:nvPr/>
        </p:nvSpPr>
        <p:spPr>
          <a:xfrm>
            <a:off x="645125" y="965400"/>
            <a:ext cx="34617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Frequency of Looking (Pedestrians)</a:t>
            </a:r>
            <a:endParaRPr b="1" sz="1200">
              <a:solidFill>
                <a:srgbClr val="FFFFFF"/>
              </a:solidFill>
              <a:latin typeface="Josefin Sans"/>
              <a:ea typeface="Josefin Sans"/>
              <a:cs typeface="Josefin Sans"/>
              <a:sym typeface="Josefin Sans"/>
            </a:endParaRPr>
          </a:p>
        </p:txBody>
      </p:sp>
      <p:sp>
        <p:nvSpPr>
          <p:cNvPr id="192" name="Google Shape;192;p25"/>
          <p:cNvSpPr txBox="1"/>
          <p:nvPr/>
        </p:nvSpPr>
        <p:spPr>
          <a:xfrm>
            <a:off x="645125" y="1423200"/>
            <a:ext cx="3461700" cy="141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600"/>
              </a:spcBef>
              <a:spcAft>
                <a:spcPts val="0"/>
              </a:spcAft>
              <a:buNone/>
            </a:pPr>
            <a:r>
              <a:rPr lang="en-GB" sz="1100">
                <a:solidFill>
                  <a:schemeClr val="dk1"/>
                </a:solidFill>
                <a:latin typeface="Josefin Sans"/>
                <a:ea typeface="Josefin Sans"/>
                <a:cs typeface="Josefin Sans"/>
                <a:sym typeface="Josefin Sans"/>
              </a:rPr>
              <a:t>In the JAAD dataset, pedestrians exhibit several behaviors before crossing. The key behaviors related to looking include</a:t>
            </a:r>
            <a:endParaRPr sz="1100">
              <a:solidFill>
                <a:schemeClr val="dk1"/>
              </a:solidFill>
              <a:latin typeface="Josefin Sans"/>
              <a:ea typeface="Josefin Sans"/>
              <a:cs typeface="Josefin Sans"/>
              <a:sym typeface="Josefin Sans"/>
            </a:endParaRPr>
          </a:p>
          <a:p>
            <a:pPr indent="0" lvl="0" marL="0" rtl="0" algn="ctr">
              <a:lnSpc>
                <a:spcPct val="115000"/>
              </a:lnSpc>
              <a:spcBef>
                <a:spcPts val="600"/>
              </a:spcBef>
              <a:spcAft>
                <a:spcPts val="0"/>
              </a:spcAft>
              <a:buNone/>
            </a:pPr>
            <a:r>
              <a:rPr lang="en-GB" sz="1100">
                <a:solidFill>
                  <a:schemeClr val="dk1"/>
                </a:solidFill>
                <a:latin typeface="Josefin Sans"/>
                <a:ea typeface="Josefin Sans"/>
                <a:cs typeface="Josefin Sans"/>
                <a:sym typeface="Josefin Sans"/>
              </a:rPr>
              <a:t>Looking at Traffic:</a:t>
            </a:r>
            <a:endParaRPr sz="1100">
              <a:solidFill>
                <a:schemeClr val="dk1"/>
              </a:solidFill>
              <a:latin typeface="Josefin Sans"/>
              <a:ea typeface="Josefin Sans"/>
              <a:cs typeface="Josefin Sans"/>
              <a:sym typeface="Josefin Sans"/>
            </a:endParaRPr>
          </a:p>
          <a:p>
            <a:pPr indent="0" lvl="0" marL="0" rtl="0" algn="ctr">
              <a:lnSpc>
                <a:spcPct val="115000"/>
              </a:lnSpc>
              <a:spcBef>
                <a:spcPts val="600"/>
              </a:spcBef>
              <a:spcAft>
                <a:spcPts val="600"/>
              </a:spcAft>
              <a:buNone/>
            </a:pPr>
            <a:r>
              <a:rPr lang="en-GB" sz="1100">
                <a:solidFill>
                  <a:schemeClr val="dk1"/>
                </a:solidFill>
                <a:latin typeface="Josefin Sans"/>
                <a:ea typeface="Josefin Sans"/>
                <a:cs typeface="Josefin Sans"/>
                <a:sym typeface="Josefin Sans"/>
              </a:rPr>
              <a:t>This behavior is crucial as it indicates a pedestrian's awareness of their surroundings before crossing.</a:t>
            </a:r>
            <a:endParaRPr sz="1100">
              <a:solidFill>
                <a:schemeClr val="dk1"/>
              </a:solidFill>
              <a:latin typeface="Josefin Sans"/>
              <a:ea typeface="Josefin Sans"/>
              <a:cs typeface="Josefin Sans"/>
              <a:sym typeface="Josefin Sans"/>
            </a:endParaRPr>
          </a:p>
        </p:txBody>
      </p:sp>
      <p:sp>
        <p:nvSpPr>
          <p:cNvPr id="193" name="Google Shape;193;p25"/>
          <p:cNvSpPr txBox="1"/>
          <p:nvPr/>
        </p:nvSpPr>
        <p:spPr>
          <a:xfrm>
            <a:off x="645125" y="2932100"/>
            <a:ext cx="3461700" cy="16035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600"/>
              </a:spcBef>
              <a:spcAft>
                <a:spcPts val="0"/>
              </a:spcAft>
              <a:buNone/>
            </a:pPr>
            <a:r>
              <a:rPr lang="en-GB" sz="1100">
                <a:solidFill>
                  <a:schemeClr val="dk1"/>
                </a:solidFill>
                <a:latin typeface="Josefin Sans"/>
                <a:ea typeface="Josefin Sans"/>
                <a:cs typeface="Josefin Sans"/>
                <a:sym typeface="Josefin Sans"/>
              </a:rPr>
              <a:t>Out of the 495 pedestrians who attempted to cross, a significant percentage were observed looking at traffic signals or vehicles before crossing.</a:t>
            </a:r>
            <a:endParaRPr sz="1100">
              <a:solidFill>
                <a:schemeClr val="dk1"/>
              </a:solidFill>
              <a:latin typeface="Josefin Sans"/>
              <a:ea typeface="Josefin Sans"/>
              <a:cs typeface="Josefin Sans"/>
              <a:sym typeface="Josefin Sans"/>
            </a:endParaRPr>
          </a:p>
          <a:p>
            <a:pPr indent="0" lvl="0" marL="0" rtl="0" algn="ctr">
              <a:lnSpc>
                <a:spcPct val="115000"/>
              </a:lnSpc>
              <a:spcBef>
                <a:spcPts val="600"/>
              </a:spcBef>
              <a:spcAft>
                <a:spcPts val="600"/>
              </a:spcAft>
              <a:buNone/>
            </a:pPr>
            <a:r>
              <a:rPr lang="en-GB" sz="1100">
                <a:solidFill>
                  <a:schemeClr val="dk1"/>
                </a:solidFill>
                <a:latin typeface="Josefin Sans"/>
                <a:ea typeface="Josefin Sans"/>
                <a:cs typeface="Josefin Sans"/>
                <a:sym typeface="Josefin Sans"/>
              </a:rPr>
              <a:t>Specifically, approximately 60% (297 out of 495) of crossing pedestrians were recorded as "looking" prior to their crossing action.</a:t>
            </a:r>
            <a:endParaRPr sz="1100">
              <a:solidFill>
                <a:schemeClr val="dk1"/>
              </a:solidFill>
              <a:latin typeface="Josefin Sans"/>
              <a:ea typeface="Josefin Sans"/>
              <a:cs typeface="Josefin Sans"/>
              <a:sym typeface="Josefin Sans"/>
            </a:endParaRPr>
          </a:p>
        </p:txBody>
      </p:sp>
      <p:sp>
        <p:nvSpPr>
          <p:cNvPr id="194" name="Google Shape;194;p25"/>
          <p:cNvSpPr txBox="1"/>
          <p:nvPr/>
        </p:nvSpPr>
        <p:spPr>
          <a:xfrm>
            <a:off x="4923600" y="965400"/>
            <a:ext cx="33828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Statistical </a:t>
            </a:r>
            <a:r>
              <a:rPr b="1" lang="en-GB" sz="1200">
                <a:solidFill>
                  <a:srgbClr val="FFFFFF"/>
                </a:solidFill>
                <a:latin typeface="Josefin Sans"/>
                <a:ea typeface="Josefin Sans"/>
                <a:cs typeface="Josefin Sans"/>
                <a:sym typeface="Josefin Sans"/>
              </a:rPr>
              <a:t>Pedestrian Behavior Analysis</a:t>
            </a:r>
            <a:endParaRPr b="1" sz="1200">
              <a:solidFill>
                <a:srgbClr val="FFFFFF"/>
              </a:solidFill>
              <a:latin typeface="Josefin Sans"/>
              <a:ea typeface="Josefin Sans"/>
              <a:cs typeface="Josefin Sans"/>
              <a:sym typeface="Josefin Sans"/>
            </a:endParaRPr>
          </a:p>
        </p:txBody>
      </p:sp>
      <p:sp>
        <p:nvSpPr>
          <p:cNvPr id="195" name="Google Shape;195;p25"/>
          <p:cNvSpPr txBox="1"/>
          <p:nvPr/>
        </p:nvSpPr>
        <p:spPr>
          <a:xfrm>
            <a:off x="4923600" y="1721375"/>
            <a:ext cx="3382800" cy="18375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GB" sz="1100">
                <a:solidFill>
                  <a:schemeClr val="dk1"/>
                </a:solidFill>
                <a:latin typeface="Josefin Sans"/>
                <a:ea typeface="Josefin Sans"/>
                <a:cs typeface="Josefin Sans"/>
                <a:sym typeface="Josefin Sans"/>
              </a:rPr>
              <a:t>Using a binomial model to analyze the likelihood of looking before crossing:</a:t>
            </a:r>
            <a:endParaRPr sz="1100">
              <a:solidFill>
                <a:schemeClr val="dk1"/>
              </a:solidFill>
              <a:latin typeface="Josefin Sans"/>
              <a:ea typeface="Josefin Sans"/>
              <a:cs typeface="Josefin Sans"/>
              <a:sym typeface="Josefin Sans"/>
            </a:endParaRPr>
          </a:p>
          <a:p>
            <a:pPr indent="0" lvl="0" marL="0" rtl="0" algn="ctr">
              <a:lnSpc>
                <a:spcPct val="120000"/>
              </a:lnSpc>
              <a:spcBef>
                <a:spcPts val="1200"/>
              </a:spcBef>
              <a:spcAft>
                <a:spcPts val="0"/>
              </a:spcAft>
              <a:buClr>
                <a:schemeClr val="dk1"/>
              </a:buClr>
              <a:buSzPts val="1100"/>
              <a:buFont typeface="Arial"/>
              <a:buNone/>
            </a:pPr>
            <a:r>
              <a:rPr lang="en-GB" sz="1100">
                <a:solidFill>
                  <a:schemeClr val="dk1"/>
                </a:solidFill>
                <a:latin typeface="Josefin Sans"/>
                <a:ea typeface="Josefin Sans"/>
                <a:cs typeface="Josefin Sans"/>
                <a:sym typeface="Josefin Sans"/>
              </a:rPr>
              <a:t>P(Looking) = Number of Looking Instances/Total Crossing Instances = 297/495 ≈ 0.60</a:t>
            </a:r>
            <a:endParaRPr sz="1100">
              <a:solidFill>
                <a:schemeClr val="dk1"/>
              </a:solidFill>
              <a:latin typeface="Josefin Sans"/>
              <a:ea typeface="Josefin Sans"/>
              <a:cs typeface="Josefin Sans"/>
              <a:sym typeface="Josefin Sans"/>
            </a:endParaRPr>
          </a:p>
          <a:p>
            <a:pPr indent="0" lvl="0" marL="0" marR="0" rtl="0" algn="ctr">
              <a:lnSpc>
                <a:spcPct val="120000"/>
              </a:lnSpc>
              <a:spcBef>
                <a:spcPts val="1200"/>
              </a:spcBef>
              <a:spcAft>
                <a:spcPts val="0"/>
              </a:spcAft>
              <a:buNone/>
            </a:pPr>
            <a:r>
              <a:rPr lang="en-GB" sz="1100">
                <a:solidFill>
                  <a:schemeClr val="dk1"/>
                </a:solidFill>
                <a:latin typeface="Josefin Sans"/>
                <a:ea typeface="Josefin Sans"/>
                <a:cs typeface="Josefin Sans"/>
                <a:sym typeface="Josefin Sans"/>
              </a:rPr>
              <a:t>​This suggests that pedestrians are likely to look before crossing approximately </a:t>
            </a:r>
            <a:r>
              <a:rPr b="1" lang="en-GB" sz="1100">
                <a:solidFill>
                  <a:schemeClr val="dk1"/>
                </a:solidFill>
                <a:latin typeface="Josefin Sans"/>
                <a:ea typeface="Josefin Sans"/>
                <a:cs typeface="Josefin Sans"/>
                <a:sym typeface="Josefin Sans"/>
              </a:rPr>
              <a:t>60%</a:t>
            </a:r>
            <a:r>
              <a:rPr lang="en-GB" sz="1100">
                <a:solidFill>
                  <a:schemeClr val="dk1"/>
                </a:solidFill>
                <a:latin typeface="Josefin Sans"/>
                <a:ea typeface="Josefin Sans"/>
                <a:cs typeface="Josefin Sans"/>
                <a:sym typeface="Josefin Sans"/>
              </a:rPr>
              <a:t> of the time.</a:t>
            </a:r>
            <a:endParaRPr b="1" sz="1100">
              <a:solidFill>
                <a:schemeClr val="dk1"/>
              </a:solidFill>
              <a:latin typeface="Josefin Sans"/>
              <a:ea typeface="Josefin Sans"/>
              <a:cs typeface="Josefin Sans"/>
              <a:sym typeface="Josefin Sans"/>
            </a:endParaRPr>
          </a:p>
          <a:p>
            <a:pPr indent="0" lvl="0" marL="0" rtl="0" algn="l">
              <a:lnSpc>
                <a:spcPct val="100000"/>
              </a:lnSpc>
              <a:spcBef>
                <a:spcPts val="1500"/>
              </a:spcBef>
              <a:spcAft>
                <a:spcPts val="1500"/>
              </a:spcAft>
              <a:buNone/>
            </a:pPr>
            <a:r>
              <a:t/>
            </a:r>
            <a:endParaRPr b="1" sz="1100">
              <a:latin typeface="Josefin Sans"/>
              <a:ea typeface="Josefin Sans"/>
              <a:cs typeface="Josefin Sans"/>
              <a:sym typeface="Josefin Sans"/>
            </a:endParaRPr>
          </a:p>
        </p:txBody>
      </p:sp>
      <p:sp>
        <p:nvSpPr>
          <p:cNvPr id="196" name="Google Shape;196;p25"/>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Josefin Sans"/>
                <a:ea typeface="Josefin Sans"/>
                <a:cs typeface="Josefin Sans"/>
                <a:sym typeface="Josefin Sans"/>
              </a:rPr>
              <a:t>Focus on pedestrian actions and driver responses, utilizing specific indicators derived from the dataset</a:t>
            </a:r>
            <a:endParaRPr sz="1100">
              <a:solidFill>
                <a:srgbClr val="FFFFFF"/>
              </a:solidFill>
              <a:latin typeface="Josefin Sans"/>
              <a:ea typeface="Josefin Sans"/>
              <a:cs typeface="Josefin Sans"/>
              <a:sym typeface="Josefin Sans"/>
            </a:endParaRPr>
          </a:p>
        </p:txBody>
      </p:sp>
      <p:pic>
        <p:nvPicPr>
          <p:cNvPr id="197" name="Google Shape;197;p25"/>
          <p:cNvPicPr preferRelativeResize="0"/>
          <p:nvPr/>
        </p:nvPicPr>
        <p:blipFill>
          <a:blip r:embed="rId3">
            <a:alphaModFix/>
          </a:blip>
          <a:stretch>
            <a:fillRect/>
          </a:stretch>
        </p:blipFill>
        <p:spPr>
          <a:xfrm>
            <a:off x="52150" y="-5850"/>
            <a:ext cx="407152" cy="457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6"/>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Statistical deep dive into relevant datasets </a:t>
            </a:r>
            <a:endParaRPr b="1">
              <a:solidFill>
                <a:srgbClr val="FFFFFF"/>
              </a:solidFill>
              <a:latin typeface="Josefin Sans"/>
              <a:ea typeface="Josefin Sans"/>
              <a:cs typeface="Josefin Sans"/>
              <a:sym typeface="Josefin Sans"/>
            </a:endParaRPr>
          </a:p>
        </p:txBody>
      </p:sp>
      <p:sp>
        <p:nvSpPr>
          <p:cNvPr id="203" name="Google Shape;203;p26"/>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JAAD Dataset</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204" name="Google Shape;204;p26"/>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rgbClr val="FFFFFF"/>
              </a:solidFill>
              <a:latin typeface="Josefin Sans"/>
              <a:ea typeface="Josefin Sans"/>
              <a:cs typeface="Josefin Sans"/>
              <a:sym typeface="Josefin Sans"/>
            </a:endParaRPr>
          </a:p>
        </p:txBody>
      </p:sp>
      <p:sp>
        <p:nvSpPr>
          <p:cNvPr id="205" name="Google Shape;205;p26"/>
          <p:cNvSpPr txBox="1"/>
          <p:nvPr/>
        </p:nvSpPr>
        <p:spPr>
          <a:xfrm>
            <a:off x="645125" y="965400"/>
            <a:ext cx="34617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Frequency of Slowing Down (Drivers)</a:t>
            </a:r>
            <a:endParaRPr b="1" sz="1200">
              <a:solidFill>
                <a:srgbClr val="FFFFFF"/>
              </a:solidFill>
              <a:latin typeface="Josefin Sans"/>
              <a:ea typeface="Josefin Sans"/>
              <a:cs typeface="Josefin Sans"/>
              <a:sym typeface="Josefin Sans"/>
            </a:endParaRPr>
          </a:p>
        </p:txBody>
      </p:sp>
      <p:sp>
        <p:nvSpPr>
          <p:cNvPr id="206" name="Google Shape;206;p26"/>
          <p:cNvSpPr txBox="1"/>
          <p:nvPr/>
        </p:nvSpPr>
        <p:spPr>
          <a:xfrm>
            <a:off x="645125" y="1423200"/>
            <a:ext cx="3461700" cy="141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600"/>
              </a:spcBef>
              <a:spcAft>
                <a:spcPts val="600"/>
              </a:spcAft>
              <a:buNone/>
            </a:pPr>
            <a:r>
              <a:rPr lang="en-GB" sz="1100">
                <a:solidFill>
                  <a:schemeClr val="dk1"/>
                </a:solidFill>
                <a:latin typeface="Josefin Sans"/>
                <a:ea typeface="Josefin Sans"/>
                <a:cs typeface="Josefin Sans"/>
                <a:sym typeface="Josefin Sans"/>
              </a:rPr>
              <a:t>Driver behavior in response to pedestrians is also critical for understanding road safety. The JAAD dataset includes annotations for driver actions such as "slowing down" when a pedestrian is detected.</a:t>
            </a:r>
            <a:endParaRPr sz="1100">
              <a:solidFill>
                <a:schemeClr val="dk1"/>
              </a:solidFill>
              <a:latin typeface="Josefin Sans"/>
              <a:ea typeface="Josefin Sans"/>
              <a:cs typeface="Josefin Sans"/>
              <a:sym typeface="Josefin Sans"/>
            </a:endParaRPr>
          </a:p>
        </p:txBody>
      </p:sp>
      <p:sp>
        <p:nvSpPr>
          <p:cNvPr id="207" name="Google Shape;207;p26"/>
          <p:cNvSpPr txBox="1"/>
          <p:nvPr/>
        </p:nvSpPr>
        <p:spPr>
          <a:xfrm>
            <a:off x="645125" y="2932100"/>
            <a:ext cx="3461700" cy="16035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600"/>
              </a:spcBef>
              <a:spcAft>
                <a:spcPts val="600"/>
              </a:spcAft>
              <a:buNone/>
            </a:pPr>
            <a:r>
              <a:rPr lang="en-GB" sz="1100">
                <a:solidFill>
                  <a:schemeClr val="dk1"/>
                </a:solidFill>
                <a:latin typeface="Josefin Sans"/>
                <a:ea typeface="Josefin Sans"/>
                <a:cs typeface="Josefin Sans"/>
                <a:sym typeface="Josefin Sans"/>
              </a:rPr>
              <a:t>Out of instances where drivers approached pedestrians (both crossing and standing), about 75% were recorded as slowing down when they saw pedestrians ahead.</a:t>
            </a:r>
            <a:endParaRPr sz="1100">
              <a:solidFill>
                <a:schemeClr val="dk1"/>
              </a:solidFill>
              <a:latin typeface="Josefin Sans"/>
              <a:ea typeface="Josefin Sans"/>
              <a:cs typeface="Josefin Sans"/>
              <a:sym typeface="Josefin Sans"/>
            </a:endParaRPr>
          </a:p>
        </p:txBody>
      </p:sp>
      <p:sp>
        <p:nvSpPr>
          <p:cNvPr id="208" name="Google Shape;208;p26"/>
          <p:cNvSpPr txBox="1"/>
          <p:nvPr/>
        </p:nvSpPr>
        <p:spPr>
          <a:xfrm>
            <a:off x="4923600" y="965400"/>
            <a:ext cx="33828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Statistical Driver Behavior Analysis</a:t>
            </a:r>
            <a:endParaRPr b="1" sz="1200">
              <a:solidFill>
                <a:srgbClr val="FFFFFF"/>
              </a:solidFill>
              <a:latin typeface="Josefin Sans"/>
              <a:ea typeface="Josefin Sans"/>
              <a:cs typeface="Josefin Sans"/>
              <a:sym typeface="Josefin Sans"/>
            </a:endParaRPr>
          </a:p>
        </p:txBody>
      </p:sp>
      <p:sp>
        <p:nvSpPr>
          <p:cNvPr id="209" name="Google Shape;209;p26"/>
          <p:cNvSpPr txBox="1"/>
          <p:nvPr/>
        </p:nvSpPr>
        <p:spPr>
          <a:xfrm>
            <a:off x="4923600" y="1423200"/>
            <a:ext cx="3382800" cy="32139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20000"/>
              </a:lnSpc>
              <a:spcBef>
                <a:spcPts val="1200"/>
              </a:spcBef>
              <a:spcAft>
                <a:spcPts val="0"/>
              </a:spcAft>
              <a:buNone/>
            </a:pPr>
            <a:r>
              <a:rPr lang="en-GB" sz="1100">
                <a:solidFill>
                  <a:schemeClr val="dk1"/>
                </a:solidFill>
                <a:latin typeface="Josefin Sans"/>
                <a:ea typeface="Josefin Sans"/>
                <a:cs typeface="Josefin Sans"/>
                <a:sym typeface="Josefin Sans"/>
              </a:rPr>
              <a:t>To quantify this behavior, we can apply a similar binomial model:</a:t>
            </a:r>
            <a:endParaRPr sz="1100">
              <a:solidFill>
                <a:schemeClr val="dk1"/>
              </a:solidFill>
              <a:latin typeface="Josefin Sans"/>
              <a:ea typeface="Josefin Sans"/>
              <a:cs typeface="Josefin Sans"/>
              <a:sym typeface="Josefin Sans"/>
            </a:endParaRPr>
          </a:p>
          <a:p>
            <a:pPr indent="0" lvl="0" marL="0" rtl="0" algn="ctr">
              <a:lnSpc>
                <a:spcPct val="120000"/>
              </a:lnSpc>
              <a:spcBef>
                <a:spcPts val="1200"/>
              </a:spcBef>
              <a:spcAft>
                <a:spcPts val="0"/>
              </a:spcAft>
              <a:buNone/>
            </a:pPr>
            <a:r>
              <a:rPr lang="en-GB" sz="1100">
                <a:solidFill>
                  <a:schemeClr val="dk1"/>
                </a:solidFill>
                <a:latin typeface="Josefin Sans"/>
                <a:ea typeface="Josefin Sans"/>
                <a:cs typeface="Josefin Sans"/>
                <a:sym typeface="Josefin Sans"/>
              </a:rPr>
              <a:t>P(Slowing Down)=Number of Slowing Down Instances/Total Driver Approaches=X/Y</a:t>
            </a:r>
            <a:endParaRPr sz="1100">
              <a:solidFill>
                <a:schemeClr val="dk1"/>
              </a:solidFill>
              <a:latin typeface="Josefin Sans"/>
              <a:ea typeface="Josefin Sans"/>
              <a:cs typeface="Josefin Sans"/>
              <a:sym typeface="Josefin Sans"/>
            </a:endParaRPr>
          </a:p>
          <a:p>
            <a:pPr indent="0" lvl="0" marL="0" rtl="0" algn="l">
              <a:lnSpc>
                <a:spcPct val="120000"/>
              </a:lnSpc>
              <a:spcBef>
                <a:spcPts val="1200"/>
              </a:spcBef>
              <a:spcAft>
                <a:spcPts val="0"/>
              </a:spcAft>
              <a:buNone/>
            </a:pPr>
            <a:r>
              <a:rPr lang="en-GB" sz="1100">
                <a:solidFill>
                  <a:schemeClr val="dk1"/>
                </a:solidFill>
                <a:latin typeface="Josefin Sans"/>
                <a:ea typeface="Josefin Sans"/>
                <a:cs typeface="Josefin Sans"/>
                <a:sym typeface="Josefin Sans"/>
              </a:rPr>
              <a:t>Where </a:t>
            </a:r>
            <a:endParaRPr sz="1100">
              <a:solidFill>
                <a:schemeClr val="dk1"/>
              </a:solidFill>
              <a:latin typeface="Josefin Sans"/>
              <a:ea typeface="Josefin Sans"/>
              <a:cs typeface="Josefin Sans"/>
              <a:sym typeface="Josefin Sans"/>
            </a:endParaRPr>
          </a:p>
          <a:p>
            <a:pPr indent="0" lvl="0" marL="0" rtl="0" algn="l">
              <a:lnSpc>
                <a:spcPct val="120000"/>
              </a:lnSpc>
              <a:spcBef>
                <a:spcPts val="0"/>
              </a:spcBef>
              <a:spcAft>
                <a:spcPts val="0"/>
              </a:spcAft>
              <a:buNone/>
            </a:pPr>
            <a:r>
              <a:rPr i="1" lang="en-GB" sz="1100">
                <a:solidFill>
                  <a:schemeClr val="dk1"/>
                </a:solidFill>
                <a:latin typeface="Josefin Sans"/>
                <a:ea typeface="Josefin Sans"/>
                <a:cs typeface="Josefin Sans"/>
                <a:sym typeface="Josefin Sans"/>
              </a:rPr>
              <a:t>X </a:t>
            </a:r>
            <a:r>
              <a:rPr lang="en-GB" sz="1100">
                <a:solidFill>
                  <a:schemeClr val="dk1"/>
                </a:solidFill>
                <a:latin typeface="Josefin Sans"/>
                <a:ea typeface="Josefin Sans"/>
                <a:cs typeface="Josefin Sans"/>
                <a:sym typeface="Josefin Sans"/>
              </a:rPr>
              <a:t>= 375 (observed slowing down instances) and</a:t>
            </a:r>
            <a:endParaRPr sz="1100">
              <a:solidFill>
                <a:schemeClr val="dk1"/>
              </a:solidFill>
              <a:latin typeface="Josefin Sans"/>
              <a:ea typeface="Josefin Sans"/>
              <a:cs typeface="Josefin Sans"/>
              <a:sym typeface="Josefin Sans"/>
            </a:endParaRPr>
          </a:p>
          <a:p>
            <a:pPr indent="0" lvl="0" marL="0" rtl="0" algn="l">
              <a:lnSpc>
                <a:spcPct val="120000"/>
              </a:lnSpc>
              <a:spcBef>
                <a:spcPts val="0"/>
              </a:spcBef>
              <a:spcAft>
                <a:spcPts val="0"/>
              </a:spcAft>
              <a:buNone/>
            </a:pPr>
            <a:r>
              <a:rPr i="1" lang="en-GB" sz="1100">
                <a:solidFill>
                  <a:schemeClr val="dk1"/>
                </a:solidFill>
                <a:latin typeface="Josefin Sans"/>
                <a:ea typeface="Josefin Sans"/>
                <a:cs typeface="Josefin Sans"/>
                <a:sym typeface="Josefin Sans"/>
              </a:rPr>
              <a:t>Y </a:t>
            </a:r>
            <a:r>
              <a:rPr lang="en-GB" sz="1100">
                <a:solidFill>
                  <a:schemeClr val="dk1"/>
                </a:solidFill>
                <a:latin typeface="Josefin Sans"/>
                <a:ea typeface="Josefin Sans"/>
                <a:cs typeface="Josefin Sans"/>
                <a:sym typeface="Josefin Sans"/>
              </a:rPr>
              <a:t>= 500 (total approaches):</a:t>
            </a:r>
            <a:endParaRPr sz="1100">
              <a:solidFill>
                <a:schemeClr val="dk1"/>
              </a:solidFill>
              <a:latin typeface="Josefin Sans"/>
              <a:ea typeface="Josefin Sans"/>
              <a:cs typeface="Josefin Sans"/>
              <a:sym typeface="Josefin Sans"/>
            </a:endParaRPr>
          </a:p>
          <a:p>
            <a:pPr indent="0" lvl="0" marL="0" rtl="0" algn="l">
              <a:lnSpc>
                <a:spcPct val="120000"/>
              </a:lnSpc>
              <a:spcBef>
                <a:spcPts val="0"/>
              </a:spcBef>
              <a:spcAft>
                <a:spcPts val="0"/>
              </a:spcAft>
              <a:buNone/>
            </a:pPr>
            <a:r>
              <a:t/>
            </a:r>
            <a:endParaRPr sz="1100">
              <a:solidFill>
                <a:schemeClr val="dk1"/>
              </a:solidFill>
              <a:latin typeface="Josefin Sans"/>
              <a:ea typeface="Josefin Sans"/>
              <a:cs typeface="Josefin Sans"/>
              <a:sym typeface="Josefin Sans"/>
            </a:endParaRPr>
          </a:p>
          <a:p>
            <a:pPr indent="0" lvl="0" marL="0" rtl="0" algn="l">
              <a:lnSpc>
                <a:spcPct val="120000"/>
              </a:lnSpc>
              <a:spcBef>
                <a:spcPts val="0"/>
              </a:spcBef>
              <a:spcAft>
                <a:spcPts val="0"/>
              </a:spcAft>
              <a:buNone/>
            </a:pPr>
            <a:r>
              <a:rPr lang="en-GB" sz="1100">
                <a:solidFill>
                  <a:schemeClr val="dk1"/>
                </a:solidFill>
                <a:latin typeface="Josefin Sans"/>
                <a:ea typeface="Josefin Sans"/>
                <a:cs typeface="Josefin Sans"/>
                <a:sym typeface="Josefin Sans"/>
              </a:rPr>
              <a:t>P(Slowing Down) = 375/500 = 0.75</a:t>
            </a:r>
            <a:endParaRPr sz="1100">
              <a:solidFill>
                <a:schemeClr val="dk1"/>
              </a:solidFill>
              <a:latin typeface="Josefin Sans"/>
              <a:ea typeface="Josefin Sans"/>
              <a:cs typeface="Josefin Sans"/>
              <a:sym typeface="Josefin Sans"/>
            </a:endParaRPr>
          </a:p>
          <a:p>
            <a:pPr indent="0" lvl="0" marL="0" rtl="0" algn="l">
              <a:lnSpc>
                <a:spcPct val="120000"/>
              </a:lnSpc>
              <a:spcBef>
                <a:spcPts val="0"/>
              </a:spcBef>
              <a:spcAft>
                <a:spcPts val="0"/>
              </a:spcAft>
              <a:buNone/>
            </a:pPr>
            <a:r>
              <a:t/>
            </a:r>
            <a:endParaRPr sz="1100">
              <a:solidFill>
                <a:schemeClr val="dk1"/>
              </a:solidFill>
              <a:latin typeface="Josefin Sans"/>
              <a:ea typeface="Josefin Sans"/>
              <a:cs typeface="Josefin Sans"/>
              <a:sym typeface="Josefin Sans"/>
            </a:endParaRPr>
          </a:p>
          <a:p>
            <a:pPr indent="0" lvl="0" marL="0" rtl="0" algn="l">
              <a:lnSpc>
                <a:spcPct val="120000"/>
              </a:lnSpc>
              <a:spcBef>
                <a:spcPts val="0"/>
              </a:spcBef>
              <a:spcAft>
                <a:spcPts val="0"/>
              </a:spcAft>
              <a:buNone/>
            </a:pPr>
            <a:r>
              <a:rPr lang="en-GB" sz="1100">
                <a:solidFill>
                  <a:schemeClr val="dk1"/>
                </a:solidFill>
                <a:latin typeface="Josefin Sans"/>
                <a:ea typeface="Josefin Sans"/>
                <a:cs typeface="Josefin Sans"/>
                <a:sym typeface="Josefin Sans"/>
              </a:rPr>
              <a:t>This indicates that drivers are likely to slow down about </a:t>
            </a:r>
            <a:r>
              <a:rPr b="1" lang="en-GB" sz="1100">
                <a:solidFill>
                  <a:schemeClr val="dk1"/>
                </a:solidFill>
                <a:latin typeface="Josefin Sans"/>
                <a:ea typeface="Josefin Sans"/>
                <a:cs typeface="Josefin Sans"/>
                <a:sym typeface="Josefin Sans"/>
              </a:rPr>
              <a:t>75%</a:t>
            </a:r>
            <a:r>
              <a:rPr lang="en-GB" sz="1100">
                <a:solidFill>
                  <a:schemeClr val="dk1"/>
                </a:solidFill>
                <a:latin typeface="Josefin Sans"/>
                <a:ea typeface="Josefin Sans"/>
                <a:cs typeface="Josefin Sans"/>
                <a:sym typeface="Josefin Sans"/>
              </a:rPr>
              <a:t> of the time when they see pedestrians ahead.</a:t>
            </a:r>
            <a:endParaRPr sz="1100">
              <a:solidFill>
                <a:schemeClr val="dk1"/>
              </a:solidFill>
              <a:latin typeface="Josefin Sans"/>
              <a:ea typeface="Josefin Sans"/>
              <a:cs typeface="Josefin Sans"/>
              <a:sym typeface="Josefin Sans"/>
            </a:endParaRPr>
          </a:p>
          <a:p>
            <a:pPr indent="0" lvl="0" marL="0" rtl="0" algn="l">
              <a:lnSpc>
                <a:spcPct val="120000"/>
              </a:lnSpc>
              <a:spcBef>
                <a:spcPts val="0"/>
              </a:spcBef>
              <a:spcAft>
                <a:spcPts val="0"/>
              </a:spcAft>
              <a:buNone/>
            </a:pPr>
            <a:r>
              <a:t/>
            </a:r>
            <a:endParaRPr sz="1100">
              <a:solidFill>
                <a:schemeClr val="dk1"/>
              </a:solidFill>
              <a:latin typeface="Josefin Sans"/>
              <a:ea typeface="Josefin Sans"/>
              <a:cs typeface="Josefin Sans"/>
              <a:sym typeface="Josefin Sans"/>
            </a:endParaRPr>
          </a:p>
          <a:p>
            <a:pPr indent="0" lvl="0" marL="0" marR="0" rtl="0" algn="ctr">
              <a:lnSpc>
                <a:spcPct val="120000"/>
              </a:lnSpc>
              <a:spcBef>
                <a:spcPts val="1200"/>
              </a:spcBef>
              <a:spcAft>
                <a:spcPts val="0"/>
              </a:spcAft>
              <a:buNone/>
            </a:pPr>
            <a:r>
              <a:rPr lang="en-GB" sz="1100">
                <a:solidFill>
                  <a:schemeClr val="dk1"/>
                </a:solidFill>
                <a:latin typeface="Josefin Sans"/>
                <a:ea typeface="Josefin Sans"/>
                <a:cs typeface="Josefin Sans"/>
                <a:sym typeface="Josefin Sans"/>
              </a:rPr>
              <a:t>​</a:t>
            </a:r>
            <a:endParaRPr sz="1100">
              <a:solidFill>
                <a:schemeClr val="dk1"/>
              </a:solidFill>
              <a:latin typeface="Josefin Sans"/>
              <a:ea typeface="Josefin Sans"/>
              <a:cs typeface="Josefin Sans"/>
              <a:sym typeface="Josefin Sans"/>
            </a:endParaRPr>
          </a:p>
          <a:p>
            <a:pPr indent="0" lvl="0" marL="0" marR="0" rtl="0" algn="ctr">
              <a:lnSpc>
                <a:spcPct val="120000"/>
              </a:lnSpc>
              <a:spcBef>
                <a:spcPts val="1200"/>
              </a:spcBef>
              <a:spcAft>
                <a:spcPts val="0"/>
              </a:spcAft>
              <a:buNone/>
            </a:pPr>
            <a:r>
              <a:t/>
            </a:r>
            <a:endParaRPr sz="1100">
              <a:solidFill>
                <a:schemeClr val="dk1"/>
              </a:solidFill>
              <a:latin typeface="Josefin Sans"/>
              <a:ea typeface="Josefin Sans"/>
              <a:cs typeface="Josefin Sans"/>
              <a:sym typeface="Josefin Sans"/>
            </a:endParaRPr>
          </a:p>
          <a:p>
            <a:pPr indent="0" lvl="0" marL="0" rtl="0" algn="l">
              <a:lnSpc>
                <a:spcPct val="100000"/>
              </a:lnSpc>
              <a:spcBef>
                <a:spcPts val="1500"/>
              </a:spcBef>
              <a:spcAft>
                <a:spcPts val="1500"/>
              </a:spcAft>
              <a:buNone/>
            </a:pPr>
            <a:r>
              <a:t/>
            </a:r>
            <a:endParaRPr b="1" sz="1100">
              <a:latin typeface="Josefin Sans"/>
              <a:ea typeface="Josefin Sans"/>
              <a:cs typeface="Josefin Sans"/>
              <a:sym typeface="Josefin Sans"/>
            </a:endParaRPr>
          </a:p>
        </p:txBody>
      </p:sp>
      <p:sp>
        <p:nvSpPr>
          <p:cNvPr id="210" name="Google Shape;210;p26"/>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Josefin Sans"/>
                <a:ea typeface="Josefin Sans"/>
                <a:cs typeface="Josefin Sans"/>
                <a:sym typeface="Josefin Sans"/>
              </a:rPr>
              <a:t>Focus on pedestrian actions and driver responses, utilizing specific indicators derived from the dataset</a:t>
            </a:r>
            <a:endParaRPr sz="1100">
              <a:solidFill>
                <a:srgbClr val="FFFFFF"/>
              </a:solidFill>
              <a:latin typeface="Josefin Sans"/>
              <a:ea typeface="Josefin Sans"/>
              <a:cs typeface="Josefin Sans"/>
              <a:sym typeface="Josefin Sans"/>
            </a:endParaRPr>
          </a:p>
        </p:txBody>
      </p:sp>
      <p:pic>
        <p:nvPicPr>
          <p:cNvPr id="211" name="Google Shape;211;p26"/>
          <p:cNvPicPr preferRelativeResize="0"/>
          <p:nvPr/>
        </p:nvPicPr>
        <p:blipFill>
          <a:blip r:embed="rId3">
            <a:alphaModFix/>
          </a:blip>
          <a:stretch>
            <a:fillRect/>
          </a:stretch>
        </p:blipFill>
        <p:spPr>
          <a:xfrm>
            <a:off x="52150" y="-5850"/>
            <a:ext cx="407152" cy="457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7"/>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Statistical deep dive into relevant datasets </a:t>
            </a:r>
            <a:endParaRPr b="1">
              <a:solidFill>
                <a:srgbClr val="FFFFFF"/>
              </a:solidFill>
              <a:latin typeface="Josefin Sans"/>
              <a:ea typeface="Josefin Sans"/>
              <a:cs typeface="Josefin Sans"/>
              <a:sym typeface="Josefin Sans"/>
            </a:endParaRPr>
          </a:p>
        </p:txBody>
      </p:sp>
      <p:sp>
        <p:nvSpPr>
          <p:cNvPr id="217" name="Google Shape;217;p27"/>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CARLA</a:t>
            </a:r>
            <a:r>
              <a:rPr b="1" lang="en-GB" sz="1000">
                <a:latin typeface="Josefin Sans"/>
                <a:ea typeface="Josefin Sans"/>
                <a:cs typeface="Josefin Sans"/>
                <a:sym typeface="Josefin Sans"/>
              </a:rPr>
              <a:t> Dataset</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218" name="Google Shape;218;p27"/>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The overview and key features of CARLA dataset</a:t>
            </a:r>
            <a:endParaRPr sz="1100">
              <a:solidFill>
                <a:srgbClr val="FFFFFF"/>
              </a:solidFill>
              <a:latin typeface="Josefin Sans"/>
              <a:ea typeface="Josefin Sans"/>
              <a:cs typeface="Josefin Sans"/>
              <a:sym typeface="Josefin Sans"/>
            </a:endParaRPr>
          </a:p>
        </p:txBody>
      </p:sp>
      <p:cxnSp>
        <p:nvCxnSpPr>
          <p:cNvPr id="219" name="Google Shape;219;p27"/>
          <p:cNvCxnSpPr/>
          <p:nvPr/>
        </p:nvCxnSpPr>
        <p:spPr>
          <a:xfrm>
            <a:off x="3400500" y="965388"/>
            <a:ext cx="0" cy="3648900"/>
          </a:xfrm>
          <a:prstGeom prst="straightConnector1">
            <a:avLst/>
          </a:prstGeom>
          <a:noFill/>
          <a:ln cap="flat" cmpd="sng" w="9525">
            <a:solidFill>
              <a:srgbClr val="4285F4"/>
            </a:solidFill>
            <a:prstDash val="dash"/>
            <a:round/>
            <a:headEnd len="med" w="med" type="none"/>
            <a:tailEnd len="med" w="med" type="none"/>
          </a:ln>
        </p:spPr>
      </p:cxnSp>
      <p:sp>
        <p:nvSpPr>
          <p:cNvPr id="220" name="Google Shape;220;p27"/>
          <p:cNvSpPr txBox="1"/>
          <p:nvPr/>
        </p:nvSpPr>
        <p:spPr>
          <a:xfrm>
            <a:off x="325125" y="965400"/>
            <a:ext cx="27747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Overview</a:t>
            </a:r>
            <a:endParaRPr b="1" sz="1200">
              <a:solidFill>
                <a:srgbClr val="FFFFFF"/>
              </a:solidFill>
              <a:latin typeface="Josefin Sans"/>
              <a:ea typeface="Josefin Sans"/>
              <a:cs typeface="Josefin Sans"/>
              <a:sym typeface="Josefin Sans"/>
            </a:endParaRPr>
          </a:p>
        </p:txBody>
      </p:sp>
      <p:sp>
        <p:nvSpPr>
          <p:cNvPr id="221" name="Google Shape;221;p27"/>
          <p:cNvSpPr txBox="1"/>
          <p:nvPr/>
        </p:nvSpPr>
        <p:spPr>
          <a:xfrm rot="-5400000">
            <a:off x="1939975" y="2651900"/>
            <a:ext cx="36033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Key Features</a:t>
            </a:r>
            <a:endParaRPr b="1" sz="1200">
              <a:solidFill>
                <a:srgbClr val="FFFFFF"/>
              </a:solidFill>
              <a:latin typeface="Josefin Sans"/>
              <a:ea typeface="Josefin Sans"/>
              <a:cs typeface="Josefin Sans"/>
              <a:sym typeface="Josefin Sans"/>
            </a:endParaRPr>
          </a:p>
        </p:txBody>
      </p:sp>
      <p:sp>
        <p:nvSpPr>
          <p:cNvPr id="222" name="Google Shape;222;p27"/>
          <p:cNvSpPr txBox="1"/>
          <p:nvPr/>
        </p:nvSpPr>
        <p:spPr>
          <a:xfrm>
            <a:off x="336225" y="1423200"/>
            <a:ext cx="2752500" cy="141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1"/>
                </a:solidFill>
                <a:latin typeface="Josefin Sans"/>
                <a:ea typeface="Josefin Sans"/>
                <a:cs typeface="Josefin Sans"/>
                <a:sym typeface="Josefin Sans"/>
              </a:rPr>
              <a:t>The CARLA dataset is designed for autonomous driving research, featuring simulated urban environments that replicate real-world conditions. It provides a rich set of data for training and evaluating algorithms in perception, decision-making, and control.</a:t>
            </a:r>
            <a:endParaRPr b="1" sz="1100">
              <a:solidFill>
                <a:srgbClr val="000000"/>
              </a:solidFill>
              <a:latin typeface="Josefin Sans"/>
              <a:ea typeface="Josefin Sans"/>
              <a:cs typeface="Josefin Sans"/>
              <a:sym typeface="Josefin Sans"/>
            </a:endParaRPr>
          </a:p>
        </p:txBody>
      </p:sp>
      <p:sp>
        <p:nvSpPr>
          <p:cNvPr id="223" name="Google Shape;223;p27"/>
          <p:cNvSpPr txBox="1"/>
          <p:nvPr/>
        </p:nvSpPr>
        <p:spPr>
          <a:xfrm>
            <a:off x="336225" y="2932100"/>
            <a:ext cx="2752500" cy="16035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1"/>
                </a:solidFill>
                <a:latin typeface="Josefin Sans"/>
                <a:ea typeface="Josefin Sans"/>
                <a:cs typeface="Josefin Sans"/>
                <a:sym typeface="Josefin Sans"/>
              </a:rPr>
              <a:t>Dataset includes sensor data, with columns for accelerometer and gyroscope readings across three axes (X, Y, Z), as well as class labels that may represent different scenarios or objects ("apo" in this case).</a:t>
            </a:r>
            <a:endParaRPr b="1" sz="1100">
              <a:solidFill>
                <a:srgbClr val="000000"/>
              </a:solidFill>
              <a:latin typeface="Josefin Sans"/>
              <a:ea typeface="Josefin Sans"/>
              <a:cs typeface="Josefin Sans"/>
              <a:sym typeface="Josefin Sans"/>
            </a:endParaRPr>
          </a:p>
        </p:txBody>
      </p:sp>
      <p:sp>
        <p:nvSpPr>
          <p:cNvPr id="224" name="Google Shape;224;p27"/>
          <p:cNvSpPr txBox="1"/>
          <p:nvPr/>
        </p:nvSpPr>
        <p:spPr>
          <a:xfrm>
            <a:off x="4082750" y="1183750"/>
            <a:ext cx="2275200" cy="13326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600"/>
              </a:spcBef>
              <a:spcAft>
                <a:spcPts val="0"/>
              </a:spcAft>
              <a:buNone/>
            </a:pPr>
            <a:r>
              <a:rPr b="1" lang="en-GB" sz="1200">
                <a:solidFill>
                  <a:schemeClr val="dk1"/>
                </a:solidFill>
                <a:latin typeface="Josefin Sans"/>
                <a:ea typeface="Josefin Sans"/>
                <a:cs typeface="Josefin Sans"/>
                <a:sym typeface="Josefin Sans"/>
              </a:rPr>
              <a:t>High-Resolution Imagery </a:t>
            </a:r>
            <a:endParaRPr b="1" sz="1200">
              <a:solidFill>
                <a:schemeClr val="dk1"/>
              </a:solidFill>
              <a:latin typeface="Josefin Sans"/>
              <a:ea typeface="Josefin Sans"/>
              <a:cs typeface="Josefin Sans"/>
              <a:sym typeface="Josefin Sans"/>
            </a:endParaRPr>
          </a:p>
          <a:p>
            <a:pPr indent="0" lvl="0" marL="0" rtl="0" algn="ctr">
              <a:lnSpc>
                <a:spcPct val="115000"/>
              </a:lnSpc>
              <a:spcBef>
                <a:spcPts val="600"/>
              </a:spcBef>
              <a:spcAft>
                <a:spcPts val="600"/>
              </a:spcAft>
              <a:buNone/>
            </a:pPr>
            <a:r>
              <a:rPr lang="en-GB" sz="1100">
                <a:solidFill>
                  <a:schemeClr val="dk1"/>
                </a:solidFill>
                <a:latin typeface="Josefin Sans"/>
                <a:ea typeface="Josefin Sans"/>
                <a:cs typeface="Josefin Sans"/>
                <a:sym typeface="Josefin Sans"/>
              </a:rPr>
              <a:t>Images captured at resolutions up to 1920x1080 pixels</a:t>
            </a:r>
            <a:endParaRPr b="1" sz="1000">
              <a:latin typeface="Josefin Sans"/>
              <a:ea typeface="Josefin Sans"/>
              <a:cs typeface="Josefin Sans"/>
              <a:sym typeface="Josefin Sans"/>
            </a:endParaRPr>
          </a:p>
        </p:txBody>
      </p:sp>
      <p:sp>
        <p:nvSpPr>
          <p:cNvPr id="225" name="Google Shape;225;p27"/>
          <p:cNvSpPr txBox="1"/>
          <p:nvPr/>
        </p:nvSpPr>
        <p:spPr>
          <a:xfrm>
            <a:off x="6561975" y="1183750"/>
            <a:ext cx="2275200" cy="13326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600"/>
              </a:spcBef>
              <a:spcAft>
                <a:spcPts val="0"/>
              </a:spcAft>
              <a:buNone/>
            </a:pPr>
            <a:r>
              <a:rPr b="1" lang="en-GB" sz="1200">
                <a:solidFill>
                  <a:schemeClr val="dk1"/>
                </a:solidFill>
                <a:latin typeface="Josefin Sans"/>
                <a:ea typeface="Josefin Sans"/>
                <a:cs typeface="Josefin Sans"/>
                <a:sym typeface="Josefin Sans"/>
              </a:rPr>
              <a:t>Diverse Scenarios</a:t>
            </a:r>
            <a:endParaRPr b="1" sz="1200">
              <a:solidFill>
                <a:schemeClr val="dk1"/>
              </a:solidFill>
              <a:latin typeface="Josefin Sans"/>
              <a:ea typeface="Josefin Sans"/>
              <a:cs typeface="Josefin Sans"/>
              <a:sym typeface="Josefin Sans"/>
            </a:endParaRPr>
          </a:p>
          <a:p>
            <a:pPr indent="0" lvl="0" marL="0" rtl="0" algn="ctr">
              <a:lnSpc>
                <a:spcPct val="115000"/>
              </a:lnSpc>
              <a:spcBef>
                <a:spcPts val="600"/>
              </a:spcBef>
              <a:spcAft>
                <a:spcPts val="600"/>
              </a:spcAft>
              <a:buNone/>
            </a:pPr>
            <a:r>
              <a:rPr lang="en-GB" sz="1100">
                <a:solidFill>
                  <a:schemeClr val="dk1"/>
                </a:solidFill>
                <a:latin typeface="Josefin Sans"/>
                <a:ea typeface="Josefin Sans"/>
                <a:cs typeface="Josefin Sans"/>
                <a:sym typeface="Josefin Sans"/>
              </a:rPr>
              <a:t>Includes over 20 different weather conditions (sunny, rainy, foggy) and various times of day (day, night)</a:t>
            </a:r>
            <a:endParaRPr b="1" sz="1000">
              <a:latin typeface="Josefin Sans"/>
              <a:ea typeface="Josefin Sans"/>
              <a:cs typeface="Josefin Sans"/>
              <a:sym typeface="Josefin Sans"/>
            </a:endParaRPr>
          </a:p>
        </p:txBody>
      </p:sp>
      <p:sp>
        <p:nvSpPr>
          <p:cNvPr id="226" name="Google Shape;226;p27"/>
          <p:cNvSpPr txBox="1"/>
          <p:nvPr/>
        </p:nvSpPr>
        <p:spPr>
          <a:xfrm>
            <a:off x="4082750" y="2990813"/>
            <a:ext cx="2275200" cy="13326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600"/>
              </a:spcBef>
              <a:spcAft>
                <a:spcPts val="0"/>
              </a:spcAft>
              <a:buNone/>
            </a:pPr>
            <a:r>
              <a:rPr b="1" lang="en-GB" sz="1200">
                <a:solidFill>
                  <a:schemeClr val="dk1"/>
                </a:solidFill>
                <a:latin typeface="Josefin Sans"/>
                <a:ea typeface="Josefin Sans"/>
                <a:cs typeface="Josefin Sans"/>
                <a:sym typeface="Josefin Sans"/>
              </a:rPr>
              <a:t>Comprehensive Annotations</a:t>
            </a:r>
            <a:endParaRPr b="1" sz="1200">
              <a:solidFill>
                <a:schemeClr val="dk1"/>
              </a:solidFill>
              <a:latin typeface="Josefin Sans"/>
              <a:ea typeface="Josefin Sans"/>
              <a:cs typeface="Josefin Sans"/>
              <a:sym typeface="Josefin Sans"/>
            </a:endParaRPr>
          </a:p>
          <a:p>
            <a:pPr indent="0" lvl="0" marL="0" rtl="0" algn="ctr">
              <a:lnSpc>
                <a:spcPct val="115000"/>
              </a:lnSpc>
              <a:spcBef>
                <a:spcPts val="600"/>
              </a:spcBef>
              <a:spcAft>
                <a:spcPts val="600"/>
              </a:spcAft>
              <a:buNone/>
            </a:pPr>
            <a:r>
              <a:rPr lang="en-GB" sz="1100">
                <a:solidFill>
                  <a:schemeClr val="dk1"/>
                </a:solidFill>
                <a:latin typeface="Josefin Sans"/>
                <a:ea typeface="Josefin Sans"/>
                <a:cs typeface="Josefin Sans"/>
                <a:sym typeface="Josefin Sans"/>
              </a:rPr>
              <a:t>Annotations for over 10,000 traffic signs, lane markings, and dynamic objects</a:t>
            </a:r>
            <a:endParaRPr b="1" sz="1000">
              <a:latin typeface="Josefin Sans"/>
              <a:ea typeface="Josefin Sans"/>
              <a:cs typeface="Josefin Sans"/>
              <a:sym typeface="Josefin Sans"/>
            </a:endParaRPr>
          </a:p>
        </p:txBody>
      </p:sp>
      <p:sp>
        <p:nvSpPr>
          <p:cNvPr id="227" name="Google Shape;227;p27"/>
          <p:cNvSpPr txBox="1"/>
          <p:nvPr/>
        </p:nvSpPr>
        <p:spPr>
          <a:xfrm>
            <a:off x="6561975" y="2990813"/>
            <a:ext cx="2275200" cy="13326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600"/>
              </a:spcBef>
              <a:spcAft>
                <a:spcPts val="0"/>
              </a:spcAft>
              <a:buNone/>
            </a:pPr>
            <a:r>
              <a:rPr b="1" lang="en-GB" sz="1200">
                <a:solidFill>
                  <a:schemeClr val="dk1"/>
                </a:solidFill>
                <a:latin typeface="Josefin Sans"/>
                <a:ea typeface="Josefin Sans"/>
                <a:cs typeface="Josefin Sans"/>
                <a:sym typeface="Josefin Sans"/>
              </a:rPr>
              <a:t>Realistic Physics</a:t>
            </a:r>
            <a:endParaRPr b="1" sz="1200">
              <a:solidFill>
                <a:schemeClr val="dk1"/>
              </a:solidFill>
              <a:latin typeface="Josefin Sans"/>
              <a:ea typeface="Josefin Sans"/>
              <a:cs typeface="Josefin Sans"/>
              <a:sym typeface="Josefin Sans"/>
            </a:endParaRPr>
          </a:p>
          <a:p>
            <a:pPr indent="0" lvl="0" marL="0" rtl="0" algn="ctr">
              <a:lnSpc>
                <a:spcPct val="115000"/>
              </a:lnSpc>
              <a:spcBef>
                <a:spcPts val="600"/>
              </a:spcBef>
              <a:spcAft>
                <a:spcPts val="600"/>
              </a:spcAft>
              <a:buNone/>
            </a:pPr>
            <a:r>
              <a:rPr lang="en-GB" sz="1100">
                <a:solidFill>
                  <a:schemeClr val="dk1"/>
                </a:solidFill>
                <a:latin typeface="Josefin Sans"/>
                <a:ea typeface="Josefin Sans"/>
                <a:cs typeface="Josefin Sans"/>
                <a:sym typeface="Josefin Sans"/>
              </a:rPr>
              <a:t>Vehicles and pedestrians behave according to realistic physics models</a:t>
            </a:r>
            <a:endParaRPr b="1" sz="1000">
              <a:latin typeface="Josefin Sans"/>
              <a:ea typeface="Josefin Sans"/>
              <a:cs typeface="Josefin Sans"/>
              <a:sym typeface="Josefin Sans"/>
            </a:endParaRPr>
          </a:p>
        </p:txBody>
      </p:sp>
      <p:pic>
        <p:nvPicPr>
          <p:cNvPr id="228" name="Google Shape;228;p27"/>
          <p:cNvPicPr preferRelativeResize="0"/>
          <p:nvPr/>
        </p:nvPicPr>
        <p:blipFill>
          <a:blip r:embed="rId3">
            <a:alphaModFix/>
          </a:blip>
          <a:stretch>
            <a:fillRect/>
          </a:stretch>
        </p:blipFill>
        <p:spPr>
          <a:xfrm>
            <a:off x="52150" y="-5850"/>
            <a:ext cx="407152" cy="457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8"/>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Statistical deep dive into relevant datasets </a:t>
            </a:r>
            <a:endParaRPr b="1">
              <a:solidFill>
                <a:srgbClr val="FFFFFF"/>
              </a:solidFill>
              <a:latin typeface="Josefin Sans"/>
              <a:ea typeface="Josefin Sans"/>
              <a:cs typeface="Josefin Sans"/>
              <a:sym typeface="Josefin Sans"/>
            </a:endParaRPr>
          </a:p>
        </p:txBody>
      </p:sp>
      <p:sp>
        <p:nvSpPr>
          <p:cNvPr id="234" name="Google Shape;234;p28"/>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CARLA Dataset</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235" name="Google Shape;235;p28"/>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Basic statistics and distribution of mean &amp; standard deviation along X, Y, Z axis</a:t>
            </a:r>
            <a:endParaRPr sz="1100">
              <a:solidFill>
                <a:srgbClr val="FFFFFF"/>
              </a:solidFill>
              <a:latin typeface="Josefin Sans"/>
              <a:ea typeface="Josefin Sans"/>
              <a:cs typeface="Josefin Sans"/>
              <a:sym typeface="Josefin Sans"/>
            </a:endParaRPr>
          </a:p>
        </p:txBody>
      </p:sp>
      <p:sp>
        <p:nvSpPr>
          <p:cNvPr id="236" name="Google Shape;236;p28"/>
          <p:cNvSpPr txBox="1"/>
          <p:nvPr/>
        </p:nvSpPr>
        <p:spPr>
          <a:xfrm>
            <a:off x="1061225" y="945650"/>
            <a:ext cx="27747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Basic Statistics</a:t>
            </a:r>
            <a:endParaRPr b="1" sz="1200">
              <a:solidFill>
                <a:srgbClr val="FFFFFF"/>
              </a:solidFill>
              <a:latin typeface="Josefin Sans"/>
              <a:ea typeface="Josefin Sans"/>
              <a:cs typeface="Josefin Sans"/>
              <a:sym typeface="Josefin Sans"/>
            </a:endParaRPr>
          </a:p>
        </p:txBody>
      </p:sp>
      <p:graphicFrame>
        <p:nvGraphicFramePr>
          <p:cNvPr id="237" name="Google Shape;237;p28"/>
          <p:cNvGraphicFramePr/>
          <p:nvPr/>
        </p:nvGraphicFramePr>
        <p:xfrm>
          <a:off x="325125" y="1383688"/>
          <a:ext cx="3000000" cy="3000000"/>
        </p:xfrm>
        <a:graphic>
          <a:graphicData uri="http://schemas.openxmlformats.org/drawingml/2006/table">
            <a:tbl>
              <a:tblPr>
                <a:noFill/>
                <a:tableStyleId>{D45A3726-6D87-4FA0-885B-04208B5A4D76}</a:tableStyleId>
              </a:tblPr>
              <a:tblGrid>
                <a:gridCol w="2227125"/>
                <a:gridCol w="2227125"/>
              </a:tblGrid>
              <a:tr h="541500">
                <a:tc>
                  <a:txBody>
                    <a:bodyPr/>
                    <a:lstStyle/>
                    <a:p>
                      <a:pPr indent="0" lvl="0" marL="0" rtl="0" algn="ctr">
                        <a:lnSpc>
                          <a:spcPct val="171429"/>
                        </a:lnSpc>
                        <a:spcBef>
                          <a:spcPts val="1100"/>
                        </a:spcBef>
                        <a:spcAft>
                          <a:spcPts val="1100"/>
                        </a:spcAft>
                        <a:buNone/>
                      </a:pPr>
                      <a:r>
                        <a:rPr b="1" lang="en-GB" sz="1100">
                          <a:latin typeface="Josefin Sans"/>
                          <a:ea typeface="Josefin Sans"/>
                          <a:cs typeface="Josefin Sans"/>
                          <a:sym typeface="Josefin Sans"/>
                        </a:rPr>
                        <a:t>Feature</a:t>
                      </a:r>
                      <a:endParaRPr b="1" sz="1100">
                        <a:latin typeface="Josefin Sans"/>
                        <a:ea typeface="Josefin Sans"/>
                        <a:cs typeface="Josefin Sans"/>
                        <a:sym typeface="Josefin Sans"/>
                      </a:endParaRPr>
                    </a:p>
                  </a:txBody>
                  <a:tcPr marT="91425" marB="91425" marR="91425" marL="91425" anchor="ctr">
                    <a:lnL cap="flat" cmpd="sng" w="9525">
                      <a:solidFill>
                        <a:srgbClr val="4285F4"/>
                      </a:solidFill>
                      <a:prstDash val="solid"/>
                      <a:round/>
                      <a:headEnd len="sm" w="sm" type="none"/>
                      <a:tailEnd len="sm" w="sm" type="none"/>
                    </a:lnL>
                    <a:lnR cap="flat" cmpd="sng" w="9525">
                      <a:solidFill>
                        <a:srgbClr val="4285F4"/>
                      </a:solidFill>
                      <a:prstDash val="solid"/>
                      <a:round/>
                      <a:headEnd len="sm" w="sm" type="none"/>
                      <a:tailEnd len="sm" w="sm" type="none"/>
                    </a:lnR>
                    <a:lnT cap="flat" cmpd="sng" w="9525">
                      <a:solidFill>
                        <a:srgbClr val="4285F4"/>
                      </a:solidFill>
                      <a:prstDash val="solid"/>
                      <a:round/>
                      <a:headEnd len="sm" w="sm" type="none"/>
                      <a:tailEnd len="sm" w="sm" type="none"/>
                    </a:lnT>
                    <a:lnB cap="flat" cmpd="sng" w="9525">
                      <a:solidFill>
                        <a:srgbClr val="4285F4"/>
                      </a:solidFill>
                      <a:prstDash val="solid"/>
                      <a:round/>
                      <a:headEnd len="sm" w="sm" type="none"/>
                      <a:tailEnd len="sm" w="sm" type="none"/>
                    </a:lnB>
                  </a:tcPr>
                </a:tc>
                <a:tc>
                  <a:txBody>
                    <a:bodyPr/>
                    <a:lstStyle/>
                    <a:p>
                      <a:pPr indent="0" lvl="0" marL="0" rtl="0" algn="ctr">
                        <a:lnSpc>
                          <a:spcPct val="171429"/>
                        </a:lnSpc>
                        <a:spcBef>
                          <a:spcPts val="1100"/>
                        </a:spcBef>
                        <a:spcAft>
                          <a:spcPts val="1100"/>
                        </a:spcAft>
                        <a:buNone/>
                      </a:pPr>
                      <a:r>
                        <a:rPr b="1" lang="en-GB" sz="1100">
                          <a:latin typeface="Josefin Sans"/>
                          <a:ea typeface="Josefin Sans"/>
                          <a:cs typeface="Josefin Sans"/>
                          <a:sym typeface="Josefin Sans"/>
                        </a:rPr>
                        <a:t>Details</a:t>
                      </a:r>
                      <a:endParaRPr b="1" sz="1100">
                        <a:latin typeface="Josefin Sans"/>
                        <a:ea typeface="Josefin Sans"/>
                        <a:cs typeface="Josefin Sans"/>
                        <a:sym typeface="Josefin Sans"/>
                      </a:endParaRPr>
                    </a:p>
                  </a:txBody>
                  <a:tcPr marT="91425" marB="91425" marR="91425" marL="91425" anchor="ctr">
                    <a:lnL cap="flat" cmpd="sng" w="9525">
                      <a:solidFill>
                        <a:srgbClr val="4285F4"/>
                      </a:solidFill>
                      <a:prstDash val="solid"/>
                      <a:round/>
                      <a:headEnd len="sm" w="sm" type="none"/>
                      <a:tailEnd len="sm" w="sm" type="none"/>
                    </a:lnL>
                    <a:lnR cap="flat" cmpd="sng" w="9525">
                      <a:solidFill>
                        <a:srgbClr val="4285F4"/>
                      </a:solidFill>
                      <a:prstDash val="solid"/>
                      <a:round/>
                      <a:headEnd len="sm" w="sm" type="none"/>
                      <a:tailEnd len="sm" w="sm" type="none"/>
                    </a:lnR>
                    <a:lnT cap="flat" cmpd="sng" w="9525">
                      <a:solidFill>
                        <a:srgbClr val="4285F4"/>
                      </a:solidFill>
                      <a:prstDash val="solid"/>
                      <a:round/>
                      <a:headEnd len="sm" w="sm" type="none"/>
                      <a:tailEnd len="sm" w="sm" type="none"/>
                    </a:lnT>
                    <a:lnB cap="flat" cmpd="sng" w="9525">
                      <a:solidFill>
                        <a:srgbClr val="4285F4"/>
                      </a:solidFill>
                      <a:prstDash val="solid"/>
                      <a:round/>
                      <a:headEnd len="sm" w="sm" type="none"/>
                      <a:tailEnd len="sm" w="sm" type="none"/>
                    </a:lnB>
                  </a:tcPr>
                </a:tc>
              </a:tr>
              <a:tr h="375900">
                <a:tc>
                  <a:txBody>
                    <a:bodyPr/>
                    <a:lstStyle/>
                    <a:p>
                      <a:pPr indent="0" lvl="0" marL="0" rtl="0" algn="l">
                        <a:lnSpc>
                          <a:spcPct val="171429"/>
                        </a:lnSpc>
                        <a:spcBef>
                          <a:spcPts val="1100"/>
                        </a:spcBef>
                        <a:spcAft>
                          <a:spcPts val="1100"/>
                        </a:spcAft>
                        <a:buNone/>
                      </a:pPr>
                      <a:r>
                        <a:rPr lang="en-GB" sz="900">
                          <a:latin typeface="Josefin Sans"/>
                          <a:ea typeface="Josefin Sans"/>
                          <a:cs typeface="Josefin Sans"/>
                          <a:sym typeface="Josefin Sans"/>
                        </a:rPr>
                        <a:t>Location</a:t>
                      </a:r>
                      <a:endParaRPr sz="900">
                        <a:latin typeface="Josefin Sans"/>
                        <a:ea typeface="Josefin Sans"/>
                        <a:cs typeface="Josefin Sans"/>
                        <a:sym typeface="Josefin Sans"/>
                      </a:endParaRPr>
                    </a:p>
                  </a:txBody>
                  <a:tcPr marT="68950" marB="68950" marR="91425" marL="91425" anchor="ctr">
                    <a:lnL cap="flat" cmpd="sng" w="9525">
                      <a:solidFill>
                        <a:srgbClr val="4285F4"/>
                      </a:solidFill>
                      <a:prstDash val="solid"/>
                      <a:round/>
                      <a:headEnd len="sm" w="sm" type="none"/>
                      <a:tailEnd len="sm" w="sm" type="none"/>
                    </a:lnL>
                    <a:lnR cap="flat" cmpd="sng" w="9525">
                      <a:solidFill>
                        <a:srgbClr val="4285F4"/>
                      </a:solidFill>
                      <a:prstDash val="solid"/>
                      <a:round/>
                      <a:headEnd len="sm" w="sm" type="none"/>
                      <a:tailEnd len="sm" w="sm" type="none"/>
                    </a:lnR>
                    <a:lnT cap="flat" cmpd="sng" w="9525">
                      <a:solidFill>
                        <a:srgbClr val="4285F4"/>
                      </a:solidFill>
                      <a:prstDash val="solid"/>
                      <a:round/>
                      <a:headEnd len="sm" w="sm" type="none"/>
                      <a:tailEnd len="sm" w="sm" type="none"/>
                    </a:lnT>
                    <a:lnB cap="flat" cmpd="sng" w="9525">
                      <a:solidFill>
                        <a:srgbClr val="4285F4"/>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00">
                          <a:latin typeface="Josefin Sans"/>
                          <a:ea typeface="Josefin Sans"/>
                          <a:cs typeface="Josefin Sans"/>
                          <a:sym typeface="Josefin Sans"/>
                        </a:rPr>
                        <a:t>Simulated urban environments</a:t>
                      </a:r>
                      <a:endParaRPr sz="900">
                        <a:latin typeface="Josefin Sans"/>
                        <a:ea typeface="Josefin Sans"/>
                        <a:cs typeface="Josefin Sans"/>
                        <a:sym typeface="Josefin Sans"/>
                      </a:endParaRPr>
                    </a:p>
                  </a:txBody>
                  <a:tcPr marT="68950" marB="68950" marR="91425" marL="91425" anchor="ctr">
                    <a:lnL cap="flat" cmpd="sng" w="9525">
                      <a:solidFill>
                        <a:srgbClr val="4285F4"/>
                      </a:solidFill>
                      <a:prstDash val="solid"/>
                      <a:round/>
                      <a:headEnd len="sm" w="sm" type="none"/>
                      <a:tailEnd len="sm" w="sm" type="none"/>
                    </a:lnL>
                    <a:lnR cap="flat" cmpd="sng" w="9525">
                      <a:solidFill>
                        <a:srgbClr val="4285F4"/>
                      </a:solidFill>
                      <a:prstDash val="solid"/>
                      <a:round/>
                      <a:headEnd len="sm" w="sm" type="none"/>
                      <a:tailEnd len="sm" w="sm" type="none"/>
                    </a:lnR>
                    <a:lnT cap="flat" cmpd="sng" w="9525">
                      <a:solidFill>
                        <a:srgbClr val="4285F4"/>
                      </a:solidFill>
                      <a:prstDash val="solid"/>
                      <a:round/>
                      <a:headEnd len="sm" w="sm" type="none"/>
                      <a:tailEnd len="sm" w="sm" type="none"/>
                    </a:lnT>
                    <a:lnB cap="flat" cmpd="sng" w="9525">
                      <a:solidFill>
                        <a:srgbClr val="4285F4"/>
                      </a:solidFill>
                      <a:prstDash val="solid"/>
                      <a:round/>
                      <a:headEnd len="sm" w="sm" type="none"/>
                      <a:tailEnd len="sm" w="sm" type="none"/>
                    </a:lnB>
                  </a:tcPr>
                </a:tc>
              </a:tr>
              <a:tr h="497400">
                <a:tc>
                  <a:txBody>
                    <a:bodyPr/>
                    <a:lstStyle/>
                    <a:p>
                      <a:pPr indent="0" lvl="0" marL="0" rtl="0" algn="l">
                        <a:lnSpc>
                          <a:spcPct val="171429"/>
                        </a:lnSpc>
                        <a:spcBef>
                          <a:spcPts val="1100"/>
                        </a:spcBef>
                        <a:spcAft>
                          <a:spcPts val="1100"/>
                        </a:spcAft>
                        <a:buNone/>
                      </a:pPr>
                      <a:r>
                        <a:rPr lang="en-GB" sz="900">
                          <a:latin typeface="Josefin Sans"/>
                          <a:ea typeface="Josefin Sans"/>
                          <a:cs typeface="Josefin Sans"/>
                          <a:sym typeface="Josefin Sans"/>
                        </a:rPr>
                        <a:t>Number of Videos</a:t>
                      </a:r>
                      <a:endParaRPr sz="900">
                        <a:latin typeface="Josefin Sans"/>
                        <a:ea typeface="Josefin Sans"/>
                        <a:cs typeface="Josefin Sans"/>
                        <a:sym typeface="Josefin Sans"/>
                      </a:endParaRPr>
                    </a:p>
                  </a:txBody>
                  <a:tcPr marT="68950" marB="68950" marR="91425" marL="91425" anchor="ctr">
                    <a:lnL cap="flat" cmpd="sng" w="9525">
                      <a:solidFill>
                        <a:srgbClr val="4285F4"/>
                      </a:solidFill>
                      <a:prstDash val="solid"/>
                      <a:round/>
                      <a:headEnd len="sm" w="sm" type="none"/>
                      <a:tailEnd len="sm" w="sm" type="none"/>
                    </a:lnL>
                    <a:lnR cap="flat" cmpd="sng" w="9525">
                      <a:solidFill>
                        <a:srgbClr val="4285F4"/>
                      </a:solidFill>
                      <a:prstDash val="solid"/>
                      <a:round/>
                      <a:headEnd len="sm" w="sm" type="none"/>
                      <a:tailEnd len="sm" w="sm" type="none"/>
                    </a:lnR>
                    <a:lnT cap="flat" cmpd="sng" w="9525">
                      <a:solidFill>
                        <a:srgbClr val="4285F4"/>
                      </a:solidFill>
                      <a:prstDash val="solid"/>
                      <a:round/>
                      <a:headEnd len="sm" w="sm" type="none"/>
                      <a:tailEnd len="sm" w="sm" type="none"/>
                    </a:lnT>
                    <a:lnB cap="flat" cmpd="sng" w="9525">
                      <a:solidFill>
                        <a:srgbClr val="4285F4"/>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00">
                          <a:latin typeface="Josefin Sans"/>
                          <a:ea typeface="Josefin Sans"/>
                          <a:cs typeface="Josefin Sans"/>
                          <a:sym typeface="Josefin Sans"/>
                        </a:rPr>
                        <a:t>Approximately 10,000 video sequences</a:t>
                      </a:r>
                      <a:endParaRPr sz="900">
                        <a:latin typeface="Josefin Sans"/>
                        <a:ea typeface="Josefin Sans"/>
                        <a:cs typeface="Josefin Sans"/>
                        <a:sym typeface="Josefin Sans"/>
                      </a:endParaRPr>
                    </a:p>
                  </a:txBody>
                  <a:tcPr marT="68950" marB="68950" marR="91425" marL="91425" anchor="ctr">
                    <a:lnL cap="flat" cmpd="sng" w="9525">
                      <a:solidFill>
                        <a:srgbClr val="4285F4"/>
                      </a:solidFill>
                      <a:prstDash val="solid"/>
                      <a:round/>
                      <a:headEnd len="sm" w="sm" type="none"/>
                      <a:tailEnd len="sm" w="sm" type="none"/>
                    </a:lnL>
                    <a:lnR cap="flat" cmpd="sng" w="9525">
                      <a:solidFill>
                        <a:srgbClr val="4285F4"/>
                      </a:solidFill>
                      <a:prstDash val="solid"/>
                      <a:round/>
                      <a:headEnd len="sm" w="sm" type="none"/>
                      <a:tailEnd len="sm" w="sm" type="none"/>
                    </a:lnR>
                    <a:lnT cap="flat" cmpd="sng" w="9525">
                      <a:solidFill>
                        <a:srgbClr val="4285F4"/>
                      </a:solidFill>
                      <a:prstDash val="solid"/>
                      <a:round/>
                      <a:headEnd len="sm" w="sm" type="none"/>
                      <a:tailEnd len="sm" w="sm" type="none"/>
                    </a:lnT>
                    <a:lnB cap="flat" cmpd="sng" w="9525">
                      <a:solidFill>
                        <a:srgbClr val="4285F4"/>
                      </a:solidFill>
                      <a:prstDash val="solid"/>
                      <a:round/>
                      <a:headEnd len="sm" w="sm" type="none"/>
                      <a:tailEnd len="sm" w="sm" type="none"/>
                    </a:lnB>
                  </a:tcPr>
                </a:tc>
              </a:tr>
              <a:tr h="375900">
                <a:tc>
                  <a:txBody>
                    <a:bodyPr/>
                    <a:lstStyle/>
                    <a:p>
                      <a:pPr indent="0" lvl="0" marL="0" rtl="0" algn="l">
                        <a:lnSpc>
                          <a:spcPct val="171429"/>
                        </a:lnSpc>
                        <a:spcBef>
                          <a:spcPts val="1100"/>
                        </a:spcBef>
                        <a:spcAft>
                          <a:spcPts val="1100"/>
                        </a:spcAft>
                        <a:buNone/>
                      </a:pPr>
                      <a:r>
                        <a:rPr lang="en-GB" sz="900">
                          <a:latin typeface="Josefin Sans"/>
                          <a:ea typeface="Josefin Sans"/>
                          <a:cs typeface="Josefin Sans"/>
                          <a:sym typeface="Josefin Sans"/>
                        </a:rPr>
                        <a:t>Total Frames</a:t>
                      </a:r>
                      <a:endParaRPr sz="900">
                        <a:latin typeface="Josefin Sans"/>
                        <a:ea typeface="Josefin Sans"/>
                        <a:cs typeface="Josefin Sans"/>
                        <a:sym typeface="Josefin Sans"/>
                      </a:endParaRPr>
                    </a:p>
                  </a:txBody>
                  <a:tcPr marT="68950" marB="68950" marR="91425" marL="91425" anchor="ctr">
                    <a:lnL cap="flat" cmpd="sng" w="9525">
                      <a:solidFill>
                        <a:srgbClr val="4285F4"/>
                      </a:solidFill>
                      <a:prstDash val="solid"/>
                      <a:round/>
                      <a:headEnd len="sm" w="sm" type="none"/>
                      <a:tailEnd len="sm" w="sm" type="none"/>
                    </a:lnL>
                    <a:lnR cap="flat" cmpd="sng" w="9525">
                      <a:solidFill>
                        <a:srgbClr val="4285F4"/>
                      </a:solidFill>
                      <a:prstDash val="solid"/>
                      <a:round/>
                      <a:headEnd len="sm" w="sm" type="none"/>
                      <a:tailEnd len="sm" w="sm" type="none"/>
                    </a:lnR>
                    <a:lnT cap="flat" cmpd="sng" w="9525">
                      <a:solidFill>
                        <a:srgbClr val="4285F4"/>
                      </a:solidFill>
                      <a:prstDash val="solid"/>
                      <a:round/>
                      <a:headEnd len="sm" w="sm" type="none"/>
                      <a:tailEnd len="sm" w="sm" type="none"/>
                    </a:lnT>
                    <a:lnB cap="flat" cmpd="sng" w="9525">
                      <a:solidFill>
                        <a:srgbClr val="4285F4"/>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00">
                          <a:latin typeface="Josefin Sans"/>
                          <a:ea typeface="Josefin Sans"/>
                          <a:cs typeface="Josefin Sans"/>
                          <a:sym typeface="Josefin Sans"/>
                        </a:rPr>
                        <a:t>Over 1.5 million frames</a:t>
                      </a:r>
                      <a:endParaRPr sz="900">
                        <a:latin typeface="Josefin Sans"/>
                        <a:ea typeface="Josefin Sans"/>
                        <a:cs typeface="Josefin Sans"/>
                        <a:sym typeface="Josefin Sans"/>
                      </a:endParaRPr>
                    </a:p>
                  </a:txBody>
                  <a:tcPr marT="68950" marB="68950" marR="91425" marL="91425" anchor="ctr">
                    <a:lnL cap="flat" cmpd="sng" w="9525">
                      <a:solidFill>
                        <a:srgbClr val="4285F4"/>
                      </a:solidFill>
                      <a:prstDash val="solid"/>
                      <a:round/>
                      <a:headEnd len="sm" w="sm" type="none"/>
                      <a:tailEnd len="sm" w="sm" type="none"/>
                    </a:lnL>
                    <a:lnR cap="flat" cmpd="sng" w="9525">
                      <a:solidFill>
                        <a:srgbClr val="4285F4"/>
                      </a:solidFill>
                      <a:prstDash val="solid"/>
                      <a:round/>
                      <a:headEnd len="sm" w="sm" type="none"/>
                      <a:tailEnd len="sm" w="sm" type="none"/>
                    </a:lnR>
                    <a:lnT cap="flat" cmpd="sng" w="9525">
                      <a:solidFill>
                        <a:srgbClr val="4285F4"/>
                      </a:solidFill>
                      <a:prstDash val="solid"/>
                      <a:round/>
                      <a:headEnd len="sm" w="sm" type="none"/>
                      <a:tailEnd len="sm" w="sm" type="none"/>
                    </a:lnT>
                    <a:lnB cap="flat" cmpd="sng" w="9525">
                      <a:solidFill>
                        <a:srgbClr val="4285F4"/>
                      </a:solidFill>
                      <a:prstDash val="solid"/>
                      <a:round/>
                      <a:headEnd len="sm" w="sm" type="none"/>
                      <a:tailEnd len="sm" w="sm" type="none"/>
                    </a:lnB>
                  </a:tcPr>
                </a:tc>
              </a:tr>
              <a:tr h="497400">
                <a:tc>
                  <a:txBody>
                    <a:bodyPr/>
                    <a:lstStyle/>
                    <a:p>
                      <a:pPr indent="0" lvl="0" marL="0" rtl="0" algn="l">
                        <a:lnSpc>
                          <a:spcPct val="171429"/>
                        </a:lnSpc>
                        <a:spcBef>
                          <a:spcPts val="1100"/>
                        </a:spcBef>
                        <a:spcAft>
                          <a:spcPts val="1100"/>
                        </a:spcAft>
                        <a:buNone/>
                      </a:pPr>
                      <a:r>
                        <a:rPr lang="en-GB" sz="900">
                          <a:latin typeface="Josefin Sans"/>
                          <a:ea typeface="Josefin Sans"/>
                          <a:cs typeface="Josefin Sans"/>
                          <a:sym typeface="Josefin Sans"/>
                        </a:rPr>
                        <a:t>Types of Vehicles</a:t>
                      </a:r>
                      <a:endParaRPr sz="900">
                        <a:latin typeface="Josefin Sans"/>
                        <a:ea typeface="Josefin Sans"/>
                        <a:cs typeface="Josefin Sans"/>
                        <a:sym typeface="Josefin Sans"/>
                      </a:endParaRPr>
                    </a:p>
                  </a:txBody>
                  <a:tcPr marT="68950" marB="68950" marR="91425" marL="91425" anchor="ctr">
                    <a:lnL cap="flat" cmpd="sng" w="9525">
                      <a:solidFill>
                        <a:srgbClr val="4285F4"/>
                      </a:solidFill>
                      <a:prstDash val="solid"/>
                      <a:round/>
                      <a:headEnd len="sm" w="sm" type="none"/>
                      <a:tailEnd len="sm" w="sm" type="none"/>
                    </a:lnL>
                    <a:lnR cap="flat" cmpd="sng" w="9525">
                      <a:solidFill>
                        <a:srgbClr val="4285F4"/>
                      </a:solidFill>
                      <a:prstDash val="solid"/>
                      <a:round/>
                      <a:headEnd len="sm" w="sm" type="none"/>
                      <a:tailEnd len="sm" w="sm" type="none"/>
                    </a:lnR>
                    <a:lnT cap="flat" cmpd="sng" w="9525">
                      <a:solidFill>
                        <a:srgbClr val="4285F4"/>
                      </a:solidFill>
                      <a:prstDash val="solid"/>
                      <a:round/>
                      <a:headEnd len="sm" w="sm" type="none"/>
                      <a:tailEnd len="sm" w="sm" type="none"/>
                    </a:lnT>
                    <a:lnB cap="flat" cmpd="sng" w="9525">
                      <a:solidFill>
                        <a:srgbClr val="4285F4"/>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00">
                          <a:latin typeface="Josefin Sans"/>
                          <a:ea typeface="Josefin Sans"/>
                          <a:cs typeface="Josefin Sans"/>
                          <a:sym typeface="Josefin Sans"/>
                        </a:rPr>
                        <a:t>5 types (sedans, SUVs, trucks, buses, motorcycles)</a:t>
                      </a:r>
                      <a:endParaRPr sz="900">
                        <a:latin typeface="Josefin Sans"/>
                        <a:ea typeface="Josefin Sans"/>
                        <a:cs typeface="Josefin Sans"/>
                        <a:sym typeface="Josefin Sans"/>
                      </a:endParaRPr>
                    </a:p>
                  </a:txBody>
                  <a:tcPr marT="68950" marB="68950" marR="91425" marL="91425" anchor="ctr">
                    <a:lnL cap="flat" cmpd="sng" w="9525">
                      <a:solidFill>
                        <a:srgbClr val="4285F4"/>
                      </a:solidFill>
                      <a:prstDash val="solid"/>
                      <a:round/>
                      <a:headEnd len="sm" w="sm" type="none"/>
                      <a:tailEnd len="sm" w="sm" type="none"/>
                    </a:lnL>
                    <a:lnR cap="flat" cmpd="sng" w="9525">
                      <a:solidFill>
                        <a:srgbClr val="4285F4"/>
                      </a:solidFill>
                      <a:prstDash val="solid"/>
                      <a:round/>
                      <a:headEnd len="sm" w="sm" type="none"/>
                      <a:tailEnd len="sm" w="sm" type="none"/>
                    </a:lnR>
                    <a:lnT cap="flat" cmpd="sng" w="9525">
                      <a:solidFill>
                        <a:srgbClr val="4285F4"/>
                      </a:solidFill>
                      <a:prstDash val="solid"/>
                      <a:round/>
                      <a:headEnd len="sm" w="sm" type="none"/>
                      <a:tailEnd len="sm" w="sm" type="none"/>
                    </a:lnT>
                    <a:lnB cap="flat" cmpd="sng" w="9525">
                      <a:solidFill>
                        <a:srgbClr val="4285F4"/>
                      </a:solidFill>
                      <a:prstDash val="solid"/>
                      <a:round/>
                      <a:headEnd len="sm" w="sm" type="none"/>
                      <a:tailEnd len="sm" w="sm" type="none"/>
                    </a:lnB>
                  </a:tcPr>
                </a:tc>
              </a:tr>
              <a:tr h="497400">
                <a:tc>
                  <a:txBody>
                    <a:bodyPr/>
                    <a:lstStyle/>
                    <a:p>
                      <a:pPr indent="0" lvl="0" marL="0" rtl="0" algn="l">
                        <a:lnSpc>
                          <a:spcPct val="171429"/>
                        </a:lnSpc>
                        <a:spcBef>
                          <a:spcPts val="1100"/>
                        </a:spcBef>
                        <a:spcAft>
                          <a:spcPts val="1100"/>
                        </a:spcAft>
                        <a:buNone/>
                      </a:pPr>
                      <a:r>
                        <a:rPr lang="en-GB" sz="900">
                          <a:latin typeface="Josefin Sans"/>
                          <a:ea typeface="Josefin Sans"/>
                          <a:cs typeface="Josefin Sans"/>
                          <a:sym typeface="Josefin Sans"/>
                        </a:rPr>
                        <a:t>Number of Pedestrians</a:t>
                      </a:r>
                      <a:endParaRPr sz="900">
                        <a:latin typeface="Josefin Sans"/>
                        <a:ea typeface="Josefin Sans"/>
                        <a:cs typeface="Josefin Sans"/>
                        <a:sym typeface="Josefin Sans"/>
                      </a:endParaRPr>
                    </a:p>
                  </a:txBody>
                  <a:tcPr marT="68950" marB="68950" marR="91425" marL="91425" anchor="ctr">
                    <a:lnL cap="flat" cmpd="sng" w="9525">
                      <a:solidFill>
                        <a:srgbClr val="4285F4"/>
                      </a:solidFill>
                      <a:prstDash val="solid"/>
                      <a:round/>
                      <a:headEnd len="sm" w="sm" type="none"/>
                      <a:tailEnd len="sm" w="sm" type="none"/>
                    </a:lnL>
                    <a:lnR cap="flat" cmpd="sng" w="9525">
                      <a:solidFill>
                        <a:srgbClr val="4285F4"/>
                      </a:solidFill>
                      <a:prstDash val="solid"/>
                      <a:round/>
                      <a:headEnd len="sm" w="sm" type="none"/>
                      <a:tailEnd len="sm" w="sm" type="none"/>
                    </a:lnR>
                    <a:lnT cap="flat" cmpd="sng" w="9525">
                      <a:solidFill>
                        <a:srgbClr val="4285F4"/>
                      </a:solidFill>
                      <a:prstDash val="solid"/>
                      <a:round/>
                      <a:headEnd len="sm" w="sm" type="none"/>
                      <a:tailEnd len="sm" w="sm" type="none"/>
                    </a:lnT>
                    <a:lnB cap="flat" cmpd="sng" w="9525">
                      <a:solidFill>
                        <a:srgbClr val="4285F4"/>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00">
                          <a:latin typeface="Josefin Sans"/>
                          <a:ea typeface="Josefin Sans"/>
                          <a:cs typeface="Josefin Sans"/>
                          <a:sym typeface="Josefin Sans"/>
                        </a:rPr>
                        <a:t>Over 1,000 unique pedestrian models</a:t>
                      </a:r>
                      <a:endParaRPr sz="900">
                        <a:latin typeface="Josefin Sans"/>
                        <a:ea typeface="Josefin Sans"/>
                        <a:cs typeface="Josefin Sans"/>
                        <a:sym typeface="Josefin Sans"/>
                      </a:endParaRPr>
                    </a:p>
                  </a:txBody>
                  <a:tcPr marT="68950" marB="68950" marR="91425" marL="91425" anchor="ctr">
                    <a:lnL cap="flat" cmpd="sng" w="9525">
                      <a:solidFill>
                        <a:srgbClr val="4285F4"/>
                      </a:solidFill>
                      <a:prstDash val="solid"/>
                      <a:round/>
                      <a:headEnd len="sm" w="sm" type="none"/>
                      <a:tailEnd len="sm" w="sm" type="none"/>
                    </a:lnL>
                    <a:lnR cap="flat" cmpd="sng" w="9525">
                      <a:solidFill>
                        <a:srgbClr val="4285F4"/>
                      </a:solidFill>
                      <a:prstDash val="solid"/>
                      <a:round/>
                      <a:headEnd len="sm" w="sm" type="none"/>
                      <a:tailEnd len="sm" w="sm" type="none"/>
                    </a:lnR>
                    <a:lnT cap="flat" cmpd="sng" w="9525">
                      <a:solidFill>
                        <a:srgbClr val="4285F4"/>
                      </a:solidFill>
                      <a:prstDash val="solid"/>
                      <a:round/>
                      <a:headEnd len="sm" w="sm" type="none"/>
                      <a:tailEnd len="sm" w="sm" type="none"/>
                    </a:lnT>
                    <a:lnB cap="flat" cmpd="sng" w="9525">
                      <a:solidFill>
                        <a:srgbClr val="4285F4"/>
                      </a:solidFill>
                      <a:prstDash val="solid"/>
                      <a:round/>
                      <a:headEnd len="sm" w="sm" type="none"/>
                      <a:tailEnd len="sm" w="sm" type="none"/>
                    </a:lnB>
                  </a:tcPr>
                </a:tc>
              </a:tr>
              <a:tr h="375900">
                <a:tc>
                  <a:txBody>
                    <a:bodyPr/>
                    <a:lstStyle/>
                    <a:p>
                      <a:pPr indent="0" lvl="0" marL="0" rtl="0" algn="l">
                        <a:lnSpc>
                          <a:spcPct val="171429"/>
                        </a:lnSpc>
                        <a:spcBef>
                          <a:spcPts val="1100"/>
                        </a:spcBef>
                        <a:spcAft>
                          <a:spcPts val="1100"/>
                        </a:spcAft>
                        <a:buNone/>
                      </a:pPr>
                      <a:r>
                        <a:rPr lang="en-GB" sz="900">
                          <a:latin typeface="Josefin Sans"/>
                          <a:ea typeface="Josefin Sans"/>
                          <a:cs typeface="Josefin Sans"/>
                          <a:sym typeface="Josefin Sans"/>
                        </a:rPr>
                        <a:t>Traffic Scenarios</a:t>
                      </a:r>
                      <a:endParaRPr sz="900">
                        <a:latin typeface="Josefin Sans"/>
                        <a:ea typeface="Josefin Sans"/>
                        <a:cs typeface="Josefin Sans"/>
                        <a:sym typeface="Josefin Sans"/>
                      </a:endParaRPr>
                    </a:p>
                  </a:txBody>
                  <a:tcPr marT="68950" marB="68950" marR="91425" marL="91425" anchor="ctr">
                    <a:lnL cap="flat" cmpd="sng" w="9525">
                      <a:solidFill>
                        <a:srgbClr val="4285F4"/>
                      </a:solidFill>
                      <a:prstDash val="solid"/>
                      <a:round/>
                      <a:headEnd len="sm" w="sm" type="none"/>
                      <a:tailEnd len="sm" w="sm" type="none"/>
                    </a:lnL>
                    <a:lnR cap="flat" cmpd="sng" w="9525">
                      <a:solidFill>
                        <a:srgbClr val="4285F4"/>
                      </a:solidFill>
                      <a:prstDash val="solid"/>
                      <a:round/>
                      <a:headEnd len="sm" w="sm" type="none"/>
                      <a:tailEnd len="sm" w="sm" type="none"/>
                    </a:lnR>
                    <a:lnT cap="flat" cmpd="sng" w="9525">
                      <a:solidFill>
                        <a:srgbClr val="4285F4"/>
                      </a:solidFill>
                      <a:prstDash val="solid"/>
                      <a:round/>
                      <a:headEnd len="sm" w="sm" type="none"/>
                      <a:tailEnd len="sm" w="sm" type="none"/>
                    </a:lnT>
                    <a:lnB cap="flat" cmpd="sng" w="9525">
                      <a:solidFill>
                        <a:srgbClr val="4285F4"/>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00">
                          <a:latin typeface="Josefin Sans"/>
                          <a:ea typeface="Josefin Sans"/>
                          <a:cs typeface="Josefin Sans"/>
                          <a:sym typeface="Josefin Sans"/>
                        </a:rPr>
                        <a:t>More than 50 predefined scenarios</a:t>
                      </a:r>
                      <a:endParaRPr sz="900">
                        <a:latin typeface="Josefin Sans"/>
                        <a:ea typeface="Josefin Sans"/>
                        <a:cs typeface="Josefin Sans"/>
                        <a:sym typeface="Josefin Sans"/>
                      </a:endParaRPr>
                    </a:p>
                  </a:txBody>
                  <a:tcPr marT="68950" marB="68950" marR="91425" marL="91425" anchor="ctr">
                    <a:lnL cap="flat" cmpd="sng" w="9525">
                      <a:solidFill>
                        <a:srgbClr val="4285F4"/>
                      </a:solidFill>
                      <a:prstDash val="solid"/>
                      <a:round/>
                      <a:headEnd len="sm" w="sm" type="none"/>
                      <a:tailEnd len="sm" w="sm" type="none"/>
                    </a:lnL>
                    <a:lnR cap="flat" cmpd="sng" w="9525">
                      <a:solidFill>
                        <a:srgbClr val="4285F4"/>
                      </a:solidFill>
                      <a:prstDash val="solid"/>
                      <a:round/>
                      <a:headEnd len="sm" w="sm" type="none"/>
                      <a:tailEnd len="sm" w="sm" type="none"/>
                    </a:lnR>
                    <a:lnT cap="flat" cmpd="sng" w="9525">
                      <a:solidFill>
                        <a:srgbClr val="4285F4"/>
                      </a:solidFill>
                      <a:prstDash val="solid"/>
                      <a:round/>
                      <a:headEnd len="sm" w="sm" type="none"/>
                      <a:tailEnd len="sm" w="sm" type="none"/>
                    </a:lnT>
                    <a:lnB cap="flat" cmpd="sng" w="9525">
                      <a:solidFill>
                        <a:srgbClr val="4285F4"/>
                      </a:solidFill>
                      <a:prstDash val="solid"/>
                      <a:round/>
                      <a:headEnd len="sm" w="sm" type="none"/>
                      <a:tailEnd len="sm" w="sm" type="none"/>
                    </a:lnB>
                  </a:tcPr>
                </a:tc>
              </a:tr>
            </a:tbl>
          </a:graphicData>
        </a:graphic>
      </p:graphicFrame>
      <p:sp>
        <p:nvSpPr>
          <p:cNvPr id="238" name="Google Shape;238;p28"/>
          <p:cNvSpPr txBox="1"/>
          <p:nvPr/>
        </p:nvSpPr>
        <p:spPr>
          <a:xfrm>
            <a:off x="5459425" y="945650"/>
            <a:ext cx="33666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Acceleration Data (X, Y, Z)</a:t>
            </a:r>
            <a:endParaRPr b="1" sz="1200">
              <a:solidFill>
                <a:srgbClr val="FFFFFF"/>
              </a:solidFill>
              <a:latin typeface="Josefin Sans"/>
              <a:ea typeface="Josefin Sans"/>
              <a:cs typeface="Josefin Sans"/>
              <a:sym typeface="Josefin Sans"/>
            </a:endParaRPr>
          </a:p>
        </p:txBody>
      </p:sp>
      <p:sp>
        <p:nvSpPr>
          <p:cNvPr id="239" name="Google Shape;239;p28"/>
          <p:cNvSpPr txBox="1"/>
          <p:nvPr/>
        </p:nvSpPr>
        <p:spPr>
          <a:xfrm>
            <a:off x="5459425" y="1322925"/>
            <a:ext cx="3366600" cy="13032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GB" sz="1100">
                <a:solidFill>
                  <a:schemeClr val="dk1"/>
                </a:solidFill>
                <a:latin typeface="Josefin Sans"/>
                <a:ea typeface="Josefin Sans"/>
                <a:cs typeface="Josefin Sans"/>
                <a:sym typeface="Josefin Sans"/>
              </a:rPr>
              <a:t>Mean (accelX, accelY, accelZ)</a:t>
            </a:r>
            <a:endParaRPr sz="1100">
              <a:solidFill>
                <a:schemeClr val="dk1"/>
              </a:solidFill>
              <a:latin typeface="Josefin Sans"/>
              <a:ea typeface="Josefin Sans"/>
              <a:cs typeface="Josefin Sans"/>
              <a:sym typeface="Josefin Sans"/>
            </a:endParaRPr>
          </a:p>
          <a:p>
            <a:pPr indent="0" lvl="0" marL="0" rtl="0" algn="l">
              <a:lnSpc>
                <a:spcPct val="115000"/>
              </a:lnSpc>
              <a:spcBef>
                <a:spcPts val="1200"/>
              </a:spcBef>
              <a:spcAft>
                <a:spcPts val="0"/>
              </a:spcAft>
              <a:buNone/>
            </a:pPr>
            <a:r>
              <a:rPr lang="en-GB" sz="1100">
                <a:solidFill>
                  <a:schemeClr val="dk1"/>
                </a:solidFill>
                <a:latin typeface="Josefin Sans"/>
                <a:ea typeface="Josefin Sans"/>
                <a:cs typeface="Josefin Sans"/>
                <a:sym typeface="Josefin Sans"/>
              </a:rPr>
              <a:t>0.32, -1.76, 9.61</a:t>
            </a:r>
            <a:endParaRPr sz="1100">
              <a:solidFill>
                <a:schemeClr val="dk1"/>
              </a:solidFill>
              <a:latin typeface="Josefin Sans"/>
              <a:ea typeface="Josefin Sans"/>
              <a:cs typeface="Josefin Sans"/>
              <a:sym typeface="Josefin Sans"/>
            </a:endParaRPr>
          </a:p>
          <a:p>
            <a:pPr indent="0" lvl="0" marL="0" rtl="0" algn="l">
              <a:lnSpc>
                <a:spcPct val="115000"/>
              </a:lnSpc>
              <a:spcBef>
                <a:spcPts val="1200"/>
              </a:spcBef>
              <a:spcAft>
                <a:spcPts val="0"/>
              </a:spcAft>
              <a:buNone/>
            </a:pPr>
            <a:r>
              <a:rPr lang="en-GB" sz="1100">
                <a:solidFill>
                  <a:schemeClr val="dk1"/>
                </a:solidFill>
                <a:latin typeface="Josefin Sans"/>
                <a:ea typeface="Josefin Sans"/>
                <a:cs typeface="Josefin Sans"/>
                <a:sym typeface="Josefin Sans"/>
              </a:rPr>
              <a:t>Standard deviation</a:t>
            </a:r>
            <a:r>
              <a:rPr lang="en-GB" sz="1100">
                <a:solidFill>
                  <a:schemeClr val="dk1"/>
                </a:solidFill>
                <a:latin typeface="Josefin Sans"/>
                <a:ea typeface="Josefin Sans"/>
                <a:cs typeface="Josefin Sans"/>
                <a:sym typeface="Josefin Sans"/>
              </a:rPr>
              <a:t> (accelX, accelY, accelZ)</a:t>
            </a:r>
            <a:endParaRPr sz="1100">
              <a:solidFill>
                <a:schemeClr val="dk1"/>
              </a:solidFill>
              <a:latin typeface="Josefin Sans"/>
              <a:ea typeface="Josefin Sans"/>
              <a:cs typeface="Josefin Sans"/>
              <a:sym typeface="Josefin Sans"/>
            </a:endParaRPr>
          </a:p>
          <a:p>
            <a:pPr indent="0" lvl="0" marL="0" rtl="0" algn="l">
              <a:spcBef>
                <a:spcPts val="1200"/>
              </a:spcBef>
              <a:spcAft>
                <a:spcPts val="0"/>
              </a:spcAft>
              <a:buNone/>
            </a:pPr>
            <a:r>
              <a:rPr lang="en-GB" sz="1100">
                <a:solidFill>
                  <a:schemeClr val="dk1"/>
                </a:solidFill>
                <a:latin typeface="Josefin Sans"/>
                <a:ea typeface="Josefin Sans"/>
                <a:cs typeface="Josefin Sans"/>
                <a:sym typeface="Josefin Sans"/>
              </a:rPr>
              <a:t>3.29, 5.06, 1.75</a:t>
            </a:r>
            <a:endParaRPr sz="1100">
              <a:solidFill>
                <a:schemeClr val="dk1"/>
              </a:solidFill>
              <a:latin typeface="Josefin Sans"/>
              <a:ea typeface="Josefin Sans"/>
              <a:cs typeface="Josefin Sans"/>
              <a:sym typeface="Josefin Sans"/>
            </a:endParaRPr>
          </a:p>
        </p:txBody>
      </p:sp>
      <p:cxnSp>
        <p:nvCxnSpPr>
          <p:cNvPr id="240" name="Google Shape;240;p28"/>
          <p:cNvCxnSpPr/>
          <p:nvPr/>
        </p:nvCxnSpPr>
        <p:spPr>
          <a:xfrm>
            <a:off x="5098550" y="965375"/>
            <a:ext cx="0" cy="3648900"/>
          </a:xfrm>
          <a:prstGeom prst="straightConnector1">
            <a:avLst/>
          </a:prstGeom>
          <a:noFill/>
          <a:ln cap="flat" cmpd="sng" w="9525">
            <a:solidFill>
              <a:srgbClr val="4285F4"/>
            </a:solidFill>
            <a:prstDash val="dash"/>
            <a:round/>
            <a:headEnd len="med" w="med" type="none"/>
            <a:tailEnd len="med" w="med" type="none"/>
          </a:ln>
        </p:spPr>
      </p:cxnSp>
      <p:sp>
        <p:nvSpPr>
          <p:cNvPr id="241" name="Google Shape;241;p28"/>
          <p:cNvSpPr txBox="1"/>
          <p:nvPr/>
        </p:nvSpPr>
        <p:spPr>
          <a:xfrm>
            <a:off x="5459425" y="2871763"/>
            <a:ext cx="33666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Gyroscope</a:t>
            </a:r>
            <a:r>
              <a:rPr b="1" lang="en-GB" sz="1200">
                <a:solidFill>
                  <a:srgbClr val="FFFFFF"/>
                </a:solidFill>
                <a:latin typeface="Josefin Sans"/>
                <a:ea typeface="Josefin Sans"/>
                <a:cs typeface="Josefin Sans"/>
                <a:sym typeface="Josefin Sans"/>
              </a:rPr>
              <a:t> Data (X, Y, Z)</a:t>
            </a:r>
            <a:endParaRPr b="1" sz="1200">
              <a:solidFill>
                <a:srgbClr val="FFFFFF"/>
              </a:solidFill>
              <a:latin typeface="Josefin Sans"/>
              <a:ea typeface="Josefin Sans"/>
              <a:cs typeface="Josefin Sans"/>
              <a:sym typeface="Josefin Sans"/>
            </a:endParaRPr>
          </a:p>
        </p:txBody>
      </p:sp>
      <p:sp>
        <p:nvSpPr>
          <p:cNvPr id="242" name="Google Shape;242;p28"/>
          <p:cNvSpPr txBox="1"/>
          <p:nvPr/>
        </p:nvSpPr>
        <p:spPr>
          <a:xfrm>
            <a:off x="5459425" y="3249048"/>
            <a:ext cx="3366600" cy="13032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latin typeface="Josefin Sans"/>
                <a:ea typeface="Josefin Sans"/>
                <a:cs typeface="Josefin Sans"/>
                <a:sym typeface="Josefin Sans"/>
              </a:rPr>
              <a:t>Mean (gyroX, gyroY, gyroZ)</a:t>
            </a:r>
            <a:endParaRPr sz="1100">
              <a:solidFill>
                <a:schemeClr val="dk1"/>
              </a:solidFill>
              <a:latin typeface="Josefin Sans"/>
              <a:ea typeface="Josefin Sans"/>
              <a:cs typeface="Josefin Sans"/>
              <a:sym typeface="Josefin Sans"/>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latin typeface="Josefin Sans"/>
                <a:ea typeface="Josefin Sans"/>
                <a:cs typeface="Josefin Sans"/>
                <a:sym typeface="Josefin Sans"/>
              </a:rPr>
              <a:t>-0.008, 0.075, -4.62</a:t>
            </a:r>
            <a:endParaRPr sz="1100">
              <a:solidFill>
                <a:schemeClr val="dk1"/>
              </a:solidFill>
              <a:latin typeface="Josefin Sans"/>
              <a:ea typeface="Josefin Sans"/>
              <a:cs typeface="Josefin Sans"/>
              <a:sym typeface="Josefin Sans"/>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latin typeface="Josefin Sans"/>
                <a:ea typeface="Josefin Sans"/>
                <a:cs typeface="Josefin Sans"/>
                <a:sym typeface="Josefin Sans"/>
              </a:rPr>
              <a:t>Standard deviation (gyroX, gyroY, gyroZ)</a:t>
            </a:r>
            <a:endParaRPr sz="1100">
              <a:solidFill>
                <a:schemeClr val="dk1"/>
              </a:solidFill>
              <a:latin typeface="Josefin Sans"/>
              <a:ea typeface="Josefin Sans"/>
              <a:cs typeface="Josefin Sans"/>
              <a:sym typeface="Josefin Sans"/>
            </a:endParaRPr>
          </a:p>
          <a:p>
            <a:pPr indent="0" lvl="0" marL="0" rtl="0" algn="l">
              <a:spcBef>
                <a:spcPts val="1200"/>
              </a:spcBef>
              <a:spcAft>
                <a:spcPts val="0"/>
              </a:spcAft>
              <a:buClr>
                <a:schemeClr val="dk1"/>
              </a:buClr>
              <a:buSzPts val="1100"/>
              <a:buFont typeface="Arial"/>
              <a:buNone/>
            </a:pPr>
            <a:r>
              <a:rPr lang="en-GB" sz="1100">
                <a:solidFill>
                  <a:schemeClr val="dk1"/>
                </a:solidFill>
                <a:latin typeface="Josefin Sans"/>
                <a:ea typeface="Josefin Sans"/>
                <a:cs typeface="Josefin Sans"/>
                <a:sym typeface="Josefin Sans"/>
              </a:rPr>
              <a:t>7.16, 7.31, 16.06</a:t>
            </a:r>
            <a:endParaRPr/>
          </a:p>
        </p:txBody>
      </p:sp>
      <p:pic>
        <p:nvPicPr>
          <p:cNvPr id="243" name="Google Shape;243;p28"/>
          <p:cNvPicPr preferRelativeResize="0"/>
          <p:nvPr/>
        </p:nvPicPr>
        <p:blipFill>
          <a:blip r:embed="rId3">
            <a:alphaModFix/>
          </a:blip>
          <a:stretch>
            <a:fillRect/>
          </a:stretch>
        </p:blipFill>
        <p:spPr>
          <a:xfrm>
            <a:off x="52150" y="-5850"/>
            <a:ext cx="407152" cy="457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9"/>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Statistical deep dive into relevant datasets </a:t>
            </a:r>
            <a:endParaRPr b="1">
              <a:solidFill>
                <a:srgbClr val="FFFFFF"/>
              </a:solidFill>
              <a:latin typeface="Josefin Sans"/>
              <a:ea typeface="Josefin Sans"/>
              <a:cs typeface="Josefin Sans"/>
              <a:sym typeface="Josefin Sans"/>
            </a:endParaRPr>
          </a:p>
        </p:txBody>
      </p:sp>
      <p:sp>
        <p:nvSpPr>
          <p:cNvPr id="249" name="Google Shape;249;p29"/>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CARLA Dataset</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250" name="Google Shape;250;p29"/>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Specific quantitative data and class distribution of CARLA dataset</a:t>
            </a:r>
            <a:endParaRPr sz="1100">
              <a:solidFill>
                <a:srgbClr val="FFFFFF"/>
              </a:solidFill>
              <a:latin typeface="Josefin Sans"/>
              <a:ea typeface="Josefin Sans"/>
              <a:cs typeface="Josefin Sans"/>
              <a:sym typeface="Josefin Sans"/>
            </a:endParaRPr>
          </a:p>
        </p:txBody>
      </p:sp>
      <p:sp>
        <p:nvSpPr>
          <p:cNvPr id="251" name="Google Shape;251;p29"/>
          <p:cNvSpPr txBox="1"/>
          <p:nvPr/>
        </p:nvSpPr>
        <p:spPr>
          <a:xfrm>
            <a:off x="1387025" y="945650"/>
            <a:ext cx="27747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Specific Quantitative Data</a:t>
            </a:r>
            <a:endParaRPr b="1" sz="1200">
              <a:solidFill>
                <a:srgbClr val="FFFFFF"/>
              </a:solidFill>
              <a:latin typeface="Josefin Sans"/>
              <a:ea typeface="Josefin Sans"/>
              <a:cs typeface="Josefin Sans"/>
              <a:sym typeface="Josefin Sans"/>
            </a:endParaRPr>
          </a:p>
        </p:txBody>
      </p:sp>
      <p:cxnSp>
        <p:nvCxnSpPr>
          <p:cNvPr id="252" name="Google Shape;252;p29"/>
          <p:cNvCxnSpPr/>
          <p:nvPr/>
        </p:nvCxnSpPr>
        <p:spPr>
          <a:xfrm>
            <a:off x="5453975" y="965375"/>
            <a:ext cx="0" cy="3648900"/>
          </a:xfrm>
          <a:prstGeom prst="straightConnector1">
            <a:avLst/>
          </a:prstGeom>
          <a:noFill/>
          <a:ln cap="flat" cmpd="sng" w="9525">
            <a:solidFill>
              <a:srgbClr val="4285F4"/>
            </a:solidFill>
            <a:prstDash val="dash"/>
            <a:round/>
            <a:headEnd len="med" w="med" type="none"/>
            <a:tailEnd len="med" w="med" type="none"/>
          </a:ln>
        </p:spPr>
      </p:cxnSp>
      <p:sp>
        <p:nvSpPr>
          <p:cNvPr id="253" name="Google Shape;253;p29"/>
          <p:cNvSpPr txBox="1"/>
          <p:nvPr/>
        </p:nvSpPr>
        <p:spPr>
          <a:xfrm>
            <a:off x="380625" y="1483613"/>
            <a:ext cx="2155200" cy="8562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1500"/>
              </a:spcAft>
              <a:buNone/>
            </a:pPr>
            <a:r>
              <a:rPr lang="en-GB" sz="1100">
                <a:solidFill>
                  <a:schemeClr val="dk1"/>
                </a:solidFill>
                <a:latin typeface="Josefin Sans"/>
                <a:ea typeface="Josefin Sans"/>
                <a:cs typeface="Josefin Sans"/>
                <a:sym typeface="Josefin Sans"/>
              </a:rPr>
              <a:t>Simulated in various urban layouts resembling cities like Los Angeles and San Francisco</a:t>
            </a:r>
            <a:endParaRPr b="1" sz="1100">
              <a:solidFill>
                <a:schemeClr val="dk1"/>
              </a:solidFill>
              <a:latin typeface="Josefin Sans"/>
              <a:ea typeface="Josefin Sans"/>
              <a:cs typeface="Josefin Sans"/>
              <a:sym typeface="Josefin Sans"/>
            </a:endParaRPr>
          </a:p>
        </p:txBody>
      </p:sp>
      <p:sp>
        <p:nvSpPr>
          <p:cNvPr id="254" name="Google Shape;254;p29"/>
          <p:cNvSpPr txBox="1"/>
          <p:nvPr/>
        </p:nvSpPr>
        <p:spPr>
          <a:xfrm>
            <a:off x="380625" y="2677400"/>
            <a:ext cx="2155200" cy="13326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0"/>
              </a:spcAft>
              <a:buNone/>
            </a:pPr>
            <a:r>
              <a:rPr lang="en-GB" sz="1100">
                <a:solidFill>
                  <a:schemeClr val="dk1"/>
                </a:solidFill>
                <a:latin typeface="Josefin Sans"/>
                <a:ea typeface="Josefin Sans"/>
                <a:cs typeface="Josefin Sans"/>
                <a:sym typeface="Josefin Sans"/>
              </a:rPr>
              <a:t>Total Videos: 10,000+</a:t>
            </a:r>
            <a:endParaRPr sz="1100">
              <a:solidFill>
                <a:schemeClr val="dk1"/>
              </a:solidFill>
              <a:latin typeface="Josefin Sans"/>
              <a:ea typeface="Josefin Sans"/>
              <a:cs typeface="Josefin Sans"/>
              <a:sym typeface="Josefin Sans"/>
            </a:endParaRPr>
          </a:p>
          <a:p>
            <a:pPr indent="0" lvl="0" marL="0" rtl="0" algn="ctr">
              <a:lnSpc>
                <a:spcPct val="115000"/>
              </a:lnSpc>
              <a:spcBef>
                <a:spcPts val="1500"/>
              </a:spcBef>
              <a:spcAft>
                <a:spcPts val="0"/>
              </a:spcAft>
              <a:buNone/>
            </a:pPr>
            <a:r>
              <a:rPr lang="en-GB" sz="1100">
                <a:solidFill>
                  <a:schemeClr val="dk1"/>
                </a:solidFill>
                <a:latin typeface="Josefin Sans"/>
                <a:ea typeface="Josefin Sans"/>
                <a:cs typeface="Josefin Sans"/>
                <a:sym typeface="Josefin Sans"/>
              </a:rPr>
              <a:t>Total Frames: 1.5 million+</a:t>
            </a:r>
            <a:endParaRPr sz="1100">
              <a:solidFill>
                <a:schemeClr val="dk1"/>
              </a:solidFill>
              <a:latin typeface="Josefin Sans"/>
              <a:ea typeface="Josefin Sans"/>
              <a:cs typeface="Josefin Sans"/>
              <a:sym typeface="Josefin Sans"/>
            </a:endParaRPr>
          </a:p>
          <a:p>
            <a:pPr indent="0" lvl="0" marL="0" rtl="0" algn="ctr">
              <a:lnSpc>
                <a:spcPct val="115000"/>
              </a:lnSpc>
              <a:spcBef>
                <a:spcPts val="1500"/>
              </a:spcBef>
              <a:spcAft>
                <a:spcPts val="1500"/>
              </a:spcAft>
              <a:buNone/>
            </a:pPr>
            <a:r>
              <a:rPr lang="en-GB" sz="1100">
                <a:solidFill>
                  <a:schemeClr val="dk1"/>
                </a:solidFill>
                <a:latin typeface="Josefin Sans"/>
                <a:ea typeface="Josefin Sans"/>
                <a:cs typeface="Josefin Sans"/>
                <a:sym typeface="Josefin Sans"/>
              </a:rPr>
              <a:t>Average Frames per Video: ~150 frames</a:t>
            </a:r>
            <a:endParaRPr b="1" sz="1100">
              <a:solidFill>
                <a:schemeClr val="dk1"/>
              </a:solidFill>
              <a:latin typeface="Josefin Sans"/>
              <a:ea typeface="Josefin Sans"/>
              <a:cs typeface="Josefin Sans"/>
              <a:sym typeface="Josefin Sans"/>
            </a:endParaRPr>
          </a:p>
        </p:txBody>
      </p:sp>
      <p:sp>
        <p:nvSpPr>
          <p:cNvPr id="255" name="Google Shape;255;p29"/>
          <p:cNvSpPr txBox="1"/>
          <p:nvPr/>
        </p:nvSpPr>
        <p:spPr>
          <a:xfrm>
            <a:off x="2859850" y="1473125"/>
            <a:ext cx="2155200" cy="10248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0"/>
              </a:spcAft>
              <a:buNone/>
            </a:pPr>
            <a:r>
              <a:rPr lang="en-GB" sz="1100">
                <a:solidFill>
                  <a:schemeClr val="dk1"/>
                </a:solidFill>
                <a:latin typeface="Josefin Sans"/>
                <a:ea typeface="Josefin Sans"/>
                <a:cs typeface="Josefin Sans"/>
                <a:sym typeface="Josefin Sans"/>
              </a:rPr>
              <a:t>Total Unique Pedestrians: 1,200+</a:t>
            </a:r>
            <a:endParaRPr sz="1100">
              <a:solidFill>
                <a:schemeClr val="dk1"/>
              </a:solidFill>
              <a:latin typeface="Josefin Sans"/>
              <a:ea typeface="Josefin Sans"/>
              <a:cs typeface="Josefin Sans"/>
              <a:sym typeface="Josefin Sans"/>
            </a:endParaRPr>
          </a:p>
          <a:p>
            <a:pPr indent="0" lvl="0" marL="0" rtl="0" algn="ctr">
              <a:lnSpc>
                <a:spcPct val="115000"/>
              </a:lnSpc>
              <a:spcBef>
                <a:spcPts val="1500"/>
              </a:spcBef>
              <a:spcAft>
                <a:spcPts val="1500"/>
              </a:spcAft>
              <a:buNone/>
            </a:pPr>
            <a:r>
              <a:rPr lang="en-GB" sz="1100">
                <a:solidFill>
                  <a:schemeClr val="dk1"/>
                </a:solidFill>
                <a:latin typeface="Josefin Sans"/>
                <a:ea typeface="Josefin Sans"/>
                <a:cs typeface="Josefin Sans"/>
                <a:sym typeface="Josefin Sans"/>
              </a:rPr>
              <a:t>Average Number of Pedestrians per Scenario: ~20</a:t>
            </a:r>
            <a:endParaRPr b="1" sz="1100">
              <a:solidFill>
                <a:schemeClr val="dk1"/>
              </a:solidFill>
              <a:latin typeface="Josefin Sans"/>
              <a:ea typeface="Josefin Sans"/>
              <a:cs typeface="Josefin Sans"/>
              <a:sym typeface="Josefin Sans"/>
            </a:endParaRPr>
          </a:p>
        </p:txBody>
      </p:sp>
      <p:sp>
        <p:nvSpPr>
          <p:cNvPr id="256" name="Google Shape;256;p29"/>
          <p:cNvSpPr txBox="1"/>
          <p:nvPr/>
        </p:nvSpPr>
        <p:spPr>
          <a:xfrm>
            <a:off x="2859849" y="2677388"/>
            <a:ext cx="2155200" cy="18672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GB" sz="1100">
                <a:solidFill>
                  <a:schemeClr val="dk1"/>
                </a:solidFill>
                <a:latin typeface="Josefin Sans"/>
                <a:ea typeface="Josefin Sans"/>
                <a:cs typeface="Josefin Sans"/>
                <a:sym typeface="Josefin Sans"/>
              </a:rPr>
              <a:t>Sedans: 40%</a:t>
            </a:r>
            <a:endParaRPr sz="11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0"/>
              </a:spcAft>
              <a:buNone/>
            </a:pPr>
            <a:r>
              <a:rPr lang="en-GB" sz="1100">
                <a:solidFill>
                  <a:schemeClr val="dk1"/>
                </a:solidFill>
                <a:latin typeface="Josefin Sans"/>
                <a:ea typeface="Josefin Sans"/>
                <a:cs typeface="Josefin Sans"/>
                <a:sym typeface="Josefin Sans"/>
              </a:rPr>
              <a:t>SUVs: 25%</a:t>
            </a:r>
            <a:endParaRPr sz="11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0"/>
              </a:spcAft>
              <a:buNone/>
            </a:pPr>
            <a:r>
              <a:rPr lang="en-GB" sz="1100">
                <a:solidFill>
                  <a:schemeClr val="dk1"/>
                </a:solidFill>
                <a:latin typeface="Josefin Sans"/>
                <a:ea typeface="Josefin Sans"/>
                <a:cs typeface="Josefin Sans"/>
                <a:sym typeface="Josefin Sans"/>
              </a:rPr>
              <a:t>Trucks: 15%</a:t>
            </a:r>
            <a:endParaRPr sz="11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0"/>
              </a:spcAft>
              <a:buNone/>
            </a:pPr>
            <a:r>
              <a:rPr lang="en-GB" sz="1100">
                <a:solidFill>
                  <a:schemeClr val="dk1"/>
                </a:solidFill>
                <a:latin typeface="Josefin Sans"/>
                <a:ea typeface="Josefin Sans"/>
                <a:cs typeface="Josefin Sans"/>
                <a:sym typeface="Josefin Sans"/>
              </a:rPr>
              <a:t>Buses: 10%</a:t>
            </a:r>
            <a:endParaRPr sz="11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1500"/>
              </a:spcAft>
              <a:buNone/>
            </a:pPr>
            <a:r>
              <a:rPr lang="en-GB" sz="1100">
                <a:solidFill>
                  <a:schemeClr val="dk1"/>
                </a:solidFill>
                <a:latin typeface="Josefin Sans"/>
                <a:ea typeface="Josefin Sans"/>
                <a:cs typeface="Josefin Sans"/>
                <a:sym typeface="Josefin Sans"/>
              </a:rPr>
              <a:t>Motorcycles: 10%</a:t>
            </a:r>
            <a:endParaRPr b="1" sz="1100">
              <a:latin typeface="Josefin Sans"/>
              <a:ea typeface="Josefin Sans"/>
              <a:cs typeface="Josefin Sans"/>
              <a:sym typeface="Josefin Sans"/>
            </a:endParaRPr>
          </a:p>
        </p:txBody>
      </p:sp>
      <p:sp>
        <p:nvSpPr>
          <p:cNvPr id="257" name="Google Shape;257;p29"/>
          <p:cNvSpPr txBox="1"/>
          <p:nvPr/>
        </p:nvSpPr>
        <p:spPr>
          <a:xfrm>
            <a:off x="5952350" y="945650"/>
            <a:ext cx="27747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Class Distribution</a:t>
            </a:r>
            <a:endParaRPr b="1" sz="1200">
              <a:solidFill>
                <a:srgbClr val="FFFFFF"/>
              </a:solidFill>
              <a:latin typeface="Josefin Sans"/>
              <a:ea typeface="Josefin Sans"/>
              <a:cs typeface="Josefin Sans"/>
              <a:sym typeface="Josefin Sans"/>
            </a:endParaRPr>
          </a:p>
        </p:txBody>
      </p:sp>
      <p:sp>
        <p:nvSpPr>
          <p:cNvPr id="258" name="Google Shape;258;p29"/>
          <p:cNvSpPr txBox="1"/>
          <p:nvPr/>
        </p:nvSpPr>
        <p:spPr>
          <a:xfrm>
            <a:off x="5952350" y="1483625"/>
            <a:ext cx="2774700" cy="3534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latin typeface="Josefin Sans"/>
                <a:ea typeface="Josefin Sans"/>
                <a:cs typeface="Josefin Sans"/>
                <a:sym typeface="Josefin Sans"/>
              </a:rPr>
              <a:t>"selin" (18,982 entries)</a:t>
            </a:r>
            <a:endParaRPr sz="1100">
              <a:solidFill>
                <a:srgbClr val="000000"/>
              </a:solidFill>
              <a:latin typeface="Josefin Sans"/>
              <a:ea typeface="Josefin Sans"/>
              <a:cs typeface="Josefin Sans"/>
              <a:sym typeface="Josefin Sans"/>
            </a:endParaRPr>
          </a:p>
        </p:txBody>
      </p:sp>
      <p:sp>
        <p:nvSpPr>
          <p:cNvPr id="259" name="Google Shape;259;p29"/>
          <p:cNvSpPr txBox="1"/>
          <p:nvPr/>
        </p:nvSpPr>
        <p:spPr>
          <a:xfrm>
            <a:off x="5952350" y="1934877"/>
            <a:ext cx="2774700" cy="3534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latin typeface="Josefin Sans"/>
                <a:ea typeface="Josefin Sans"/>
                <a:cs typeface="Josefin Sans"/>
                <a:sym typeface="Josefin Sans"/>
              </a:rPr>
              <a:t>"onder" (15,708 entries)</a:t>
            </a:r>
            <a:r>
              <a:rPr lang="en-GB" sz="1100">
                <a:solidFill>
                  <a:srgbClr val="000000"/>
                </a:solidFill>
                <a:latin typeface="Josefin Sans"/>
                <a:ea typeface="Josefin Sans"/>
                <a:cs typeface="Josefin Sans"/>
                <a:sym typeface="Josefin Sans"/>
              </a:rPr>
              <a:t>                          </a:t>
            </a:r>
            <a:endParaRPr sz="1100">
              <a:solidFill>
                <a:srgbClr val="000000"/>
              </a:solidFill>
              <a:latin typeface="Josefin Sans"/>
              <a:ea typeface="Josefin Sans"/>
              <a:cs typeface="Josefin Sans"/>
              <a:sym typeface="Josefin Sans"/>
            </a:endParaRPr>
          </a:p>
        </p:txBody>
      </p:sp>
      <p:sp>
        <p:nvSpPr>
          <p:cNvPr id="260" name="Google Shape;260;p29"/>
          <p:cNvSpPr txBox="1"/>
          <p:nvPr/>
        </p:nvSpPr>
        <p:spPr>
          <a:xfrm>
            <a:off x="5952350" y="2386128"/>
            <a:ext cx="2774700" cy="3534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latin typeface="Josefin Sans"/>
                <a:ea typeface="Josefin Sans"/>
                <a:cs typeface="Josefin Sans"/>
                <a:sym typeface="Josefin Sans"/>
              </a:rPr>
              <a:t>"apo" (13,738 entries)</a:t>
            </a:r>
            <a:r>
              <a:rPr lang="en-GB" sz="1100">
                <a:solidFill>
                  <a:srgbClr val="000000"/>
                </a:solidFill>
                <a:latin typeface="Josefin Sans"/>
                <a:ea typeface="Josefin Sans"/>
                <a:cs typeface="Josefin Sans"/>
                <a:sym typeface="Josefin Sans"/>
              </a:rPr>
              <a:t>                        </a:t>
            </a:r>
            <a:endParaRPr sz="1100">
              <a:solidFill>
                <a:srgbClr val="000000"/>
              </a:solidFill>
              <a:latin typeface="Josefin Sans"/>
              <a:ea typeface="Josefin Sans"/>
              <a:cs typeface="Josefin Sans"/>
              <a:sym typeface="Josefin Sans"/>
            </a:endParaRPr>
          </a:p>
        </p:txBody>
      </p:sp>
      <p:sp>
        <p:nvSpPr>
          <p:cNvPr id="261" name="Google Shape;261;p29"/>
          <p:cNvSpPr txBox="1"/>
          <p:nvPr/>
        </p:nvSpPr>
        <p:spPr>
          <a:xfrm>
            <a:off x="5952350" y="2837363"/>
            <a:ext cx="2774700" cy="3534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latin typeface="Josefin Sans"/>
                <a:ea typeface="Josefin Sans"/>
                <a:cs typeface="Josefin Sans"/>
                <a:sym typeface="Josefin Sans"/>
              </a:rPr>
              <a:t>"berk" (13,192 entries)</a:t>
            </a:r>
            <a:endParaRPr sz="1100">
              <a:solidFill>
                <a:srgbClr val="000000"/>
              </a:solidFill>
              <a:latin typeface="Josefin Sans"/>
              <a:ea typeface="Josefin Sans"/>
              <a:cs typeface="Josefin Sans"/>
              <a:sym typeface="Josefin Sans"/>
            </a:endParaRPr>
          </a:p>
        </p:txBody>
      </p:sp>
      <p:sp>
        <p:nvSpPr>
          <p:cNvPr id="262" name="Google Shape;262;p29"/>
          <p:cNvSpPr txBox="1"/>
          <p:nvPr/>
        </p:nvSpPr>
        <p:spPr>
          <a:xfrm>
            <a:off x="5952350" y="3288615"/>
            <a:ext cx="2774700" cy="3534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latin typeface="Josefin Sans"/>
                <a:ea typeface="Josefin Sans"/>
                <a:cs typeface="Josefin Sans"/>
                <a:sym typeface="Josefin Sans"/>
              </a:rPr>
              <a:t>"gonca" (12,904 entries)</a:t>
            </a:r>
            <a:r>
              <a:rPr lang="en-GB" sz="1100">
                <a:solidFill>
                  <a:srgbClr val="000000"/>
                </a:solidFill>
                <a:latin typeface="Josefin Sans"/>
                <a:ea typeface="Josefin Sans"/>
                <a:cs typeface="Josefin Sans"/>
                <a:sym typeface="Josefin Sans"/>
              </a:rPr>
              <a:t>                          </a:t>
            </a:r>
            <a:endParaRPr sz="1100">
              <a:solidFill>
                <a:srgbClr val="000000"/>
              </a:solidFill>
              <a:latin typeface="Josefin Sans"/>
              <a:ea typeface="Josefin Sans"/>
              <a:cs typeface="Josefin Sans"/>
              <a:sym typeface="Josefin Sans"/>
            </a:endParaRPr>
          </a:p>
        </p:txBody>
      </p:sp>
      <p:sp>
        <p:nvSpPr>
          <p:cNvPr id="263" name="Google Shape;263;p29"/>
          <p:cNvSpPr txBox="1"/>
          <p:nvPr/>
        </p:nvSpPr>
        <p:spPr>
          <a:xfrm>
            <a:off x="5952350" y="3739866"/>
            <a:ext cx="2774700" cy="3534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latin typeface="Josefin Sans"/>
                <a:ea typeface="Josefin Sans"/>
                <a:cs typeface="Josefin Sans"/>
                <a:sym typeface="Josefin Sans"/>
              </a:rPr>
              <a:t>"hurcan" (12,614 entries)</a:t>
            </a:r>
            <a:r>
              <a:rPr lang="en-GB" sz="1100">
                <a:solidFill>
                  <a:srgbClr val="000000"/>
                </a:solidFill>
                <a:latin typeface="Josefin Sans"/>
                <a:ea typeface="Josefin Sans"/>
                <a:cs typeface="Josefin Sans"/>
                <a:sym typeface="Josefin Sans"/>
              </a:rPr>
              <a:t>                        </a:t>
            </a:r>
            <a:endParaRPr sz="1100">
              <a:solidFill>
                <a:srgbClr val="000000"/>
              </a:solidFill>
              <a:latin typeface="Josefin Sans"/>
              <a:ea typeface="Josefin Sans"/>
              <a:cs typeface="Josefin Sans"/>
              <a:sym typeface="Josefin Sans"/>
            </a:endParaRPr>
          </a:p>
        </p:txBody>
      </p:sp>
      <p:sp>
        <p:nvSpPr>
          <p:cNvPr id="264" name="Google Shape;264;p29"/>
          <p:cNvSpPr txBox="1"/>
          <p:nvPr/>
        </p:nvSpPr>
        <p:spPr>
          <a:xfrm>
            <a:off x="5952350" y="4191112"/>
            <a:ext cx="2774700" cy="3534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lang="en-GB" sz="1100">
                <a:latin typeface="Josefin Sans"/>
                <a:ea typeface="Josefin Sans"/>
                <a:cs typeface="Josefin Sans"/>
                <a:sym typeface="Josefin Sans"/>
              </a:rPr>
              <a:t>"mehdi" (12,220 entries)</a:t>
            </a:r>
            <a:r>
              <a:rPr lang="en-GB" sz="1100">
                <a:solidFill>
                  <a:srgbClr val="000000"/>
                </a:solidFill>
                <a:latin typeface="Josefin Sans"/>
                <a:ea typeface="Josefin Sans"/>
                <a:cs typeface="Josefin Sans"/>
                <a:sym typeface="Josefin Sans"/>
              </a:rPr>
              <a:t>                        </a:t>
            </a:r>
            <a:endParaRPr sz="1100">
              <a:solidFill>
                <a:srgbClr val="000000"/>
              </a:solidFill>
              <a:latin typeface="Josefin Sans"/>
              <a:ea typeface="Josefin Sans"/>
              <a:cs typeface="Josefin Sans"/>
              <a:sym typeface="Josefin Sans"/>
            </a:endParaRPr>
          </a:p>
        </p:txBody>
      </p:sp>
      <p:pic>
        <p:nvPicPr>
          <p:cNvPr id="265" name="Google Shape;265;p29"/>
          <p:cNvPicPr preferRelativeResize="0"/>
          <p:nvPr/>
        </p:nvPicPr>
        <p:blipFill>
          <a:blip r:embed="rId3">
            <a:alphaModFix/>
          </a:blip>
          <a:stretch>
            <a:fillRect/>
          </a:stretch>
        </p:blipFill>
        <p:spPr>
          <a:xfrm>
            <a:off x="52150" y="-5850"/>
            <a:ext cx="407152" cy="457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0"/>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Statistical deep dive into relevant datasets </a:t>
            </a:r>
            <a:endParaRPr b="1">
              <a:solidFill>
                <a:srgbClr val="FFFFFF"/>
              </a:solidFill>
              <a:latin typeface="Josefin Sans"/>
              <a:ea typeface="Josefin Sans"/>
              <a:cs typeface="Josefin Sans"/>
              <a:sym typeface="Josefin Sans"/>
            </a:endParaRPr>
          </a:p>
        </p:txBody>
      </p:sp>
      <p:sp>
        <p:nvSpPr>
          <p:cNvPr id="271" name="Google Shape;271;p30"/>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CARLA Dataset</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272" name="Google Shape;272;p30"/>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An overview of correlation analysis and class-specific actions along X, Y, Z axis</a:t>
            </a:r>
            <a:endParaRPr sz="1100">
              <a:solidFill>
                <a:srgbClr val="FFFFFF"/>
              </a:solidFill>
              <a:latin typeface="Josefin Sans"/>
              <a:ea typeface="Josefin Sans"/>
              <a:cs typeface="Josefin Sans"/>
              <a:sym typeface="Josefin Sans"/>
            </a:endParaRPr>
          </a:p>
        </p:txBody>
      </p:sp>
      <p:sp>
        <p:nvSpPr>
          <p:cNvPr id="273" name="Google Shape;273;p30"/>
          <p:cNvSpPr txBox="1"/>
          <p:nvPr/>
        </p:nvSpPr>
        <p:spPr>
          <a:xfrm>
            <a:off x="3184500" y="935775"/>
            <a:ext cx="27747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Correlation Analysis</a:t>
            </a:r>
            <a:endParaRPr b="1" sz="1200">
              <a:solidFill>
                <a:srgbClr val="FFFFFF"/>
              </a:solidFill>
              <a:latin typeface="Josefin Sans"/>
              <a:ea typeface="Josefin Sans"/>
              <a:cs typeface="Josefin Sans"/>
              <a:sym typeface="Josefin Sans"/>
            </a:endParaRPr>
          </a:p>
        </p:txBody>
      </p:sp>
      <p:sp>
        <p:nvSpPr>
          <p:cNvPr id="274" name="Google Shape;274;p30"/>
          <p:cNvSpPr txBox="1"/>
          <p:nvPr/>
        </p:nvSpPr>
        <p:spPr>
          <a:xfrm>
            <a:off x="3184650" y="2434650"/>
            <a:ext cx="27747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Class-Specific Action</a:t>
            </a:r>
            <a:endParaRPr b="1" sz="1200">
              <a:solidFill>
                <a:srgbClr val="FFFFFF"/>
              </a:solidFill>
              <a:latin typeface="Josefin Sans"/>
              <a:ea typeface="Josefin Sans"/>
              <a:cs typeface="Josefin Sans"/>
              <a:sym typeface="Josefin Sans"/>
            </a:endParaRPr>
          </a:p>
        </p:txBody>
      </p:sp>
      <p:cxnSp>
        <p:nvCxnSpPr>
          <p:cNvPr id="275" name="Google Shape;275;p30"/>
          <p:cNvCxnSpPr/>
          <p:nvPr/>
        </p:nvCxnSpPr>
        <p:spPr>
          <a:xfrm flipH="1" rot="10800000">
            <a:off x="129300" y="2280500"/>
            <a:ext cx="8885100" cy="9900"/>
          </a:xfrm>
          <a:prstGeom prst="straightConnector1">
            <a:avLst/>
          </a:prstGeom>
          <a:noFill/>
          <a:ln cap="flat" cmpd="sng" w="9525">
            <a:solidFill>
              <a:srgbClr val="4285F4"/>
            </a:solidFill>
            <a:prstDash val="dash"/>
            <a:round/>
            <a:headEnd len="med" w="med" type="none"/>
            <a:tailEnd len="med" w="med" type="none"/>
          </a:ln>
        </p:spPr>
      </p:cxnSp>
      <p:sp>
        <p:nvSpPr>
          <p:cNvPr id="276" name="Google Shape;276;p30"/>
          <p:cNvSpPr txBox="1"/>
          <p:nvPr/>
        </p:nvSpPr>
        <p:spPr>
          <a:xfrm>
            <a:off x="415950" y="1302887"/>
            <a:ext cx="8312100" cy="884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1100">
                <a:solidFill>
                  <a:schemeClr val="dk1"/>
                </a:solidFill>
                <a:latin typeface="Josefin Sans"/>
                <a:ea typeface="Josefin Sans"/>
                <a:cs typeface="Josefin Sans"/>
                <a:sym typeface="Josefin Sans"/>
              </a:rPr>
              <a:t> The accelY and gyroZ have a moderate positive correlation (0.68), suggesting that vertical acceleration (accelY) might influence rotational movement along the Z-axis.</a:t>
            </a:r>
            <a:endParaRPr sz="1100">
              <a:solidFill>
                <a:schemeClr val="dk1"/>
              </a:solidFill>
              <a:latin typeface="Josefin Sans"/>
              <a:ea typeface="Josefin Sans"/>
              <a:cs typeface="Josefin Sans"/>
              <a:sym typeface="Josefin Sans"/>
            </a:endParaRPr>
          </a:p>
          <a:p>
            <a:pPr indent="0" lvl="0" marL="0" rtl="0" algn="ctr">
              <a:spcBef>
                <a:spcPts val="0"/>
              </a:spcBef>
              <a:spcAft>
                <a:spcPts val="0"/>
              </a:spcAft>
              <a:buNone/>
            </a:pPr>
            <a:r>
              <a:rPr lang="en-GB" sz="1100">
                <a:solidFill>
                  <a:schemeClr val="dk1"/>
                </a:solidFill>
                <a:latin typeface="Josefin Sans"/>
                <a:ea typeface="Josefin Sans"/>
                <a:cs typeface="Josefin Sans"/>
                <a:sym typeface="Josefin Sans"/>
              </a:rPr>
              <a:t>Overall, acceleration and gyroscope data show low correlations, indicating that these variables may contribute independently to different behavioral patterns.</a:t>
            </a:r>
            <a:endParaRPr sz="1100">
              <a:solidFill>
                <a:schemeClr val="dk1"/>
              </a:solidFill>
              <a:latin typeface="Josefin Sans"/>
              <a:ea typeface="Josefin Sans"/>
              <a:cs typeface="Josefin Sans"/>
              <a:sym typeface="Josefin Sans"/>
            </a:endParaRPr>
          </a:p>
        </p:txBody>
      </p:sp>
      <p:sp>
        <p:nvSpPr>
          <p:cNvPr id="277" name="Google Shape;277;p30"/>
          <p:cNvSpPr txBox="1"/>
          <p:nvPr/>
        </p:nvSpPr>
        <p:spPr>
          <a:xfrm>
            <a:off x="816050" y="2878725"/>
            <a:ext cx="2774700" cy="3534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latin typeface="Josefin Sans"/>
                <a:ea typeface="Josefin Sans"/>
                <a:cs typeface="Josefin Sans"/>
                <a:sym typeface="Josefin Sans"/>
              </a:rPr>
              <a:t>Acceleration (X, Y, Z)</a:t>
            </a:r>
            <a:endParaRPr sz="1100">
              <a:solidFill>
                <a:srgbClr val="000000"/>
              </a:solidFill>
              <a:latin typeface="Josefin Sans"/>
              <a:ea typeface="Josefin Sans"/>
              <a:cs typeface="Josefin Sans"/>
              <a:sym typeface="Josefin Sans"/>
            </a:endParaRPr>
          </a:p>
        </p:txBody>
      </p:sp>
      <p:sp>
        <p:nvSpPr>
          <p:cNvPr id="278" name="Google Shape;278;p30"/>
          <p:cNvSpPr txBox="1"/>
          <p:nvPr/>
        </p:nvSpPr>
        <p:spPr>
          <a:xfrm>
            <a:off x="5269725" y="2878725"/>
            <a:ext cx="2774700" cy="3534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latin typeface="Josefin Sans"/>
                <a:ea typeface="Josefin Sans"/>
                <a:cs typeface="Josefin Sans"/>
                <a:sym typeface="Josefin Sans"/>
              </a:rPr>
              <a:t>Gyroscope</a:t>
            </a:r>
            <a:r>
              <a:rPr lang="en-GB" sz="1100">
                <a:latin typeface="Josefin Sans"/>
                <a:ea typeface="Josefin Sans"/>
                <a:cs typeface="Josefin Sans"/>
                <a:sym typeface="Josefin Sans"/>
              </a:rPr>
              <a:t> (X, Y, Z)</a:t>
            </a:r>
            <a:endParaRPr sz="1100">
              <a:solidFill>
                <a:srgbClr val="000000"/>
              </a:solidFill>
              <a:latin typeface="Josefin Sans"/>
              <a:ea typeface="Josefin Sans"/>
              <a:cs typeface="Josefin Sans"/>
              <a:sym typeface="Josefin Sans"/>
            </a:endParaRPr>
          </a:p>
        </p:txBody>
      </p:sp>
      <p:sp>
        <p:nvSpPr>
          <p:cNvPr id="279" name="Google Shape;279;p30"/>
          <p:cNvSpPr txBox="1"/>
          <p:nvPr/>
        </p:nvSpPr>
        <p:spPr>
          <a:xfrm>
            <a:off x="220850" y="3317050"/>
            <a:ext cx="3965100" cy="1395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0"/>
              </a:spcAft>
              <a:buNone/>
            </a:pPr>
            <a:r>
              <a:rPr lang="en-GB" sz="1000">
                <a:solidFill>
                  <a:schemeClr val="dk1"/>
                </a:solidFill>
                <a:latin typeface="Josefin Sans"/>
                <a:ea typeface="Josefin Sans"/>
                <a:cs typeface="Josefin Sans"/>
                <a:sym typeface="Josefin Sans"/>
              </a:rPr>
              <a:t>Significant outliers exist across classes, with values for accelX, accelY, and accelZ ranging widely, including placeholder-like extremes (-99.9 and 99.9).</a:t>
            </a:r>
            <a:endParaRPr sz="1000">
              <a:solidFill>
                <a:schemeClr val="dk1"/>
              </a:solidFill>
              <a:latin typeface="Josefin Sans"/>
              <a:ea typeface="Josefin Sans"/>
              <a:cs typeface="Josefin Sans"/>
              <a:sym typeface="Josefin Sans"/>
            </a:endParaRPr>
          </a:p>
          <a:p>
            <a:pPr indent="0" lvl="0" marL="0" rtl="0" algn="ctr">
              <a:lnSpc>
                <a:spcPct val="115000"/>
              </a:lnSpc>
              <a:spcBef>
                <a:spcPts val="1200"/>
              </a:spcBef>
              <a:spcAft>
                <a:spcPts val="1200"/>
              </a:spcAft>
              <a:buNone/>
            </a:pPr>
            <a:r>
              <a:rPr lang="en-GB" sz="1000">
                <a:solidFill>
                  <a:schemeClr val="dk1"/>
                </a:solidFill>
                <a:latin typeface="Josefin Sans"/>
                <a:ea typeface="Josefin Sans"/>
                <a:cs typeface="Josefin Sans"/>
                <a:sym typeface="Josefin Sans"/>
              </a:rPr>
              <a:t>Mean acceleration values vary among classes, with "apo" having higher average accelX and lower accelY than most others, suggesting a possibly unique movement associated with this class.</a:t>
            </a:r>
            <a:endParaRPr sz="1000">
              <a:solidFill>
                <a:schemeClr val="dk1"/>
              </a:solidFill>
              <a:latin typeface="Josefin Sans"/>
              <a:ea typeface="Josefin Sans"/>
              <a:cs typeface="Josefin Sans"/>
              <a:sym typeface="Josefin Sans"/>
            </a:endParaRPr>
          </a:p>
        </p:txBody>
      </p:sp>
      <p:sp>
        <p:nvSpPr>
          <p:cNvPr id="280" name="Google Shape;280;p30"/>
          <p:cNvSpPr txBox="1"/>
          <p:nvPr/>
        </p:nvSpPr>
        <p:spPr>
          <a:xfrm>
            <a:off x="4674525" y="3317050"/>
            <a:ext cx="3965100" cy="1395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0"/>
              </a:spcAft>
              <a:buClr>
                <a:schemeClr val="dk1"/>
              </a:buClr>
              <a:buSzPts val="1100"/>
              <a:buFont typeface="Arial"/>
              <a:buNone/>
            </a:pPr>
            <a:r>
              <a:rPr lang="en-GB" sz="1000">
                <a:solidFill>
                  <a:schemeClr val="dk1"/>
                </a:solidFill>
                <a:latin typeface="Josefin Sans"/>
                <a:ea typeface="Josefin Sans"/>
                <a:cs typeface="Josefin Sans"/>
                <a:sym typeface="Josefin Sans"/>
              </a:rPr>
              <a:t>Similarly, gyroscope data also show substantial variance by class. "apo" has the highest variability in gyroscope values, possibly reflecting more dynamic or abrupt rotations.</a:t>
            </a:r>
            <a:endParaRPr sz="1000">
              <a:solidFill>
                <a:schemeClr val="dk1"/>
              </a:solidFill>
              <a:latin typeface="Josefin Sans"/>
              <a:ea typeface="Josefin Sans"/>
              <a:cs typeface="Josefin Sans"/>
              <a:sym typeface="Josefin Sans"/>
            </a:endParaRPr>
          </a:p>
          <a:p>
            <a:pPr indent="0" lvl="0" marL="0" rtl="0" algn="ctr">
              <a:lnSpc>
                <a:spcPct val="115000"/>
              </a:lnSpc>
              <a:spcBef>
                <a:spcPts val="1200"/>
              </a:spcBef>
              <a:spcAft>
                <a:spcPts val="1200"/>
              </a:spcAft>
              <a:buNone/>
            </a:pPr>
            <a:r>
              <a:rPr lang="en-GB" sz="1000">
                <a:solidFill>
                  <a:schemeClr val="dk1"/>
                </a:solidFill>
                <a:latin typeface="Josefin Sans"/>
                <a:ea typeface="Josefin Sans"/>
                <a:cs typeface="Josefin Sans"/>
                <a:sym typeface="Josefin Sans"/>
              </a:rPr>
              <a:t>Classes such as "selin" and "onder" have more constrained gyroscopic data, indicating smoother, possibly more controlled movements.</a:t>
            </a:r>
            <a:endParaRPr sz="1000">
              <a:solidFill>
                <a:schemeClr val="dk1"/>
              </a:solidFill>
              <a:latin typeface="Josefin Sans"/>
              <a:ea typeface="Josefin Sans"/>
              <a:cs typeface="Josefin Sans"/>
              <a:sym typeface="Josefin Sans"/>
            </a:endParaRPr>
          </a:p>
        </p:txBody>
      </p:sp>
      <p:pic>
        <p:nvPicPr>
          <p:cNvPr id="281" name="Google Shape;281;p30"/>
          <p:cNvPicPr preferRelativeResize="0"/>
          <p:nvPr/>
        </p:nvPicPr>
        <p:blipFill>
          <a:blip r:embed="rId3">
            <a:alphaModFix/>
          </a:blip>
          <a:stretch>
            <a:fillRect/>
          </a:stretch>
        </p:blipFill>
        <p:spPr>
          <a:xfrm>
            <a:off x="52150" y="-5850"/>
            <a:ext cx="407152" cy="457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1"/>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Statistical deep dive into relevant datasets </a:t>
            </a:r>
            <a:endParaRPr b="1">
              <a:solidFill>
                <a:srgbClr val="FFFFFF"/>
              </a:solidFill>
              <a:latin typeface="Josefin Sans"/>
              <a:ea typeface="Josefin Sans"/>
              <a:cs typeface="Josefin Sans"/>
              <a:sym typeface="Josefin Sans"/>
            </a:endParaRPr>
          </a:p>
        </p:txBody>
      </p:sp>
      <p:sp>
        <p:nvSpPr>
          <p:cNvPr id="287" name="Google Shape;287;p31"/>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CARLA Dataset</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288" name="Google Shape;288;p31"/>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Josefin Sans"/>
                <a:ea typeface="Josefin Sans"/>
                <a:cs typeface="Josefin Sans"/>
                <a:sym typeface="Josefin Sans"/>
              </a:rPr>
              <a:t>Focus on pedestrian actions and driver responses, utilizing specific indicators derived from the dataset</a:t>
            </a:r>
            <a:endParaRPr sz="1100">
              <a:solidFill>
                <a:schemeClr val="lt1"/>
              </a:solidFill>
              <a:latin typeface="Josefin Sans"/>
              <a:ea typeface="Josefin Sans"/>
              <a:cs typeface="Josefin Sans"/>
              <a:sym typeface="Josefin Sans"/>
            </a:endParaRPr>
          </a:p>
        </p:txBody>
      </p:sp>
      <p:sp>
        <p:nvSpPr>
          <p:cNvPr id="289" name="Google Shape;289;p31"/>
          <p:cNvSpPr txBox="1"/>
          <p:nvPr/>
        </p:nvSpPr>
        <p:spPr>
          <a:xfrm>
            <a:off x="516800" y="965400"/>
            <a:ext cx="3382800" cy="2613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Indicators of </a:t>
            </a:r>
            <a:r>
              <a:rPr b="1" lang="en-GB" sz="1200">
                <a:solidFill>
                  <a:srgbClr val="FFFFFF"/>
                </a:solidFill>
                <a:latin typeface="Josefin Sans"/>
                <a:ea typeface="Josefin Sans"/>
                <a:cs typeface="Josefin Sans"/>
                <a:sym typeface="Josefin Sans"/>
              </a:rPr>
              <a:t>Pedestrian</a:t>
            </a:r>
            <a:r>
              <a:rPr b="1" lang="en-GB" sz="1200">
                <a:solidFill>
                  <a:srgbClr val="FFFFFF"/>
                </a:solidFill>
                <a:latin typeface="Josefin Sans"/>
                <a:ea typeface="Josefin Sans"/>
                <a:cs typeface="Josefin Sans"/>
                <a:sym typeface="Josefin Sans"/>
              </a:rPr>
              <a:t> Actions</a:t>
            </a:r>
            <a:endParaRPr b="1" sz="1200">
              <a:solidFill>
                <a:srgbClr val="FFFFFF"/>
              </a:solidFill>
              <a:latin typeface="Josefin Sans"/>
              <a:ea typeface="Josefin Sans"/>
              <a:cs typeface="Josefin Sans"/>
              <a:sym typeface="Josefin Sans"/>
            </a:endParaRPr>
          </a:p>
        </p:txBody>
      </p:sp>
      <p:sp>
        <p:nvSpPr>
          <p:cNvPr id="290" name="Google Shape;290;p31"/>
          <p:cNvSpPr txBox="1"/>
          <p:nvPr/>
        </p:nvSpPr>
        <p:spPr>
          <a:xfrm>
            <a:off x="4945900" y="965400"/>
            <a:ext cx="33828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Pedestrian Behavior Analysis</a:t>
            </a:r>
            <a:endParaRPr b="1" sz="1200">
              <a:solidFill>
                <a:srgbClr val="FFFFFF"/>
              </a:solidFill>
              <a:latin typeface="Josefin Sans"/>
              <a:ea typeface="Josefin Sans"/>
              <a:cs typeface="Josefin Sans"/>
              <a:sym typeface="Josefin Sans"/>
            </a:endParaRPr>
          </a:p>
        </p:txBody>
      </p:sp>
      <p:cxnSp>
        <p:nvCxnSpPr>
          <p:cNvPr id="291" name="Google Shape;291;p31"/>
          <p:cNvCxnSpPr/>
          <p:nvPr/>
        </p:nvCxnSpPr>
        <p:spPr>
          <a:xfrm>
            <a:off x="4418250" y="946688"/>
            <a:ext cx="9000" cy="3102000"/>
          </a:xfrm>
          <a:prstGeom prst="straightConnector1">
            <a:avLst/>
          </a:prstGeom>
          <a:noFill/>
          <a:ln cap="flat" cmpd="sng" w="9525">
            <a:solidFill>
              <a:srgbClr val="4285F4"/>
            </a:solidFill>
            <a:prstDash val="dash"/>
            <a:round/>
            <a:headEnd len="med" w="med" type="none"/>
            <a:tailEnd len="med" w="med" type="none"/>
          </a:ln>
        </p:spPr>
      </p:cxnSp>
      <p:sp>
        <p:nvSpPr>
          <p:cNvPr id="292" name="Google Shape;292;p31"/>
          <p:cNvSpPr txBox="1"/>
          <p:nvPr/>
        </p:nvSpPr>
        <p:spPr>
          <a:xfrm>
            <a:off x="516800" y="1346225"/>
            <a:ext cx="3382800" cy="11817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0"/>
              </a:spcAft>
              <a:buNone/>
            </a:pPr>
            <a:r>
              <a:rPr b="1" lang="en-GB" sz="1100">
                <a:solidFill>
                  <a:schemeClr val="dk1"/>
                </a:solidFill>
                <a:latin typeface="Josefin Sans"/>
                <a:ea typeface="Josefin Sans"/>
                <a:cs typeface="Josefin Sans"/>
                <a:sym typeface="Josefin Sans"/>
              </a:rPr>
              <a:t>Slower Acceleration:</a:t>
            </a:r>
            <a:endParaRPr b="1" sz="1100">
              <a:solidFill>
                <a:schemeClr val="dk1"/>
              </a:solidFill>
              <a:latin typeface="Josefin Sans"/>
              <a:ea typeface="Josefin Sans"/>
              <a:cs typeface="Josefin Sans"/>
              <a:sym typeface="Josefin Sans"/>
            </a:endParaRPr>
          </a:p>
          <a:p>
            <a:pPr indent="0" lvl="0" marL="0" rtl="0" algn="ctr">
              <a:lnSpc>
                <a:spcPct val="115000"/>
              </a:lnSpc>
              <a:spcBef>
                <a:spcPts val="1500"/>
              </a:spcBef>
              <a:spcAft>
                <a:spcPts val="1500"/>
              </a:spcAft>
              <a:buNone/>
            </a:pPr>
            <a:r>
              <a:rPr lang="en-GB" sz="1100">
                <a:solidFill>
                  <a:schemeClr val="dk1"/>
                </a:solidFill>
                <a:latin typeface="Josefin Sans"/>
                <a:ea typeface="Josefin Sans"/>
                <a:cs typeface="Josefin Sans"/>
                <a:sym typeface="Josefin Sans"/>
              </a:rPr>
              <a:t>A decrease in acceleration values indicating a pedestrian preparing to cross. We will define this as an acceleration (accelX) less than 0.5 m/s².</a:t>
            </a:r>
            <a:endParaRPr sz="1100">
              <a:latin typeface="Josefin Sans"/>
              <a:ea typeface="Josefin Sans"/>
              <a:cs typeface="Josefin Sans"/>
              <a:sym typeface="Josefin Sans"/>
            </a:endParaRPr>
          </a:p>
        </p:txBody>
      </p:sp>
      <p:sp>
        <p:nvSpPr>
          <p:cNvPr id="293" name="Google Shape;293;p31"/>
          <p:cNvSpPr txBox="1"/>
          <p:nvPr/>
        </p:nvSpPr>
        <p:spPr>
          <a:xfrm>
            <a:off x="516800" y="2724248"/>
            <a:ext cx="3382800" cy="13431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0"/>
              </a:spcAft>
              <a:buNone/>
            </a:pPr>
            <a:r>
              <a:rPr b="1" lang="en-GB" sz="1100">
                <a:solidFill>
                  <a:schemeClr val="dk1"/>
                </a:solidFill>
                <a:latin typeface="Josefin Sans"/>
                <a:ea typeface="Josefin Sans"/>
                <a:cs typeface="Josefin Sans"/>
                <a:sym typeface="Josefin Sans"/>
              </a:rPr>
              <a:t>Lateral Gyroscope Movements:</a:t>
            </a:r>
            <a:endParaRPr b="1" sz="1100">
              <a:solidFill>
                <a:schemeClr val="dk1"/>
              </a:solidFill>
              <a:latin typeface="Josefin Sans"/>
              <a:ea typeface="Josefin Sans"/>
              <a:cs typeface="Josefin Sans"/>
              <a:sym typeface="Josefin Sans"/>
            </a:endParaRPr>
          </a:p>
          <a:p>
            <a:pPr indent="0" lvl="0" marL="0" rtl="0" algn="ctr">
              <a:lnSpc>
                <a:spcPct val="115000"/>
              </a:lnSpc>
              <a:spcBef>
                <a:spcPts val="1500"/>
              </a:spcBef>
              <a:spcAft>
                <a:spcPts val="1500"/>
              </a:spcAft>
              <a:buNone/>
            </a:pPr>
            <a:r>
              <a:rPr lang="en-GB" sz="1100">
                <a:solidFill>
                  <a:schemeClr val="dk1"/>
                </a:solidFill>
                <a:latin typeface="Josefin Sans"/>
                <a:ea typeface="Josefin Sans"/>
                <a:cs typeface="Josefin Sans"/>
                <a:sym typeface="Josefin Sans"/>
              </a:rPr>
              <a:t>Significant lateral movements indicating that a pedestrian is looking to the left or right before crossing. This will be defined as an absolute gyroscope reading (gyroY) greater than 0.1 rad/s.</a:t>
            </a:r>
            <a:endParaRPr sz="1100">
              <a:solidFill>
                <a:schemeClr val="dk1"/>
              </a:solidFill>
              <a:latin typeface="Josefin Sans"/>
              <a:ea typeface="Josefin Sans"/>
              <a:cs typeface="Josefin Sans"/>
              <a:sym typeface="Josefin Sans"/>
            </a:endParaRPr>
          </a:p>
        </p:txBody>
      </p:sp>
      <p:sp>
        <p:nvSpPr>
          <p:cNvPr id="294" name="Google Shape;294;p31"/>
          <p:cNvSpPr txBox="1"/>
          <p:nvPr/>
        </p:nvSpPr>
        <p:spPr>
          <a:xfrm>
            <a:off x="491775" y="4213600"/>
            <a:ext cx="7836900" cy="4572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1500"/>
              </a:spcAft>
              <a:buNone/>
            </a:pPr>
            <a:r>
              <a:rPr lang="en-GB" sz="1100">
                <a:solidFill>
                  <a:schemeClr val="dk1"/>
                </a:solidFill>
                <a:latin typeface="Josefin Sans"/>
                <a:ea typeface="Josefin Sans"/>
                <a:cs typeface="Josefin Sans"/>
                <a:sym typeface="Josefin Sans"/>
              </a:rPr>
              <a:t>Approximately 45.37% of pedestrians demonstrated cautious behavior by showing both slower acceleration and lateral gyroscopic movements before crossing.</a:t>
            </a:r>
            <a:endParaRPr sz="1100">
              <a:solidFill>
                <a:schemeClr val="dk1"/>
              </a:solidFill>
              <a:latin typeface="Josefin Sans"/>
              <a:ea typeface="Josefin Sans"/>
              <a:cs typeface="Josefin Sans"/>
              <a:sym typeface="Josefin Sans"/>
            </a:endParaRPr>
          </a:p>
        </p:txBody>
      </p:sp>
      <p:sp>
        <p:nvSpPr>
          <p:cNvPr id="295" name="Google Shape;295;p31"/>
          <p:cNvSpPr txBox="1"/>
          <p:nvPr/>
        </p:nvSpPr>
        <p:spPr>
          <a:xfrm>
            <a:off x="4572000" y="1346225"/>
            <a:ext cx="4086000" cy="27210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298450" lvl="0" marL="457200" rtl="0" algn="l">
              <a:lnSpc>
                <a:spcPct val="100000"/>
              </a:lnSpc>
              <a:spcBef>
                <a:spcPts val="600"/>
              </a:spcBef>
              <a:spcAft>
                <a:spcPts val="0"/>
              </a:spcAft>
              <a:buClr>
                <a:schemeClr val="dk1"/>
              </a:buClr>
              <a:buSzPts val="1100"/>
              <a:buFont typeface="Josefin Sans"/>
              <a:buChar char="●"/>
            </a:pPr>
            <a:r>
              <a:rPr lang="en-GB" sz="1100">
                <a:solidFill>
                  <a:schemeClr val="dk1"/>
                </a:solidFill>
                <a:latin typeface="Josefin Sans"/>
                <a:ea typeface="Josefin Sans"/>
                <a:cs typeface="Josefin Sans"/>
                <a:sym typeface="Josefin Sans"/>
              </a:rPr>
              <a:t>Total number of pedestrian crossings analyzed: 130,000</a:t>
            </a:r>
            <a:endParaRPr sz="1100">
              <a:solidFill>
                <a:schemeClr val="dk1"/>
              </a:solidFill>
              <a:latin typeface="Josefin Sans"/>
              <a:ea typeface="Josefin Sans"/>
              <a:cs typeface="Josefin Sans"/>
              <a:sym typeface="Josefin Sans"/>
            </a:endParaRPr>
          </a:p>
          <a:p>
            <a:pPr indent="-298450" lvl="0" marL="457200" rtl="0" algn="l">
              <a:lnSpc>
                <a:spcPct val="100000"/>
              </a:lnSpc>
              <a:spcBef>
                <a:spcPts val="0"/>
              </a:spcBef>
              <a:spcAft>
                <a:spcPts val="0"/>
              </a:spcAft>
              <a:buClr>
                <a:schemeClr val="dk1"/>
              </a:buClr>
              <a:buSzPts val="1100"/>
              <a:buFont typeface="Josefin Sans"/>
              <a:buChar char="●"/>
            </a:pPr>
            <a:r>
              <a:rPr lang="en-GB" sz="1100">
                <a:solidFill>
                  <a:schemeClr val="dk1"/>
                </a:solidFill>
                <a:latin typeface="Josefin Sans"/>
                <a:ea typeface="Josefin Sans"/>
                <a:cs typeface="Josefin Sans"/>
                <a:sym typeface="Josefin Sans"/>
              </a:rPr>
              <a:t>Number of pedestrians with slower acceleration (accelX &lt; 0.5 m/s²): 98,781,</a:t>
            </a:r>
            <a:endParaRPr sz="1100">
              <a:solidFill>
                <a:schemeClr val="dk1"/>
              </a:solidFill>
              <a:latin typeface="Josefin Sans"/>
              <a:ea typeface="Josefin Sans"/>
              <a:cs typeface="Josefin Sans"/>
              <a:sym typeface="Josefin Sans"/>
            </a:endParaRPr>
          </a:p>
          <a:p>
            <a:pPr indent="-298450" lvl="0" marL="457200" rtl="0" algn="l">
              <a:lnSpc>
                <a:spcPct val="100000"/>
              </a:lnSpc>
              <a:spcBef>
                <a:spcPts val="0"/>
              </a:spcBef>
              <a:spcAft>
                <a:spcPts val="0"/>
              </a:spcAft>
              <a:buClr>
                <a:schemeClr val="dk1"/>
              </a:buClr>
              <a:buSzPts val="1100"/>
              <a:buFont typeface="Josefin Sans"/>
              <a:buChar char="●"/>
            </a:pPr>
            <a:r>
              <a:rPr lang="en-GB" sz="1100">
                <a:solidFill>
                  <a:schemeClr val="dk1"/>
                </a:solidFill>
                <a:latin typeface="Josefin Sans"/>
                <a:ea typeface="Josefin Sans"/>
                <a:cs typeface="Josefin Sans"/>
                <a:sym typeface="Josefin Sans"/>
              </a:rPr>
              <a:t>Number of pedestrians with significant lateral gyroscope movement (|gyroY| &gt; 0.1 rad/s): 79,946</a:t>
            </a:r>
            <a:endParaRPr sz="1100">
              <a:solidFill>
                <a:schemeClr val="dk1"/>
              </a:solidFill>
              <a:latin typeface="Josefin Sans"/>
              <a:ea typeface="Josefin Sans"/>
              <a:cs typeface="Josefin Sans"/>
              <a:sym typeface="Josefin Sans"/>
            </a:endParaRPr>
          </a:p>
          <a:p>
            <a:pPr indent="-298450" lvl="0" marL="457200" rtl="0" algn="l">
              <a:lnSpc>
                <a:spcPct val="100000"/>
              </a:lnSpc>
              <a:spcBef>
                <a:spcPts val="0"/>
              </a:spcBef>
              <a:spcAft>
                <a:spcPts val="0"/>
              </a:spcAft>
              <a:buClr>
                <a:schemeClr val="dk1"/>
              </a:buClr>
              <a:buSzPts val="1100"/>
              <a:buFont typeface="Josefin Sans"/>
              <a:buChar char="●"/>
            </a:pPr>
            <a:r>
              <a:rPr lang="en-GB" sz="1100">
                <a:solidFill>
                  <a:schemeClr val="dk1"/>
                </a:solidFill>
                <a:latin typeface="Josefin Sans"/>
                <a:ea typeface="Josefin Sans"/>
                <a:cs typeface="Josefin Sans"/>
                <a:sym typeface="Josefin Sans"/>
              </a:rPr>
              <a:t>Number of pedestrians exhibiting both indicators: 58,993</a:t>
            </a:r>
            <a:endParaRPr sz="1100">
              <a:solidFill>
                <a:schemeClr val="dk1"/>
              </a:solidFill>
              <a:latin typeface="Josefin Sans"/>
              <a:ea typeface="Josefin Sans"/>
              <a:cs typeface="Josefin Sans"/>
              <a:sym typeface="Josefin Sans"/>
            </a:endParaRPr>
          </a:p>
          <a:p>
            <a:pPr indent="0" lvl="0" marL="0" rtl="0" algn="l">
              <a:lnSpc>
                <a:spcPct val="100000"/>
              </a:lnSpc>
              <a:spcBef>
                <a:spcPts val="600"/>
              </a:spcBef>
              <a:spcAft>
                <a:spcPts val="0"/>
              </a:spcAft>
              <a:buNone/>
            </a:pPr>
            <a:r>
              <a:t/>
            </a:r>
            <a:endParaRPr sz="1100">
              <a:solidFill>
                <a:schemeClr val="dk1"/>
              </a:solidFill>
              <a:latin typeface="Josefin Sans"/>
              <a:ea typeface="Josefin Sans"/>
              <a:cs typeface="Josefin Sans"/>
              <a:sym typeface="Josefin Sans"/>
            </a:endParaRPr>
          </a:p>
          <a:p>
            <a:pPr indent="0" lvl="0" marL="0" rtl="0" algn="l">
              <a:lnSpc>
                <a:spcPct val="100000"/>
              </a:lnSpc>
              <a:spcBef>
                <a:spcPts val="600"/>
              </a:spcBef>
              <a:spcAft>
                <a:spcPts val="0"/>
              </a:spcAft>
              <a:buNone/>
            </a:pPr>
            <a:r>
              <a:rPr lang="en-GB" sz="1100">
                <a:solidFill>
                  <a:schemeClr val="dk1"/>
                </a:solidFill>
                <a:latin typeface="Josefin Sans"/>
                <a:ea typeface="Josefin Sans"/>
                <a:cs typeface="Josefin Sans"/>
                <a:sym typeface="Josefin Sans"/>
              </a:rPr>
              <a:t>Percentage calculation:</a:t>
            </a:r>
            <a:endParaRPr sz="1100">
              <a:solidFill>
                <a:schemeClr val="dk1"/>
              </a:solidFill>
              <a:latin typeface="Josefin Sans"/>
              <a:ea typeface="Josefin Sans"/>
              <a:cs typeface="Josefin Sans"/>
              <a:sym typeface="Josefin Sans"/>
            </a:endParaRPr>
          </a:p>
          <a:p>
            <a:pPr indent="0" lvl="0" marL="0" rtl="0" algn="l">
              <a:lnSpc>
                <a:spcPct val="100000"/>
              </a:lnSpc>
              <a:spcBef>
                <a:spcPts val="600"/>
              </a:spcBef>
              <a:spcAft>
                <a:spcPts val="0"/>
              </a:spcAft>
              <a:buNone/>
            </a:pPr>
            <a:r>
              <a:rPr lang="en-GB" sz="1100">
                <a:solidFill>
                  <a:schemeClr val="dk1"/>
                </a:solidFill>
                <a:latin typeface="Josefin Sans"/>
                <a:ea typeface="Josefin Sans"/>
                <a:cs typeface="Josefin Sans"/>
                <a:sym typeface="Josefin Sans"/>
              </a:rPr>
              <a:t>Percentage of cautious pedestrians: (58,993/130,000) x 100%</a:t>
            </a:r>
            <a:endParaRPr sz="1100">
              <a:solidFill>
                <a:schemeClr val="dk1"/>
              </a:solidFill>
              <a:latin typeface="Josefin Sans"/>
              <a:ea typeface="Josefin Sans"/>
              <a:cs typeface="Josefin Sans"/>
              <a:sym typeface="Josefin Sans"/>
            </a:endParaRPr>
          </a:p>
          <a:p>
            <a:pPr indent="0" lvl="0" marL="0" rtl="0" algn="l">
              <a:lnSpc>
                <a:spcPct val="100000"/>
              </a:lnSpc>
              <a:spcBef>
                <a:spcPts val="600"/>
              </a:spcBef>
              <a:spcAft>
                <a:spcPts val="0"/>
              </a:spcAft>
              <a:buNone/>
            </a:pPr>
            <a:r>
              <a:rPr lang="en-GB" sz="1100">
                <a:solidFill>
                  <a:schemeClr val="dk1"/>
                </a:solidFill>
                <a:latin typeface="Josefin Sans"/>
                <a:ea typeface="Josefin Sans"/>
                <a:cs typeface="Josefin Sans"/>
                <a:sym typeface="Josefin Sans"/>
              </a:rPr>
              <a:t>= </a:t>
            </a:r>
            <a:r>
              <a:rPr b="1" lang="en-GB" sz="1100">
                <a:solidFill>
                  <a:schemeClr val="dk1"/>
                </a:solidFill>
                <a:latin typeface="Josefin Sans"/>
                <a:ea typeface="Josefin Sans"/>
                <a:cs typeface="Josefin Sans"/>
                <a:sym typeface="Josefin Sans"/>
              </a:rPr>
              <a:t>45.37%</a:t>
            </a:r>
            <a:endParaRPr b="1" sz="1100">
              <a:solidFill>
                <a:schemeClr val="dk1"/>
              </a:solidFill>
              <a:latin typeface="Josefin Sans"/>
              <a:ea typeface="Josefin Sans"/>
              <a:cs typeface="Josefin Sans"/>
              <a:sym typeface="Josefin Sans"/>
            </a:endParaRPr>
          </a:p>
          <a:p>
            <a:pPr indent="0" lvl="0" marL="0" rtl="0" algn="l">
              <a:lnSpc>
                <a:spcPct val="100000"/>
              </a:lnSpc>
              <a:spcBef>
                <a:spcPts val="1500"/>
              </a:spcBef>
              <a:spcAft>
                <a:spcPts val="1500"/>
              </a:spcAft>
              <a:buNone/>
            </a:pPr>
            <a:r>
              <a:t/>
            </a:r>
            <a:endParaRPr b="1" sz="1100">
              <a:latin typeface="Josefin Sans"/>
              <a:ea typeface="Josefin Sans"/>
              <a:cs typeface="Josefin Sans"/>
              <a:sym typeface="Josefin Sans"/>
            </a:endParaRPr>
          </a:p>
        </p:txBody>
      </p:sp>
      <p:pic>
        <p:nvPicPr>
          <p:cNvPr id="296" name="Google Shape;296;p31"/>
          <p:cNvPicPr preferRelativeResize="0"/>
          <p:nvPr/>
        </p:nvPicPr>
        <p:blipFill>
          <a:blip r:embed="rId3">
            <a:alphaModFix/>
          </a:blip>
          <a:stretch>
            <a:fillRect/>
          </a:stretch>
        </p:blipFill>
        <p:spPr>
          <a:xfrm>
            <a:off x="52150" y="-5850"/>
            <a:ext cx="407152" cy="457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2"/>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Josefin Sans"/>
                <a:ea typeface="Josefin Sans"/>
                <a:cs typeface="Josefin Sans"/>
                <a:sym typeface="Josefin Sans"/>
              </a:rPr>
              <a:t>Statistical deep dive into relevant datasets </a:t>
            </a:r>
            <a:endParaRPr b="1">
              <a:solidFill>
                <a:srgbClr val="FFFFFF"/>
              </a:solidFill>
              <a:latin typeface="Josefin Sans"/>
              <a:ea typeface="Josefin Sans"/>
              <a:cs typeface="Josefin Sans"/>
              <a:sym typeface="Josefin Sans"/>
            </a:endParaRPr>
          </a:p>
        </p:txBody>
      </p:sp>
      <p:sp>
        <p:nvSpPr>
          <p:cNvPr id="302" name="Google Shape;302;p32"/>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CARLA Dataset</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303" name="Google Shape;303;p32"/>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Josefin Sans"/>
                <a:ea typeface="Josefin Sans"/>
                <a:cs typeface="Josefin Sans"/>
                <a:sym typeface="Josefin Sans"/>
              </a:rPr>
              <a:t>Focus on pedestrian actions and driver responses, utilizing specific indicators derived from the dataset</a:t>
            </a:r>
            <a:endParaRPr sz="1100">
              <a:solidFill>
                <a:srgbClr val="FFFFFF"/>
              </a:solidFill>
              <a:latin typeface="Josefin Sans"/>
              <a:ea typeface="Josefin Sans"/>
              <a:cs typeface="Josefin Sans"/>
              <a:sym typeface="Josefin Sans"/>
            </a:endParaRPr>
          </a:p>
        </p:txBody>
      </p:sp>
      <p:sp>
        <p:nvSpPr>
          <p:cNvPr id="304" name="Google Shape;304;p32"/>
          <p:cNvSpPr txBox="1"/>
          <p:nvPr/>
        </p:nvSpPr>
        <p:spPr>
          <a:xfrm>
            <a:off x="444250" y="965400"/>
            <a:ext cx="37812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Indicators of Driver Response to Pedestrians</a:t>
            </a:r>
            <a:endParaRPr b="1" sz="1200">
              <a:solidFill>
                <a:srgbClr val="FFFFFF"/>
              </a:solidFill>
              <a:latin typeface="Josefin Sans"/>
              <a:ea typeface="Josefin Sans"/>
              <a:cs typeface="Josefin Sans"/>
              <a:sym typeface="Josefin Sans"/>
            </a:endParaRPr>
          </a:p>
        </p:txBody>
      </p:sp>
      <p:sp>
        <p:nvSpPr>
          <p:cNvPr id="305" name="Google Shape;305;p32"/>
          <p:cNvSpPr txBox="1"/>
          <p:nvPr/>
        </p:nvSpPr>
        <p:spPr>
          <a:xfrm>
            <a:off x="4945750" y="965400"/>
            <a:ext cx="37086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Driver</a:t>
            </a:r>
            <a:r>
              <a:rPr b="1" lang="en-GB" sz="1200">
                <a:solidFill>
                  <a:srgbClr val="FFFFFF"/>
                </a:solidFill>
                <a:latin typeface="Josefin Sans"/>
                <a:ea typeface="Josefin Sans"/>
                <a:cs typeface="Josefin Sans"/>
                <a:sym typeface="Josefin Sans"/>
              </a:rPr>
              <a:t> Behavior Analysis</a:t>
            </a:r>
            <a:endParaRPr b="1" sz="1200">
              <a:solidFill>
                <a:srgbClr val="FFFFFF"/>
              </a:solidFill>
              <a:latin typeface="Josefin Sans"/>
              <a:ea typeface="Josefin Sans"/>
              <a:cs typeface="Josefin Sans"/>
              <a:sym typeface="Josefin Sans"/>
            </a:endParaRPr>
          </a:p>
        </p:txBody>
      </p:sp>
      <p:cxnSp>
        <p:nvCxnSpPr>
          <p:cNvPr id="306" name="Google Shape;306;p32"/>
          <p:cNvCxnSpPr/>
          <p:nvPr/>
        </p:nvCxnSpPr>
        <p:spPr>
          <a:xfrm>
            <a:off x="4571850" y="965375"/>
            <a:ext cx="9000" cy="3102000"/>
          </a:xfrm>
          <a:prstGeom prst="straightConnector1">
            <a:avLst/>
          </a:prstGeom>
          <a:noFill/>
          <a:ln cap="flat" cmpd="sng" w="9525">
            <a:solidFill>
              <a:srgbClr val="4285F4"/>
            </a:solidFill>
            <a:prstDash val="dash"/>
            <a:round/>
            <a:headEnd len="med" w="med" type="none"/>
            <a:tailEnd len="med" w="med" type="none"/>
          </a:ln>
        </p:spPr>
      </p:cxnSp>
      <p:sp>
        <p:nvSpPr>
          <p:cNvPr id="307" name="Google Shape;307;p32"/>
          <p:cNvSpPr txBox="1"/>
          <p:nvPr/>
        </p:nvSpPr>
        <p:spPr>
          <a:xfrm>
            <a:off x="444200" y="1346225"/>
            <a:ext cx="3781200" cy="11817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0"/>
              </a:spcAft>
              <a:buNone/>
            </a:pPr>
            <a:r>
              <a:rPr b="1" lang="en-GB" sz="1100">
                <a:solidFill>
                  <a:schemeClr val="dk1"/>
                </a:solidFill>
                <a:latin typeface="Josefin Sans"/>
                <a:ea typeface="Josefin Sans"/>
                <a:cs typeface="Josefin Sans"/>
                <a:sym typeface="Josefin Sans"/>
              </a:rPr>
              <a:t>Deceleration:</a:t>
            </a:r>
            <a:endParaRPr b="1" sz="1100">
              <a:solidFill>
                <a:schemeClr val="dk1"/>
              </a:solidFill>
              <a:latin typeface="Josefin Sans"/>
              <a:ea typeface="Josefin Sans"/>
              <a:cs typeface="Josefin Sans"/>
              <a:sym typeface="Josefin Sans"/>
            </a:endParaRPr>
          </a:p>
          <a:p>
            <a:pPr indent="0" lvl="0" marL="0" rtl="0" algn="ctr">
              <a:lnSpc>
                <a:spcPct val="115000"/>
              </a:lnSpc>
              <a:spcBef>
                <a:spcPts val="1500"/>
              </a:spcBef>
              <a:spcAft>
                <a:spcPts val="1500"/>
              </a:spcAft>
              <a:buNone/>
            </a:pPr>
            <a:r>
              <a:rPr lang="en-GB" sz="1100">
                <a:solidFill>
                  <a:schemeClr val="dk1"/>
                </a:solidFill>
                <a:latin typeface="Josefin Sans"/>
                <a:ea typeface="Josefin Sans"/>
                <a:cs typeface="Josefin Sans"/>
                <a:sym typeface="Josefin Sans"/>
              </a:rPr>
              <a:t>A negative acceleration value in the X-axis (accelX &lt; -0.5 m/s²) indicating that the vehicle is slowing down.</a:t>
            </a:r>
            <a:endParaRPr sz="1100">
              <a:latin typeface="Josefin Sans"/>
              <a:ea typeface="Josefin Sans"/>
              <a:cs typeface="Josefin Sans"/>
              <a:sym typeface="Josefin Sans"/>
            </a:endParaRPr>
          </a:p>
        </p:txBody>
      </p:sp>
      <p:sp>
        <p:nvSpPr>
          <p:cNvPr id="308" name="Google Shape;308;p32"/>
          <p:cNvSpPr txBox="1"/>
          <p:nvPr/>
        </p:nvSpPr>
        <p:spPr>
          <a:xfrm>
            <a:off x="444200" y="2724249"/>
            <a:ext cx="3781200" cy="13431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0"/>
              </a:spcAft>
              <a:buNone/>
            </a:pPr>
            <a:r>
              <a:rPr b="1" lang="en-GB" sz="1100">
                <a:solidFill>
                  <a:schemeClr val="dk1"/>
                </a:solidFill>
                <a:latin typeface="Josefin Sans"/>
                <a:ea typeface="Josefin Sans"/>
                <a:cs typeface="Josefin Sans"/>
                <a:sym typeface="Josefin Sans"/>
              </a:rPr>
              <a:t>Minimal Gyroscope Movement:</a:t>
            </a:r>
            <a:endParaRPr b="1" sz="1100">
              <a:solidFill>
                <a:schemeClr val="dk1"/>
              </a:solidFill>
              <a:latin typeface="Josefin Sans"/>
              <a:ea typeface="Josefin Sans"/>
              <a:cs typeface="Josefin Sans"/>
              <a:sym typeface="Josefin Sans"/>
            </a:endParaRPr>
          </a:p>
          <a:p>
            <a:pPr indent="0" lvl="0" marL="0" rtl="0" algn="ctr">
              <a:lnSpc>
                <a:spcPct val="115000"/>
              </a:lnSpc>
              <a:spcBef>
                <a:spcPts val="1500"/>
              </a:spcBef>
              <a:spcAft>
                <a:spcPts val="1500"/>
              </a:spcAft>
              <a:buNone/>
            </a:pPr>
            <a:r>
              <a:rPr lang="en-GB" sz="1100">
                <a:solidFill>
                  <a:schemeClr val="dk1"/>
                </a:solidFill>
                <a:latin typeface="Josefin Sans"/>
                <a:ea typeface="Josefin Sans"/>
                <a:cs typeface="Josefin Sans"/>
                <a:sym typeface="Josefin Sans"/>
              </a:rPr>
              <a:t>Minimal changes in gyroscopic readings (absolute values of gyroX and gyroY &lt; 0.1 rad/s), suggesting that the driver is not turning but rather reducing speed.</a:t>
            </a:r>
            <a:endParaRPr sz="1100">
              <a:solidFill>
                <a:schemeClr val="dk1"/>
              </a:solidFill>
              <a:latin typeface="Josefin Sans"/>
              <a:ea typeface="Josefin Sans"/>
              <a:cs typeface="Josefin Sans"/>
              <a:sym typeface="Josefin Sans"/>
            </a:endParaRPr>
          </a:p>
        </p:txBody>
      </p:sp>
      <p:sp>
        <p:nvSpPr>
          <p:cNvPr id="309" name="Google Shape;309;p32"/>
          <p:cNvSpPr txBox="1"/>
          <p:nvPr/>
        </p:nvSpPr>
        <p:spPr>
          <a:xfrm>
            <a:off x="490650" y="4204025"/>
            <a:ext cx="8162700" cy="4572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1500"/>
              </a:spcAft>
              <a:buNone/>
            </a:pPr>
            <a:r>
              <a:rPr lang="en-GB" sz="1100">
                <a:solidFill>
                  <a:schemeClr val="dk1"/>
                </a:solidFill>
                <a:latin typeface="Josefin Sans"/>
                <a:ea typeface="Josefin Sans"/>
                <a:cs typeface="Josefin Sans"/>
                <a:sym typeface="Josefin Sans"/>
              </a:rPr>
              <a:t>Approximately 55.38% of drivers exhibited responsible behavior by decelerating and maintaining minimal gyroscopic movement when approaching pedestrians.</a:t>
            </a:r>
            <a:endParaRPr sz="1100">
              <a:solidFill>
                <a:schemeClr val="dk1"/>
              </a:solidFill>
              <a:latin typeface="Josefin Sans"/>
              <a:ea typeface="Josefin Sans"/>
              <a:cs typeface="Josefin Sans"/>
              <a:sym typeface="Josefin Sans"/>
            </a:endParaRPr>
          </a:p>
        </p:txBody>
      </p:sp>
      <p:sp>
        <p:nvSpPr>
          <p:cNvPr id="310" name="Google Shape;310;p32"/>
          <p:cNvSpPr txBox="1"/>
          <p:nvPr/>
        </p:nvSpPr>
        <p:spPr>
          <a:xfrm>
            <a:off x="4949400" y="1346225"/>
            <a:ext cx="3708600" cy="27210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298450" lvl="0" marL="457200" rtl="0" algn="l">
              <a:spcBef>
                <a:spcPts val="600"/>
              </a:spcBef>
              <a:spcAft>
                <a:spcPts val="0"/>
              </a:spcAft>
              <a:buClr>
                <a:schemeClr val="dk1"/>
              </a:buClr>
              <a:buSzPts val="1100"/>
              <a:buFont typeface="Josefin Sans"/>
              <a:buChar char="●"/>
            </a:pPr>
            <a:r>
              <a:rPr lang="en-GB" sz="1100">
                <a:solidFill>
                  <a:schemeClr val="dk1"/>
                </a:solidFill>
                <a:latin typeface="Josefin Sans"/>
                <a:ea typeface="Josefin Sans"/>
                <a:cs typeface="Josefin Sans"/>
                <a:sym typeface="Josefin Sans"/>
              </a:rPr>
              <a:t>Total number of driver encounters with pedestrians analyzed: 65,000</a:t>
            </a:r>
            <a:endParaRPr sz="1100">
              <a:solidFill>
                <a:schemeClr val="dk1"/>
              </a:solidFill>
              <a:latin typeface="Josefin Sans"/>
              <a:ea typeface="Josefin Sans"/>
              <a:cs typeface="Josefin Sans"/>
              <a:sym typeface="Josefin Sans"/>
            </a:endParaRPr>
          </a:p>
          <a:p>
            <a:pPr indent="-298450" lvl="0" marL="457200" rtl="0" algn="l">
              <a:lnSpc>
                <a:spcPct val="100000"/>
              </a:lnSpc>
              <a:spcBef>
                <a:spcPts val="0"/>
              </a:spcBef>
              <a:spcAft>
                <a:spcPts val="0"/>
              </a:spcAft>
              <a:buClr>
                <a:schemeClr val="dk1"/>
              </a:buClr>
              <a:buSzPts val="1100"/>
              <a:buFont typeface="Josefin Sans"/>
              <a:buChar char="●"/>
            </a:pPr>
            <a:r>
              <a:rPr lang="en-GB" sz="1100">
                <a:solidFill>
                  <a:schemeClr val="dk1"/>
                </a:solidFill>
                <a:latin typeface="Josefin Sans"/>
                <a:ea typeface="Josefin Sans"/>
                <a:cs typeface="Josefin Sans"/>
                <a:sym typeface="Josefin Sans"/>
              </a:rPr>
              <a:t>Number of drivers exhibiting deceleration (accelX &lt; -0.5 m/s²): 45,251</a:t>
            </a:r>
            <a:endParaRPr sz="1100">
              <a:solidFill>
                <a:schemeClr val="dk1"/>
              </a:solidFill>
              <a:latin typeface="Josefin Sans"/>
              <a:ea typeface="Josefin Sans"/>
              <a:cs typeface="Josefin Sans"/>
              <a:sym typeface="Josefin Sans"/>
            </a:endParaRPr>
          </a:p>
          <a:p>
            <a:pPr indent="-298450" lvl="0" marL="457200" rtl="0" algn="l">
              <a:lnSpc>
                <a:spcPct val="100000"/>
              </a:lnSpc>
              <a:spcBef>
                <a:spcPts val="0"/>
              </a:spcBef>
              <a:spcAft>
                <a:spcPts val="0"/>
              </a:spcAft>
              <a:buClr>
                <a:schemeClr val="dk1"/>
              </a:buClr>
              <a:buSzPts val="1100"/>
              <a:buFont typeface="Josefin Sans"/>
              <a:buChar char="●"/>
            </a:pPr>
            <a:r>
              <a:rPr lang="en-GB" sz="1100">
                <a:solidFill>
                  <a:schemeClr val="dk1"/>
                </a:solidFill>
                <a:latin typeface="Josefin Sans"/>
                <a:ea typeface="Josefin Sans"/>
                <a:cs typeface="Josefin Sans"/>
                <a:sym typeface="Josefin Sans"/>
              </a:rPr>
              <a:t>Number of drivers with minimal gyroscopic movement (|gyroX| and |gyroY| &lt; 0.1 rad/s): 40,076</a:t>
            </a:r>
            <a:endParaRPr sz="1100">
              <a:solidFill>
                <a:schemeClr val="dk1"/>
              </a:solidFill>
              <a:latin typeface="Josefin Sans"/>
              <a:ea typeface="Josefin Sans"/>
              <a:cs typeface="Josefin Sans"/>
              <a:sym typeface="Josefin Sans"/>
            </a:endParaRPr>
          </a:p>
          <a:p>
            <a:pPr indent="-298450" lvl="0" marL="457200" rtl="0" algn="l">
              <a:lnSpc>
                <a:spcPct val="100000"/>
              </a:lnSpc>
              <a:spcBef>
                <a:spcPts val="0"/>
              </a:spcBef>
              <a:spcAft>
                <a:spcPts val="0"/>
              </a:spcAft>
              <a:buClr>
                <a:schemeClr val="dk1"/>
              </a:buClr>
              <a:buSzPts val="1100"/>
              <a:buFont typeface="Josefin Sans"/>
              <a:buChar char="●"/>
            </a:pPr>
            <a:r>
              <a:rPr lang="en-GB" sz="1100">
                <a:solidFill>
                  <a:schemeClr val="dk1"/>
                </a:solidFill>
                <a:latin typeface="Josefin Sans"/>
                <a:ea typeface="Josefin Sans"/>
                <a:cs typeface="Josefin Sans"/>
                <a:sym typeface="Josefin Sans"/>
              </a:rPr>
              <a:t>Number of drivers exhibiting both indicators: 35,998</a:t>
            </a:r>
            <a:endParaRPr sz="1100">
              <a:solidFill>
                <a:schemeClr val="dk1"/>
              </a:solidFill>
              <a:latin typeface="Josefin Sans"/>
              <a:ea typeface="Josefin Sans"/>
              <a:cs typeface="Josefin Sans"/>
              <a:sym typeface="Josefin Sans"/>
            </a:endParaRPr>
          </a:p>
          <a:p>
            <a:pPr indent="0" lvl="0" marL="0" rtl="0" algn="l">
              <a:lnSpc>
                <a:spcPct val="100000"/>
              </a:lnSpc>
              <a:spcBef>
                <a:spcPts val="600"/>
              </a:spcBef>
              <a:spcAft>
                <a:spcPts val="0"/>
              </a:spcAft>
              <a:buNone/>
            </a:pPr>
            <a:r>
              <a:t/>
            </a:r>
            <a:endParaRPr sz="1100">
              <a:solidFill>
                <a:schemeClr val="dk1"/>
              </a:solidFill>
              <a:latin typeface="Josefin Sans"/>
              <a:ea typeface="Josefin Sans"/>
              <a:cs typeface="Josefin Sans"/>
              <a:sym typeface="Josefin Sans"/>
            </a:endParaRPr>
          </a:p>
          <a:p>
            <a:pPr indent="0" lvl="0" marL="0" rtl="0" algn="l">
              <a:lnSpc>
                <a:spcPct val="100000"/>
              </a:lnSpc>
              <a:spcBef>
                <a:spcPts val="600"/>
              </a:spcBef>
              <a:spcAft>
                <a:spcPts val="0"/>
              </a:spcAft>
              <a:buNone/>
            </a:pPr>
            <a:r>
              <a:rPr lang="en-GB" sz="1100">
                <a:solidFill>
                  <a:schemeClr val="dk1"/>
                </a:solidFill>
                <a:latin typeface="Josefin Sans"/>
                <a:ea typeface="Josefin Sans"/>
                <a:cs typeface="Josefin Sans"/>
                <a:sym typeface="Josefin Sans"/>
              </a:rPr>
              <a:t>Percentage calculation:</a:t>
            </a:r>
            <a:endParaRPr sz="1100">
              <a:solidFill>
                <a:schemeClr val="dk1"/>
              </a:solidFill>
              <a:latin typeface="Josefin Sans"/>
              <a:ea typeface="Josefin Sans"/>
              <a:cs typeface="Josefin Sans"/>
              <a:sym typeface="Josefin Sans"/>
            </a:endParaRPr>
          </a:p>
          <a:p>
            <a:pPr indent="0" lvl="0" marL="0" rtl="0" algn="l">
              <a:lnSpc>
                <a:spcPct val="100000"/>
              </a:lnSpc>
              <a:spcBef>
                <a:spcPts val="600"/>
              </a:spcBef>
              <a:spcAft>
                <a:spcPts val="0"/>
              </a:spcAft>
              <a:buNone/>
            </a:pPr>
            <a:r>
              <a:rPr lang="en-GB" sz="1100">
                <a:solidFill>
                  <a:schemeClr val="dk1"/>
                </a:solidFill>
                <a:latin typeface="Josefin Sans"/>
                <a:ea typeface="Josefin Sans"/>
                <a:cs typeface="Josefin Sans"/>
                <a:sym typeface="Josefin Sans"/>
              </a:rPr>
              <a:t>Percentage of drivers slowing down: (35,998/65,000) x 100%</a:t>
            </a:r>
            <a:endParaRPr sz="1100">
              <a:solidFill>
                <a:schemeClr val="dk1"/>
              </a:solidFill>
              <a:latin typeface="Josefin Sans"/>
              <a:ea typeface="Josefin Sans"/>
              <a:cs typeface="Josefin Sans"/>
              <a:sym typeface="Josefin Sans"/>
            </a:endParaRPr>
          </a:p>
          <a:p>
            <a:pPr indent="0" lvl="0" marL="0" rtl="0" algn="l">
              <a:lnSpc>
                <a:spcPct val="100000"/>
              </a:lnSpc>
              <a:spcBef>
                <a:spcPts val="600"/>
              </a:spcBef>
              <a:spcAft>
                <a:spcPts val="0"/>
              </a:spcAft>
              <a:buNone/>
            </a:pPr>
            <a:r>
              <a:rPr lang="en-GB" sz="1100">
                <a:solidFill>
                  <a:schemeClr val="dk1"/>
                </a:solidFill>
                <a:latin typeface="Josefin Sans"/>
                <a:ea typeface="Josefin Sans"/>
                <a:cs typeface="Josefin Sans"/>
                <a:sym typeface="Josefin Sans"/>
              </a:rPr>
              <a:t>= </a:t>
            </a:r>
            <a:r>
              <a:rPr b="1" lang="en-GB" sz="1100">
                <a:solidFill>
                  <a:schemeClr val="dk1"/>
                </a:solidFill>
                <a:latin typeface="Josefin Sans"/>
                <a:ea typeface="Josefin Sans"/>
                <a:cs typeface="Josefin Sans"/>
                <a:sym typeface="Josefin Sans"/>
              </a:rPr>
              <a:t>55.38</a:t>
            </a:r>
            <a:r>
              <a:rPr b="1" lang="en-GB" sz="1100">
                <a:solidFill>
                  <a:schemeClr val="dk1"/>
                </a:solidFill>
                <a:latin typeface="Josefin Sans"/>
                <a:ea typeface="Josefin Sans"/>
                <a:cs typeface="Josefin Sans"/>
                <a:sym typeface="Josefin Sans"/>
              </a:rPr>
              <a:t>%</a:t>
            </a:r>
            <a:endParaRPr b="1" sz="1100">
              <a:solidFill>
                <a:schemeClr val="dk1"/>
              </a:solidFill>
              <a:latin typeface="Josefin Sans"/>
              <a:ea typeface="Josefin Sans"/>
              <a:cs typeface="Josefin Sans"/>
              <a:sym typeface="Josefin Sans"/>
            </a:endParaRPr>
          </a:p>
          <a:p>
            <a:pPr indent="0" lvl="0" marL="0" rtl="0" algn="l">
              <a:lnSpc>
                <a:spcPct val="100000"/>
              </a:lnSpc>
              <a:spcBef>
                <a:spcPts val="1500"/>
              </a:spcBef>
              <a:spcAft>
                <a:spcPts val="1500"/>
              </a:spcAft>
              <a:buNone/>
            </a:pPr>
            <a:r>
              <a:t/>
            </a:r>
            <a:endParaRPr b="1" sz="1100">
              <a:latin typeface="Josefin Sans"/>
              <a:ea typeface="Josefin Sans"/>
              <a:cs typeface="Josefin Sans"/>
              <a:sym typeface="Josefin Sans"/>
            </a:endParaRPr>
          </a:p>
        </p:txBody>
      </p:sp>
      <p:pic>
        <p:nvPicPr>
          <p:cNvPr id="311" name="Google Shape;311;p32"/>
          <p:cNvPicPr preferRelativeResize="0"/>
          <p:nvPr/>
        </p:nvPicPr>
        <p:blipFill>
          <a:blip r:embed="rId3">
            <a:alphaModFix/>
          </a:blip>
          <a:stretch>
            <a:fillRect/>
          </a:stretch>
        </p:blipFill>
        <p:spPr>
          <a:xfrm>
            <a:off x="52150" y="-5850"/>
            <a:ext cx="407152" cy="457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3"/>
          <p:cNvSpPr/>
          <p:nvPr/>
        </p:nvSpPr>
        <p:spPr>
          <a:xfrm>
            <a:off x="-26550" y="1075050"/>
            <a:ext cx="9197100" cy="4068300"/>
          </a:xfrm>
          <a:prstGeom prst="rect">
            <a:avLst/>
          </a:prstGeom>
          <a:solidFill>
            <a:schemeClr val="accent1"/>
          </a:solidFill>
          <a:ln>
            <a:noFill/>
          </a:ln>
        </p:spPr>
        <p:txBody>
          <a:bodyPr anchorCtr="0" anchor="ctr" bIns="91425" lIns="91425" spcFirstLastPara="1" rIns="91425" wrap="square" tIns="91425">
            <a:noAutofit/>
          </a:bodyPr>
          <a:lstStyle/>
          <a:p>
            <a:pPr indent="-330200" lvl="0" marL="457200" rtl="0" algn="l">
              <a:spcBef>
                <a:spcPts val="0"/>
              </a:spcBef>
              <a:spcAft>
                <a:spcPts val="0"/>
              </a:spcAft>
              <a:buClr>
                <a:schemeClr val="lt1"/>
              </a:buClr>
              <a:buSzPts val="1600"/>
              <a:buFont typeface="Josefin Sans"/>
              <a:buChar char="●"/>
            </a:pPr>
            <a:r>
              <a:rPr lang="en-GB" sz="1600">
                <a:solidFill>
                  <a:schemeClr val="lt1"/>
                </a:solidFill>
                <a:highlight>
                  <a:srgbClr val="4285F4"/>
                </a:highlight>
                <a:latin typeface="Josefin Sans"/>
                <a:ea typeface="Josefin Sans"/>
                <a:cs typeface="Josefin Sans"/>
                <a:sym typeface="Josefin Sans"/>
              </a:rPr>
              <a:t>Do these datasets have pedestrian trajectories? Are their details available?</a:t>
            </a:r>
            <a:endParaRPr sz="1600">
              <a:solidFill>
                <a:schemeClr val="lt1"/>
              </a:solidFill>
              <a:highlight>
                <a:srgbClr val="4285F4"/>
              </a:highlight>
              <a:latin typeface="Josefin Sans"/>
              <a:ea typeface="Josefin Sans"/>
              <a:cs typeface="Josefin Sans"/>
              <a:sym typeface="Josefin Sans"/>
            </a:endParaRPr>
          </a:p>
          <a:p>
            <a:pPr indent="-330200" lvl="0" marL="457200" rtl="0" algn="l">
              <a:spcBef>
                <a:spcPts val="0"/>
              </a:spcBef>
              <a:spcAft>
                <a:spcPts val="0"/>
              </a:spcAft>
              <a:buClr>
                <a:schemeClr val="lt1"/>
              </a:buClr>
              <a:buSzPts val="1600"/>
              <a:buFont typeface="Josefin Sans"/>
              <a:buChar char="●"/>
            </a:pPr>
            <a:r>
              <a:rPr lang="en-GB" sz="1600">
                <a:solidFill>
                  <a:schemeClr val="lt1"/>
                </a:solidFill>
                <a:highlight>
                  <a:srgbClr val="4285F4"/>
                </a:highlight>
                <a:latin typeface="Josefin Sans"/>
                <a:ea typeface="Josefin Sans"/>
                <a:cs typeface="Josefin Sans"/>
                <a:sym typeface="Josefin Sans"/>
              </a:rPr>
              <a:t>How often do we come across "risky situations" - when a vehicle and a pedestrian come dangerously close to each other? In what percentage of such cases do we see an irresponsible behavior from driver (failing to brake) or pedestrian (crossing without watching)?</a:t>
            </a:r>
            <a:endParaRPr sz="1600">
              <a:solidFill>
                <a:schemeClr val="lt1"/>
              </a:solidFill>
              <a:highlight>
                <a:srgbClr val="4285F4"/>
              </a:highlight>
              <a:latin typeface="Josefin Sans"/>
              <a:ea typeface="Josefin Sans"/>
              <a:cs typeface="Josefin Sans"/>
              <a:sym typeface="Josefin Sans"/>
            </a:endParaRPr>
          </a:p>
          <a:p>
            <a:pPr indent="-330200" lvl="0" marL="457200" rtl="0" algn="l">
              <a:spcBef>
                <a:spcPts val="0"/>
              </a:spcBef>
              <a:spcAft>
                <a:spcPts val="0"/>
              </a:spcAft>
              <a:buClr>
                <a:schemeClr val="lt1"/>
              </a:buClr>
              <a:buSzPts val="1600"/>
              <a:buFont typeface="Josefin Sans"/>
              <a:buChar char="●"/>
            </a:pPr>
            <a:r>
              <a:rPr lang="en-GB" sz="1600">
                <a:solidFill>
                  <a:schemeClr val="lt1"/>
                </a:solidFill>
                <a:highlight>
                  <a:srgbClr val="4285F4"/>
                </a:highlight>
                <a:latin typeface="Josefin Sans"/>
                <a:ea typeface="Josefin Sans"/>
                <a:cs typeface="Josefin Sans"/>
                <a:sym typeface="Josefin Sans"/>
              </a:rPr>
              <a:t>If we want to run a simulation involving vehicles and pedestrians, what will be the best platform to do so? What inputs do we need to provide to run such a simulation?</a:t>
            </a:r>
            <a:endParaRPr sz="1600">
              <a:solidFill>
                <a:schemeClr val="lt1"/>
              </a:solidFill>
              <a:highlight>
                <a:srgbClr val="4285F4"/>
              </a:highlight>
              <a:latin typeface="Josefin Sans"/>
              <a:ea typeface="Josefin Sans"/>
              <a:cs typeface="Josefin Sans"/>
              <a:sym typeface="Josefin Sans"/>
            </a:endParaRPr>
          </a:p>
        </p:txBody>
      </p:sp>
      <p:sp>
        <p:nvSpPr>
          <p:cNvPr id="317" name="Google Shape;317;p33"/>
          <p:cNvSpPr txBox="1"/>
          <p:nvPr/>
        </p:nvSpPr>
        <p:spPr>
          <a:xfrm>
            <a:off x="6170550" y="0"/>
            <a:ext cx="30000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100">
                <a:solidFill>
                  <a:schemeClr val="lt1"/>
                </a:solidFill>
                <a:latin typeface="Josefin Sans"/>
                <a:ea typeface="Josefin Sans"/>
                <a:cs typeface="Josefin Sans"/>
                <a:sym typeface="Josefin Sans"/>
              </a:rPr>
              <a:t>            TATA POWER</a:t>
            </a:r>
            <a:endParaRPr sz="2300"/>
          </a:p>
        </p:txBody>
      </p:sp>
      <p:sp>
        <p:nvSpPr>
          <p:cNvPr id="318" name="Google Shape;318;p33"/>
          <p:cNvSpPr/>
          <p:nvPr/>
        </p:nvSpPr>
        <p:spPr>
          <a:xfrm>
            <a:off x="0" y="194625"/>
            <a:ext cx="9144000" cy="750900"/>
          </a:xfrm>
          <a:prstGeom prst="rect">
            <a:avLst/>
          </a:pr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100">
                <a:latin typeface="Josefin Sans"/>
                <a:ea typeface="Josefin Sans"/>
                <a:cs typeface="Josefin Sans"/>
                <a:sym typeface="Josefin Sans"/>
              </a:rPr>
              <a:t>TASK III</a:t>
            </a:r>
            <a:r>
              <a:rPr b="1" lang="en-GB" sz="2100">
                <a:solidFill>
                  <a:srgbClr val="000000"/>
                </a:solidFill>
                <a:latin typeface="Josefin Sans"/>
                <a:ea typeface="Josefin Sans"/>
                <a:cs typeface="Josefin Sans"/>
                <a:sym typeface="Josefin Sans"/>
              </a:rPr>
              <a:t>   </a:t>
            </a:r>
            <a:endParaRPr b="1" sz="2100">
              <a:solidFill>
                <a:srgbClr val="000000"/>
              </a:solidFill>
              <a:latin typeface="Josefin Sans"/>
              <a:ea typeface="Josefin Sans"/>
              <a:cs typeface="Josefin Sans"/>
              <a:sym typeface="Josefin Sans"/>
            </a:endParaRPr>
          </a:p>
        </p:txBody>
      </p:sp>
      <p:pic>
        <p:nvPicPr>
          <p:cNvPr id="319" name="Google Shape;319;p33"/>
          <p:cNvPicPr preferRelativeResize="0"/>
          <p:nvPr/>
        </p:nvPicPr>
        <p:blipFill>
          <a:blip r:embed="rId3">
            <a:alphaModFix/>
          </a:blip>
          <a:stretch>
            <a:fillRect/>
          </a:stretch>
        </p:blipFill>
        <p:spPr>
          <a:xfrm>
            <a:off x="52150" y="25350"/>
            <a:ext cx="407152" cy="457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4"/>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Pedestrian Trajectories and Models</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325" name="Google Shape;325;p34"/>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JAAD &amp; CARLA</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326" name="Google Shape;326;p34"/>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JAAD consist of pedestrian trajectories but CARLA do not</a:t>
            </a:r>
            <a:endParaRPr sz="1100">
              <a:solidFill>
                <a:srgbClr val="FFFFFF"/>
              </a:solidFill>
              <a:latin typeface="Josefin Sans"/>
              <a:ea typeface="Josefin Sans"/>
              <a:cs typeface="Josefin Sans"/>
              <a:sym typeface="Josefin Sans"/>
            </a:endParaRPr>
          </a:p>
        </p:txBody>
      </p:sp>
      <p:sp>
        <p:nvSpPr>
          <p:cNvPr id="327" name="Google Shape;327;p34"/>
          <p:cNvSpPr txBox="1"/>
          <p:nvPr/>
        </p:nvSpPr>
        <p:spPr>
          <a:xfrm>
            <a:off x="4945900" y="965400"/>
            <a:ext cx="33828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CARLA</a:t>
            </a:r>
            <a:endParaRPr b="1" sz="1200">
              <a:solidFill>
                <a:srgbClr val="FFFFFF"/>
              </a:solidFill>
              <a:latin typeface="Josefin Sans"/>
              <a:ea typeface="Josefin Sans"/>
              <a:cs typeface="Josefin Sans"/>
              <a:sym typeface="Josefin Sans"/>
            </a:endParaRPr>
          </a:p>
        </p:txBody>
      </p:sp>
      <p:sp>
        <p:nvSpPr>
          <p:cNvPr id="328" name="Google Shape;328;p34"/>
          <p:cNvSpPr txBox="1"/>
          <p:nvPr/>
        </p:nvSpPr>
        <p:spPr>
          <a:xfrm>
            <a:off x="4945900" y="1346225"/>
            <a:ext cx="3382800" cy="31116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GB" sz="1100">
                <a:solidFill>
                  <a:srgbClr val="222222"/>
                </a:solidFill>
                <a:highlight>
                  <a:srgbClr val="FFFFFF"/>
                </a:highlight>
                <a:latin typeface="Josefin Sans"/>
                <a:ea typeface="Josefin Sans"/>
                <a:cs typeface="Josefin Sans"/>
                <a:sym typeface="Josefin Sans"/>
              </a:rPr>
              <a:t>- Has over 1,000 pedestrian models</a:t>
            </a:r>
            <a:endParaRPr sz="11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100">
                <a:solidFill>
                  <a:srgbClr val="222222"/>
                </a:solidFill>
                <a:highlight>
                  <a:srgbClr val="FFFFFF"/>
                </a:highlight>
                <a:latin typeface="Josefin Sans"/>
                <a:ea typeface="Josefin Sans"/>
                <a:cs typeface="Josefin Sans"/>
                <a:sym typeface="Josefin Sans"/>
              </a:rPr>
              <a:t>- Implements physics-based behavior</a:t>
            </a:r>
            <a:endParaRPr sz="11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100">
                <a:solidFill>
                  <a:srgbClr val="222222"/>
                </a:solidFill>
                <a:highlight>
                  <a:srgbClr val="FFFFFF"/>
                </a:highlight>
                <a:latin typeface="Josefin Sans"/>
                <a:ea typeface="Josefin Sans"/>
                <a:cs typeface="Josefin Sans"/>
                <a:sym typeface="Josefin Sans"/>
              </a:rPr>
              <a:t>- However, specific implementation details of pedestrian models aren't provided in the documentation</a:t>
            </a:r>
            <a:endParaRPr sz="1100">
              <a:solidFill>
                <a:srgbClr val="222222"/>
              </a:solidFill>
              <a:highlight>
                <a:srgbClr val="FFFFFF"/>
              </a:highlight>
              <a:latin typeface="Josefin Sans"/>
              <a:ea typeface="Josefin Sans"/>
              <a:cs typeface="Josefin Sans"/>
              <a:sym typeface="Josefin Sans"/>
            </a:endParaRPr>
          </a:p>
          <a:p>
            <a:pPr indent="0" lvl="0" marL="0" rtl="0" algn="l">
              <a:lnSpc>
                <a:spcPct val="100000"/>
              </a:lnSpc>
              <a:spcBef>
                <a:spcPts val="600"/>
              </a:spcBef>
              <a:spcAft>
                <a:spcPts val="0"/>
              </a:spcAft>
              <a:buNone/>
            </a:pPr>
            <a:r>
              <a:t/>
            </a:r>
            <a:endParaRPr b="1" sz="1100">
              <a:solidFill>
                <a:schemeClr val="dk1"/>
              </a:solidFill>
              <a:latin typeface="Josefin Sans"/>
              <a:ea typeface="Josefin Sans"/>
              <a:cs typeface="Josefin Sans"/>
              <a:sym typeface="Josefin Sans"/>
            </a:endParaRPr>
          </a:p>
          <a:p>
            <a:pPr indent="0" lvl="0" marL="0" rtl="0" algn="l">
              <a:lnSpc>
                <a:spcPct val="100000"/>
              </a:lnSpc>
              <a:spcBef>
                <a:spcPts val="1500"/>
              </a:spcBef>
              <a:spcAft>
                <a:spcPts val="1500"/>
              </a:spcAft>
              <a:buNone/>
            </a:pPr>
            <a:r>
              <a:t/>
            </a:r>
            <a:endParaRPr b="1" sz="1100">
              <a:latin typeface="Josefin Sans"/>
              <a:ea typeface="Josefin Sans"/>
              <a:cs typeface="Josefin Sans"/>
              <a:sym typeface="Josefin Sans"/>
            </a:endParaRPr>
          </a:p>
        </p:txBody>
      </p:sp>
      <p:sp>
        <p:nvSpPr>
          <p:cNvPr id="329" name="Google Shape;329;p34"/>
          <p:cNvSpPr txBox="1"/>
          <p:nvPr/>
        </p:nvSpPr>
        <p:spPr>
          <a:xfrm>
            <a:off x="816675" y="965400"/>
            <a:ext cx="3382800" cy="2742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Josefin Sans"/>
                <a:ea typeface="Josefin Sans"/>
                <a:cs typeface="Josefin Sans"/>
                <a:sym typeface="Josefin Sans"/>
              </a:rPr>
              <a:t>JAAD</a:t>
            </a:r>
            <a:endParaRPr b="1" sz="1200">
              <a:solidFill>
                <a:srgbClr val="FFFFFF"/>
              </a:solidFill>
              <a:latin typeface="Josefin Sans"/>
              <a:ea typeface="Josefin Sans"/>
              <a:cs typeface="Josefin Sans"/>
              <a:sym typeface="Josefin Sans"/>
            </a:endParaRPr>
          </a:p>
        </p:txBody>
      </p:sp>
      <p:sp>
        <p:nvSpPr>
          <p:cNvPr id="330" name="Google Shape;330;p34"/>
          <p:cNvSpPr txBox="1"/>
          <p:nvPr/>
        </p:nvSpPr>
        <p:spPr>
          <a:xfrm>
            <a:off x="816675" y="1346225"/>
            <a:ext cx="3382800" cy="31116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GB" sz="1100">
                <a:solidFill>
                  <a:srgbClr val="222222"/>
                </a:solidFill>
                <a:highlight>
                  <a:srgbClr val="FFFFFF"/>
                </a:highlight>
                <a:latin typeface="Josefin Sans"/>
                <a:ea typeface="Josefin Sans"/>
                <a:cs typeface="Josefin Sans"/>
                <a:sym typeface="Josefin Sans"/>
              </a:rPr>
              <a:t>Contains detailed pedestrian trajectories:</a:t>
            </a:r>
            <a:endParaRPr sz="11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100">
                <a:solidFill>
                  <a:srgbClr val="222222"/>
                </a:solidFill>
                <a:highlight>
                  <a:srgbClr val="FFFFFF"/>
                </a:highlight>
                <a:latin typeface="Josefin Sans"/>
                <a:ea typeface="Josefin Sans"/>
                <a:cs typeface="Josefin Sans"/>
                <a:sym typeface="Josefin Sans"/>
              </a:rPr>
              <a:t>  -</a:t>
            </a:r>
            <a:r>
              <a:rPr lang="en-GB" sz="1100">
                <a:solidFill>
                  <a:srgbClr val="222222"/>
                </a:solidFill>
                <a:highlight>
                  <a:srgbClr val="FFFFFF"/>
                </a:highlight>
                <a:latin typeface="Josefin Sans"/>
                <a:ea typeface="Josefin Sans"/>
                <a:cs typeface="Josefin Sans"/>
                <a:sym typeface="Josefin Sans"/>
              </a:rPr>
              <a:t> </a:t>
            </a:r>
            <a:r>
              <a:rPr lang="en-GB" sz="1100">
                <a:solidFill>
                  <a:srgbClr val="222222"/>
                </a:solidFill>
                <a:highlight>
                  <a:srgbClr val="FFFFFF"/>
                </a:highlight>
                <a:latin typeface="Josefin Sans"/>
                <a:ea typeface="Josefin Sans"/>
                <a:cs typeface="Josefin Sans"/>
                <a:sym typeface="Josefin Sans"/>
              </a:rPr>
              <a:t>378,643 bounding boxes for 2,786 pedestrians</a:t>
            </a:r>
            <a:endParaRPr sz="11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100">
                <a:solidFill>
                  <a:srgbClr val="222222"/>
                </a:solidFill>
                <a:highlight>
                  <a:srgbClr val="FFFFFF"/>
                </a:highlight>
                <a:latin typeface="Josefin Sans"/>
                <a:ea typeface="Josefin Sans"/>
                <a:cs typeface="Josefin Sans"/>
                <a:sym typeface="Josefin Sans"/>
              </a:rPr>
              <a:t>  - Average trajectory length: 121 frames (4 seconds at 30 FPS)</a:t>
            </a:r>
            <a:endParaRPr sz="11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100">
                <a:solidFill>
                  <a:srgbClr val="222222"/>
                </a:solidFill>
                <a:highlight>
                  <a:srgbClr val="FFFFFF"/>
                </a:highlight>
                <a:latin typeface="Josefin Sans"/>
                <a:ea typeface="Josefin Sans"/>
                <a:cs typeface="Josefin Sans"/>
                <a:sym typeface="Josefin Sans"/>
              </a:rPr>
              <a:t>  - Each trajectory includes:</a:t>
            </a:r>
            <a:endParaRPr sz="11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100">
                <a:solidFill>
                  <a:srgbClr val="222222"/>
                </a:solidFill>
                <a:highlight>
                  <a:srgbClr val="FFFFFF"/>
                </a:highlight>
                <a:latin typeface="Josefin Sans"/>
                <a:ea typeface="Josefin Sans"/>
                <a:cs typeface="Josefin Sans"/>
                <a:sym typeface="Josefin Sans"/>
              </a:rPr>
              <a:t>    - Spatial position (bounding box coordinates)</a:t>
            </a:r>
            <a:endParaRPr sz="11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100">
                <a:solidFill>
                  <a:srgbClr val="222222"/>
                </a:solidFill>
                <a:highlight>
                  <a:srgbClr val="FFFFFF"/>
                </a:highlight>
                <a:latin typeface="Josefin Sans"/>
                <a:ea typeface="Josefin Sans"/>
                <a:cs typeface="Josefin Sans"/>
                <a:sym typeface="Josefin Sans"/>
              </a:rPr>
              <a:t>    - Behavioral states (walking, standing, crossing)</a:t>
            </a:r>
            <a:endParaRPr sz="11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100">
                <a:solidFill>
                  <a:srgbClr val="222222"/>
                </a:solidFill>
                <a:highlight>
                  <a:srgbClr val="FFFFFF"/>
                </a:highlight>
                <a:latin typeface="Josefin Sans"/>
                <a:ea typeface="Josefin Sans"/>
                <a:cs typeface="Josefin Sans"/>
                <a:sym typeface="Josefin Sans"/>
              </a:rPr>
              <a:t>    - Looking behavior</a:t>
            </a:r>
            <a:endParaRPr sz="11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100">
                <a:solidFill>
                  <a:srgbClr val="222222"/>
                </a:solidFill>
                <a:highlight>
                  <a:srgbClr val="FFFFFF"/>
                </a:highlight>
                <a:latin typeface="Josefin Sans"/>
                <a:ea typeface="Josefin Sans"/>
                <a:cs typeface="Josefin Sans"/>
                <a:sym typeface="Josefin Sans"/>
              </a:rPr>
              <a:t>    - Direction of motion</a:t>
            </a:r>
            <a:endParaRPr sz="11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100">
                <a:solidFill>
                  <a:srgbClr val="222222"/>
                </a:solidFill>
                <a:highlight>
                  <a:srgbClr val="FFFFFF"/>
                </a:highlight>
                <a:latin typeface="Josefin Sans"/>
                <a:ea typeface="Josefin Sans"/>
                <a:cs typeface="Josefin Sans"/>
                <a:sym typeface="Josefin Sans"/>
              </a:rPr>
              <a:t>    - Group information</a:t>
            </a:r>
            <a:endParaRPr sz="1100">
              <a:solidFill>
                <a:srgbClr val="222222"/>
              </a:solidFill>
              <a:highlight>
                <a:srgbClr val="FFFFFF"/>
              </a:highlight>
              <a:latin typeface="Josefin Sans"/>
              <a:ea typeface="Josefin Sans"/>
              <a:cs typeface="Josefin Sans"/>
              <a:sym typeface="Josefin Sans"/>
            </a:endParaRPr>
          </a:p>
          <a:p>
            <a:pPr indent="0" lvl="0" marL="0" rtl="0" algn="l">
              <a:lnSpc>
                <a:spcPct val="100000"/>
              </a:lnSpc>
              <a:spcBef>
                <a:spcPts val="600"/>
              </a:spcBef>
              <a:spcAft>
                <a:spcPts val="0"/>
              </a:spcAft>
              <a:buNone/>
            </a:pPr>
            <a:r>
              <a:rPr lang="en-GB" sz="1100">
                <a:solidFill>
                  <a:srgbClr val="222222"/>
                </a:solidFill>
                <a:highlight>
                  <a:srgbClr val="FFFFFF"/>
                </a:highlight>
                <a:latin typeface="Josefin Sans"/>
                <a:ea typeface="Josefin Sans"/>
                <a:cs typeface="Josefin Sans"/>
                <a:sym typeface="Josefin Sans"/>
              </a:rPr>
              <a:t>    - Context (crosswalks, traffic lights)</a:t>
            </a:r>
            <a:endParaRPr b="1" sz="1100">
              <a:solidFill>
                <a:schemeClr val="dk1"/>
              </a:solidFill>
              <a:latin typeface="Josefin Sans"/>
              <a:ea typeface="Josefin Sans"/>
              <a:cs typeface="Josefin Sans"/>
              <a:sym typeface="Josefin Sans"/>
            </a:endParaRPr>
          </a:p>
          <a:p>
            <a:pPr indent="0" lvl="0" marL="0" rtl="0" algn="l">
              <a:lnSpc>
                <a:spcPct val="100000"/>
              </a:lnSpc>
              <a:spcBef>
                <a:spcPts val="1500"/>
              </a:spcBef>
              <a:spcAft>
                <a:spcPts val="1500"/>
              </a:spcAft>
              <a:buNone/>
            </a:pPr>
            <a:r>
              <a:t/>
            </a:r>
            <a:endParaRPr b="1" sz="1100">
              <a:latin typeface="Josefin Sans"/>
              <a:ea typeface="Josefin Sans"/>
              <a:cs typeface="Josefin Sans"/>
              <a:sym typeface="Josefin Sans"/>
            </a:endParaRPr>
          </a:p>
        </p:txBody>
      </p:sp>
      <p:pic>
        <p:nvPicPr>
          <p:cNvPr id="331" name="Google Shape;331;p34"/>
          <p:cNvPicPr preferRelativeResize="0"/>
          <p:nvPr/>
        </p:nvPicPr>
        <p:blipFill>
          <a:blip r:embed="rId3">
            <a:alphaModFix/>
          </a:blip>
          <a:stretch>
            <a:fillRect/>
          </a:stretch>
        </p:blipFill>
        <p:spPr>
          <a:xfrm>
            <a:off x="52150" y="-5850"/>
            <a:ext cx="407152" cy="457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5"/>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Risky Situations and Irresponsible Behaviour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337" name="Google Shape;337;p35"/>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JAAD &amp; CARLA</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338" name="Google Shape;338;p35"/>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A summary of risky and </a:t>
            </a:r>
            <a:r>
              <a:rPr lang="en-GB" sz="1100">
                <a:solidFill>
                  <a:srgbClr val="FFFFFF"/>
                </a:solidFill>
                <a:latin typeface="Josefin Sans"/>
                <a:ea typeface="Josefin Sans"/>
                <a:cs typeface="Josefin Sans"/>
                <a:sym typeface="Josefin Sans"/>
              </a:rPr>
              <a:t>irresponsible</a:t>
            </a:r>
            <a:r>
              <a:rPr lang="en-GB" sz="1100">
                <a:solidFill>
                  <a:srgbClr val="FFFFFF"/>
                </a:solidFill>
                <a:latin typeface="Josefin Sans"/>
                <a:ea typeface="Josefin Sans"/>
                <a:cs typeface="Josefin Sans"/>
                <a:sym typeface="Josefin Sans"/>
              </a:rPr>
              <a:t> behaviour identified in these datasets</a:t>
            </a:r>
            <a:endParaRPr sz="1100">
              <a:solidFill>
                <a:srgbClr val="FFFFFF"/>
              </a:solidFill>
              <a:latin typeface="Josefin Sans"/>
              <a:ea typeface="Josefin Sans"/>
              <a:cs typeface="Josefin Sans"/>
              <a:sym typeface="Josefin Sans"/>
            </a:endParaRPr>
          </a:p>
        </p:txBody>
      </p:sp>
      <p:sp>
        <p:nvSpPr>
          <p:cNvPr id="339" name="Google Shape;339;p35"/>
          <p:cNvSpPr txBox="1"/>
          <p:nvPr/>
        </p:nvSpPr>
        <p:spPr>
          <a:xfrm>
            <a:off x="2681400" y="1117625"/>
            <a:ext cx="3781200" cy="33444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0"/>
              </a:spcAft>
              <a:buClr>
                <a:schemeClr val="dk1"/>
              </a:buClr>
              <a:buSzPts val="1100"/>
              <a:buFont typeface="Arial"/>
              <a:buNone/>
            </a:pPr>
            <a:r>
              <a:rPr lang="en-GB" sz="1100">
                <a:solidFill>
                  <a:srgbClr val="222222"/>
                </a:solidFill>
                <a:highlight>
                  <a:srgbClr val="EFEFEF"/>
                </a:highlight>
                <a:latin typeface="Josefin Sans"/>
                <a:ea typeface="Josefin Sans"/>
                <a:cs typeface="Josefin Sans"/>
                <a:sym typeface="Josefin Sans"/>
              </a:rPr>
              <a:t>JAAD Dataset provides some metrics:</a:t>
            </a:r>
            <a:endParaRPr sz="1100">
              <a:solidFill>
                <a:schemeClr val="dk1"/>
              </a:solidFill>
              <a:highlight>
                <a:srgbClr val="EFEFEF"/>
              </a:highlight>
              <a:latin typeface="Josefin Sans"/>
              <a:ea typeface="Josefin Sans"/>
              <a:cs typeface="Josefin Sans"/>
              <a:sym typeface="Josefin Sans"/>
            </a:endParaRPr>
          </a:p>
          <a:p>
            <a:pPr indent="0" lvl="0" marL="0" rtl="0" algn="ctr">
              <a:lnSpc>
                <a:spcPct val="115000"/>
              </a:lnSpc>
              <a:spcBef>
                <a:spcPts val="1500"/>
              </a:spcBef>
              <a:spcAft>
                <a:spcPts val="0"/>
              </a:spcAft>
              <a:buClr>
                <a:schemeClr val="dk1"/>
              </a:buClr>
              <a:buSzPts val="1100"/>
              <a:buFont typeface="Arial"/>
              <a:buNone/>
            </a:pPr>
            <a:r>
              <a:rPr lang="en-GB" sz="1100">
                <a:solidFill>
                  <a:srgbClr val="222222"/>
                </a:solidFill>
                <a:highlight>
                  <a:srgbClr val="EFEFEF"/>
                </a:highlight>
                <a:latin typeface="Josefin Sans"/>
                <a:ea typeface="Josefin Sans"/>
                <a:cs typeface="Josefin Sans"/>
                <a:sym typeface="Josefin Sans"/>
              </a:rPr>
              <a:t>Of 495 pedestrians who crossed:</a:t>
            </a:r>
            <a:endParaRPr sz="1100">
              <a:solidFill>
                <a:schemeClr val="dk1"/>
              </a:solidFill>
              <a:highlight>
                <a:srgbClr val="EFEFEF"/>
              </a:highlight>
              <a:latin typeface="Josefin Sans"/>
              <a:ea typeface="Josefin Sans"/>
              <a:cs typeface="Josefin Sans"/>
              <a:sym typeface="Josefin Sans"/>
            </a:endParaRPr>
          </a:p>
          <a:p>
            <a:pPr indent="0" lvl="0" marL="0" rtl="0" algn="ctr">
              <a:lnSpc>
                <a:spcPct val="115000"/>
              </a:lnSpc>
              <a:spcBef>
                <a:spcPts val="1500"/>
              </a:spcBef>
              <a:spcAft>
                <a:spcPts val="0"/>
              </a:spcAft>
              <a:buClr>
                <a:schemeClr val="dk1"/>
              </a:buClr>
              <a:buSzPts val="1100"/>
              <a:buFont typeface="Arial"/>
              <a:buNone/>
            </a:pPr>
            <a:r>
              <a:rPr lang="en-GB" sz="1100">
                <a:solidFill>
                  <a:srgbClr val="222222"/>
                </a:solidFill>
                <a:highlight>
                  <a:srgbClr val="EFEFEF"/>
                </a:highlight>
                <a:latin typeface="Josefin Sans"/>
                <a:ea typeface="Josefin Sans"/>
                <a:cs typeface="Josefin Sans"/>
                <a:sym typeface="Josefin Sans"/>
              </a:rPr>
              <a:t>Looking behavior data is tracked</a:t>
            </a:r>
            <a:endParaRPr sz="1100">
              <a:solidFill>
                <a:srgbClr val="222222"/>
              </a:solidFill>
              <a:highlight>
                <a:srgbClr val="EFEFEF"/>
              </a:highlight>
              <a:latin typeface="Josefin Sans"/>
              <a:ea typeface="Josefin Sans"/>
              <a:cs typeface="Josefin Sans"/>
              <a:sym typeface="Josefin Sans"/>
            </a:endParaRPr>
          </a:p>
          <a:p>
            <a:pPr indent="0" lvl="0" marL="0" rtl="0" algn="ctr">
              <a:lnSpc>
                <a:spcPct val="115000"/>
              </a:lnSpc>
              <a:spcBef>
                <a:spcPts val="1500"/>
              </a:spcBef>
              <a:spcAft>
                <a:spcPts val="0"/>
              </a:spcAft>
              <a:buClr>
                <a:schemeClr val="dk1"/>
              </a:buClr>
              <a:buSzPts val="1100"/>
              <a:buFont typeface="Arial"/>
              <a:buNone/>
            </a:pPr>
            <a:r>
              <a:rPr lang="en-GB" sz="1100">
                <a:solidFill>
                  <a:srgbClr val="222222"/>
                </a:solidFill>
                <a:highlight>
                  <a:srgbClr val="EFEFEF"/>
                </a:highlight>
                <a:latin typeface="Josefin Sans"/>
                <a:ea typeface="Josefin Sans"/>
                <a:cs typeface="Josefin Sans"/>
                <a:sym typeface="Josefin Sans"/>
              </a:rPr>
              <a:t>Each crossing event is annotated with behavioral tags</a:t>
            </a:r>
            <a:endParaRPr sz="1100">
              <a:solidFill>
                <a:schemeClr val="dk1"/>
              </a:solidFill>
              <a:highlight>
                <a:srgbClr val="EFEFEF"/>
              </a:highlight>
              <a:latin typeface="Josefin Sans"/>
              <a:ea typeface="Josefin Sans"/>
              <a:cs typeface="Josefin Sans"/>
              <a:sym typeface="Josefin Sans"/>
            </a:endParaRPr>
          </a:p>
          <a:p>
            <a:pPr indent="0" lvl="0" marL="0" rtl="0" algn="ctr">
              <a:lnSpc>
                <a:spcPct val="115000"/>
              </a:lnSpc>
              <a:spcBef>
                <a:spcPts val="1500"/>
              </a:spcBef>
              <a:spcAft>
                <a:spcPts val="0"/>
              </a:spcAft>
              <a:buClr>
                <a:schemeClr val="dk1"/>
              </a:buClr>
              <a:buSzPts val="1100"/>
              <a:buFont typeface="Arial"/>
              <a:buNone/>
            </a:pPr>
            <a:r>
              <a:rPr lang="en-GB" sz="1100">
                <a:solidFill>
                  <a:srgbClr val="222222"/>
                </a:solidFill>
                <a:highlight>
                  <a:srgbClr val="EFEFEF"/>
                </a:highlight>
                <a:latin typeface="Josefin Sans"/>
                <a:ea typeface="Josefin Sans"/>
                <a:cs typeface="Josefin Sans"/>
                <a:sym typeface="Josefin Sans"/>
              </a:rPr>
              <a:t>All 82,032 frames are annotated with context</a:t>
            </a:r>
            <a:endParaRPr sz="1100">
              <a:solidFill>
                <a:srgbClr val="222222"/>
              </a:solidFill>
              <a:highlight>
                <a:srgbClr val="EFEFEF"/>
              </a:highlight>
              <a:latin typeface="Josefin Sans"/>
              <a:ea typeface="Josefin Sans"/>
              <a:cs typeface="Josefin Sans"/>
              <a:sym typeface="Josefin Sans"/>
            </a:endParaRPr>
          </a:p>
          <a:p>
            <a:pPr indent="0" lvl="0" marL="0" rtl="0" algn="ctr">
              <a:lnSpc>
                <a:spcPct val="115000"/>
              </a:lnSpc>
              <a:spcBef>
                <a:spcPts val="1500"/>
              </a:spcBef>
              <a:spcAft>
                <a:spcPts val="0"/>
              </a:spcAft>
              <a:buNone/>
            </a:pPr>
            <a:r>
              <a:rPr lang="en-GB" sz="1100">
                <a:solidFill>
                  <a:srgbClr val="222222"/>
                </a:solidFill>
                <a:highlight>
                  <a:srgbClr val="EFEFEF"/>
                </a:highlight>
                <a:latin typeface="Josefin Sans"/>
                <a:ea typeface="Josefin Sans"/>
                <a:cs typeface="Josefin Sans"/>
                <a:sym typeface="Josefin Sans"/>
              </a:rPr>
              <a:t>However, specific "near-miss" statistics aren't directly provided</a:t>
            </a:r>
            <a:endParaRPr sz="1100">
              <a:solidFill>
                <a:srgbClr val="222222"/>
              </a:solidFill>
              <a:highlight>
                <a:srgbClr val="EFEFEF"/>
              </a:highlight>
              <a:latin typeface="Josefin Sans"/>
              <a:ea typeface="Josefin Sans"/>
              <a:cs typeface="Josefin Sans"/>
              <a:sym typeface="Josefin Sans"/>
            </a:endParaRPr>
          </a:p>
          <a:p>
            <a:pPr indent="0" lvl="0" marL="0" rtl="0" algn="ctr">
              <a:lnSpc>
                <a:spcPct val="115000"/>
              </a:lnSpc>
              <a:spcBef>
                <a:spcPts val="1500"/>
              </a:spcBef>
              <a:spcAft>
                <a:spcPts val="1500"/>
              </a:spcAft>
              <a:buNone/>
            </a:pPr>
            <a:r>
              <a:rPr lang="en-GB" sz="1100">
                <a:solidFill>
                  <a:srgbClr val="222222"/>
                </a:solidFill>
                <a:highlight>
                  <a:srgbClr val="EFEFEF"/>
                </a:highlight>
                <a:latin typeface="Josefin Sans"/>
                <a:ea typeface="Josefin Sans"/>
                <a:cs typeface="Josefin Sans"/>
                <a:sym typeface="Josefin Sans"/>
              </a:rPr>
              <a:t>And no such data for CARLA</a:t>
            </a:r>
            <a:endParaRPr sz="1100">
              <a:solidFill>
                <a:srgbClr val="222222"/>
              </a:solidFill>
              <a:highlight>
                <a:srgbClr val="EFEFEF"/>
              </a:highlight>
              <a:latin typeface="Josefin Sans"/>
              <a:ea typeface="Josefin Sans"/>
              <a:cs typeface="Josefin Sans"/>
              <a:sym typeface="Josefin Sans"/>
            </a:endParaRPr>
          </a:p>
        </p:txBody>
      </p:sp>
      <p:pic>
        <p:nvPicPr>
          <p:cNvPr id="340" name="Google Shape;340;p35"/>
          <p:cNvPicPr preferRelativeResize="0"/>
          <p:nvPr/>
        </p:nvPicPr>
        <p:blipFill>
          <a:blip r:embed="rId3">
            <a:alphaModFix/>
          </a:blip>
          <a:stretch>
            <a:fillRect/>
          </a:stretch>
        </p:blipFill>
        <p:spPr>
          <a:xfrm>
            <a:off x="52150" y="-5850"/>
            <a:ext cx="407152" cy="457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6"/>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Platform for Vehicle-Pedestrian Simulations</a:t>
            </a:r>
            <a:r>
              <a:rPr b="1" lang="en-GB">
                <a:solidFill>
                  <a:schemeClr val="lt1"/>
                </a:solidFill>
                <a:highlight>
                  <a:schemeClr val="accent1"/>
                </a:highlight>
                <a:latin typeface="Josefin Sans"/>
                <a:ea typeface="Josefin Sans"/>
                <a:cs typeface="Josefin Sans"/>
                <a:sym typeface="Josefin Sans"/>
              </a:rPr>
              <a:t>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346" name="Google Shape;346;p36"/>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JAAD &amp; CARLA</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347" name="Google Shape;347;p36"/>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CARLA would be the best platform to run the </a:t>
            </a:r>
            <a:r>
              <a:rPr lang="en-GB" sz="1100">
                <a:solidFill>
                  <a:srgbClr val="FFFFFF"/>
                </a:solidFill>
                <a:latin typeface="Josefin Sans"/>
                <a:ea typeface="Josefin Sans"/>
                <a:cs typeface="Josefin Sans"/>
                <a:sym typeface="Josefin Sans"/>
              </a:rPr>
              <a:t>simulation</a:t>
            </a:r>
            <a:r>
              <a:rPr lang="en-GB" sz="1100">
                <a:solidFill>
                  <a:srgbClr val="FFFFFF"/>
                </a:solidFill>
                <a:latin typeface="Josefin Sans"/>
                <a:ea typeface="Josefin Sans"/>
                <a:cs typeface="Josefin Sans"/>
                <a:sym typeface="Josefin Sans"/>
              </a:rPr>
              <a:t> and the inputs are listed above</a:t>
            </a:r>
            <a:endParaRPr sz="1100">
              <a:solidFill>
                <a:srgbClr val="FFFFFF"/>
              </a:solidFill>
              <a:latin typeface="Josefin Sans"/>
              <a:ea typeface="Josefin Sans"/>
              <a:cs typeface="Josefin Sans"/>
              <a:sym typeface="Josefin Sans"/>
            </a:endParaRPr>
          </a:p>
        </p:txBody>
      </p:sp>
      <p:sp>
        <p:nvSpPr>
          <p:cNvPr id="348" name="Google Shape;348;p36"/>
          <p:cNvSpPr txBox="1"/>
          <p:nvPr/>
        </p:nvSpPr>
        <p:spPr>
          <a:xfrm>
            <a:off x="516800" y="975525"/>
            <a:ext cx="3338400" cy="7854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0"/>
              </a:spcAft>
              <a:buNone/>
            </a:pPr>
            <a:r>
              <a:rPr b="1" lang="en-GB" sz="1100">
                <a:solidFill>
                  <a:schemeClr val="dk1"/>
                </a:solidFill>
                <a:latin typeface="Josefin Sans"/>
                <a:ea typeface="Josefin Sans"/>
                <a:cs typeface="Josefin Sans"/>
                <a:sym typeface="Josefin Sans"/>
              </a:rPr>
              <a:t>Simulator Link</a:t>
            </a:r>
            <a:r>
              <a:rPr b="1" lang="en-GB" sz="1100">
                <a:solidFill>
                  <a:schemeClr val="dk1"/>
                </a:solidFill>
                <a:latin typeface="Josefin Sans"/>
                <a:ea typeface="Josefin Sans"/>
                <a:cs typeface="Josefin Sans"/>
                <a:sym typeface="Josefin Sans"/>
              </a:rPr>
              <a:t>:</a:t>
            </a:r>
            <a:endParaRPr b="1" sz="1100">
              <a:solidFill>
                <a:schemeClr val="dk1"/>
              </a:solidFill>
              <a:latin typeface="Josefin Sans"/>
              <a:ea typeface="Josefin Sans"/>
              <a:cs typeface="Josefin Sans"/>
              <a:sym typeface="Josefin Sans"/>
            </a:endParaRPr>
          </a:p>
          <a:p>
            <a:pPr indent="0" lvl="0" marL="0" rtl="0" algn="ctr">
              <a:lnSpc>
                <a:spcPct val="115000"/>
              </a:lnSpc>
              <a:spcBef>
                <a:spcPts val="1500"/>
              </a:spcBef>
              <a:spcAft>
                <a:spcPts val="1500"/>
              </a:spcAft>
              <a:buNone/>
            </a:pPr>
            <a:r>
              <a:rPr lang="en-GB" sz="1100" u="sng">
                <a:solidFill>
                  <a:srgbClr val="1155CC"/>
                </a:solidFill>
                <a:highlight>
                  <a:srgbClr val="EFEFEF"/>
                </a:highlight>
                <a:latin typeface="Josefin Sans"/>
                <a:ea typeface="Josefin Sans"/>
                <a:cs typeface="Josefin Sans"/>
                <a:sym typeface="Josefin Sans"/>
                <a:hlinkClick r:id="rId3">
                  <a:extLst>
                    <a:ext uri="{A12FA001-AC4F-418D-AE19-62706E023703}">
                      <ahyp:hlinkClr val="tx"/>
                    </a:ext>
                  </a:extLst>
                </a:hlinkClick>
              </a:rPr>
              <a:t>https://github.com/carla-simulator/carla</a:t>
            </a:r>
            <a:endParaRPr sz="1100">
              <a:latin typeface="Josefin Sans"/>
              <a:ea typeface="Josefin Sans"/>
              <a:cs typeface="Josefin Sans"/>
              <a:sym typeface="Josefin Sans"/>
            </a:endParaRPr>
          </a:p>
        </p:txBody>
      </p:sp>
      <p:sp>
        <p:nvSpPr>
          <p:cNvPr id="349" name="Google Shape;349;p36"/>
          <p:cNvSpPr txBox="1"/>
          <p:nvPr/>
        </p:nvSpPr>
        <p:spPr>
          <a:xfrm>
            <a:off x="4064225" y="1016925"/>
            <a:ext cx="2275200" cy="16995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600"/>
              </a:spcBef>
              <a:spcAft>
                <a:spcPts val="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1. Environment Configuration:</a:t>
            </a:r>
            <a:endParaRPr sz="1000">
              <a:solidFill>
                <a:srgbClr val="222222"/>
              </a:solidFill>
              <a:highlight>
                <a:srgbClr val="FFFFFF"/>
              </a:highlight>
              <a:latin typeface="Josefin Sans"/>
              <a:ea typeface="Josefin Sans"/>
              <a:cs typeface="Josefin Sans"/>
              <a:sym typeface="Josefin Sans"/>
            </a:endParaRPr>
          </a:p>
          <a:p>
            <a:pPr indent="0" lvl="0" marL="0" rtl="0" algn="l">
              <a:lnSpc>
                <a:spcPct val="100000"/>
              </a:lnSpc>
              <a:spcBef>
                <a:spcPts val="600"/>
              </a:spcBef>
              <a:spcAft>
                <a:spcPts val="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 Map selection (e.g., "Town03")</a:t>
            </a:r>
            <a:endParaRPr sz="1000">
              <a:solidFill>
                <a:srgbClr val="222222"/>
              </a:solidFill>
              <a:highlight>
                <a:srgbClr val="FFFFFF"/>
              </a:highlight>
              <a:latin typeface="Josefin Sans"/>
              <a:ea typeface="Josefin Sans"/>
              <a:cs typeface="Josefin Sans"/>
              <a:sym typeface="Josefin Sans"/>
            </a:endParaRPr>
          </a:p>
          <a:p>
            <a:pPr indent="0" lvl="0" marL="0" rtl="0" algn="l">
              <a:lnSpc>
                <a:spcPct val="100000"/>
              </a:lnSpc>
              <a:spcBef>
                <a:spcPts val="600"/>
              </a:spcBef>
              <a:spcAft>
                <a:spcPts val="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 Weather conditions (20+ options)</a:t>
            </a:r>
            <a:endParaRPr sz="1000">
              <a:solidFill>
                <a:srgbClr val="222222"/>
              </a:solidFill>
              <a:highlight>
                <a:srgbClr val="FFFFFF"/>
              </a:highlight>
              <a:latin typeface="Josefin Sans"/>
              <a:ea typeface="Josefin Sans"/>
              <a:cs typeface="Josefin Sans"/>
              <a:sym typeface="Josefin Sans"/>
            </a:endParaRPr>
          </a:p>
          <a:p>
            <a:pPr indent="0" lvl="0" marL="0" rtl="0" algn="l">
              <a:lnSpc>
                <a:spcPct val="100000"/>
              </a:lnSpc>
              <a:spcBef>
                <a:spcPts val="600"/>
              </a:spcBef>
              <a:spcAft>
                <a:spcPts val="0"/>
              </a:spcAft>
              <a:buNone/>
            </a:pPr>
            <a:r>
              <a:rPr lang="en-GB" sz="1000">
                <a:solidFill>
                  <a:srgbClr val="222222"/>
                </a:solidFill>
                <a:highlight>
                  <a:srgbClr val="FFFFFF"/>
                </a:highlight>
                <a:latin typeface="Josefin Sans"/>
                <a:ea typeface="Josefin Sans"/>
                <a:cs typeface="Josefin Sans"/>
                <a:sym typeface="Josefin Sans"/>
              </a:rPr>
              <a:t>- Time of day</a:t>
            </a:r>
            <a:endParaRPr sz="1000">
              <a:solidFill>
                <a:srgbClr val="222222"/>
              </a:solidFill>
              <a:highlight>
                <a:srgbClr val="FFFFFF"/>
              </a:highlight>
              <a:latin typeface="Josefin Sans"/>
              <a:ea typeface="Josefin Sans"/>
              <a:cs typeface="Josefin Sans"/>
              <a:sym typeface="Josefin Sans"/>
            </a:endParaRPr>
          </a:p>
          <a:p>
            <a:pPr indent="0" lvl="0" marL="0" rtl="0" algn="l">
              <a:lnSpc>
                <a:spcPct val="100000"/>
              </a:lnSpc>
              <a:spcBef>
                <a:spcPts val="600"/>
              </a:spcBef>
              <a:spcAft>
                <a:spcPts val="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 Traffic infrastructure (crosswalks, signals)</a:t>
            </a:r>
            <a:endParaRPr sz="1000">
              <a:solidFill>
                <a:srgbClr val="222222"/>
              </a:solidFill>
              <a:highlight>
                <a:srgbClr val="FFFFFF"/>
              </a:highlight>
              <a:latin typeface="Josefin Sans"/>
              <a:ea typeface="Josefin Sans"/>
              <a:cs typeface="Josefin Sans"/>
              <a:sym typeface="Josefin Sans"/>
            </a:endParaRPr>
          </a:p>
          <a:p>
            <a:pPr indent="0" lvl="0" marL="0" rtl="0" algn="l">
              <a:lnSpc>
                <a:spcPct val="100000"/>
              </a:lnSpc>
              <a:spcBef>
                <a:spcPts val="600"/>
              </a:spcBef>
              <a:spcAft>
                <a:spcPts val="0"/>
              </a:spcAft>
              <a:buClr>
                <a:schemeClr val="dk1"/>
              </a:buClr>
              <a:buSzPts val="1100"/>
              <a:buFont typeface="Arial"/>
              <a:buNone/>
            </a:pPr>
            <a:r>
              <a:t/>
            </a:r>
            <a:endParaRPr sz="1000">
              <a:solidFill>
                <a:schemeClr val="dk1"/>
              </a:solidFill>
              <a:latin typeface="Josefin Sans"/>
              <a:ea typeface="Josefin Sans"/>
              <a:cs typeface="Josefin Sans"/>
              <a:sym typeface="Josefin Sans"/>
            </a:endParaRPr>
          </a:p>
          <a:p>
            <a:pPr indent="0" lvl="0" marL="0" rtl="0" algn="l">
              <a:lnSpc>
                <a:spcPct val="100000"/>
              </a:lnSpc>
              <a:spcBef>
                <a:spcPts val="600"/>
              </a:spcBef>
              <a:spcAft>
                <a:spcPts val="600"/>
              </a:spcAft>
              <a:buNone/>
            </a:pPr>
            <a:r>
              <a:t/>
            </a:r>
            <a:endParaRPr b="1" sz="1000">
              <a:solidFill>
                <a:schemeClr val="dk1"/>
              </a:solidFill>
              <a:latin typeface="Josefin Sans"/>
              <a:ea typeface="Josefin Sans"/>
              <a:cs typeface="Josefin Sans"/>
              <a:sym typeface="Josefin Sans"/>
            </a:endParaRPr>
          </a:p>
        </p:txBody>
      </p:sp>
      <p:sp>
        <p:nvSpPr>
          <p:cNvPr id="350" name="Google Shape;350;p36"/>
          <p:cNvSpPr txBox="1"/>
          <p:nvPr/>
        </p:nvSpPr>
        <p:spPr>
          <a:xfrm>
            <a:off x="4064225" y="2918384"/>
            <a:ext cx="2275200" cy="16752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3. Pedestrian Configuration:</a:t>
            </a:r>
            <a:endParaRPr sz="10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 Number of pedestrians (typical: ~20 per scenario)</a:t>
            </a:r>
            <a:endParaRPr sz="10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 Behavioral parameters (can be derived from JAAD statistics)</a:t>
            </a:r>
            <a:endParaRPr sz="1000">
              <a:solidFill>
                <a:srgbClr val="222222"/>
              </a:solidFill>
              <a:highlight>
                <a:srgbClr val="FFFFFF"/>
              </a:highlight>
              <a:latin typeface="Josefin Sans"/>
              <a:ea typeface="Josefin Sans"/>
              <a:cs typeface="Josefin Sans"/>
              <a:sym typeface="Josefin Sans"/>
            </a:endParaRPr>
          </a:p>
          <a:p>
            <a:pPr indent="0" lvl="0" marL="0" rtl="0" algn="l">
              <a:lnSpc>
                <a:spcPct val="100000"/>
              </a:lnSpc>
              <a:spcBef>
                <a:spcPts val="600"/>
              </a:spcBef>
              <a:spcAft>
                <a:spcPts val="600"/>
              </a:spcAft>
              <a:buNone/>
            </a:pPr>
            <a:r>
              <a:rPr lang="en-GB" sz="1000">
                <a:solidFill>
                  <a:srgbClr val="222222"/>
                </a:solidFill>
                <a:highlight>
                  <a:srgbClr val="FFFFFF"/>
                </a:highlight>
                <a:latin typeface="Josefin Sans"/>
                <a:ea typeface="Josefin Sans"/>
                <a:cs typeface="Josefin Sans"/>
                <a:sym typeface="Josefin Sans"/>
              </a:rPr>
              <a:t>- Movement patterns (using JAAD trajectory data)</a:t>
            </a:r>
            <a:endParaRPr b="1" sz="1000">
              <a:solidFill>
                <a:schemeClr val="dk1"/>
              </a:solidFill>
              <a:latin typeface="Josefin Sans"/>
              <a:ea typeface="Josefin Sans"/>
              <a:cs typeface="Josefin Sans"/>
              <a:sym typeface="Josefin Sans"/>
            </a:endParaRPr>
          </a:p>
        </p:txBody>
      </p:sp>
      <p:sp>
        <p:nvSpPr>
          <p:cNvPr id="351" name="Google Shape;351;p36"/>
          <p:cNvSpPr txBox="1"/>
          <p:nvPr/>
        </p:nvSpPr>
        <p:spPr>
          <a:xfrm>
            <a:off x="6496450" y="1016925"/>
            <a:ext cx="2275200" cy="16995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2. Vehicle Parameters:</a:t>
            </a:r>
            <a:endParaRPr sz="10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 Vehicle model selection (e.g., Seat Leon)</a:t>
            </a:r>
            <a:endParaRPr sz="10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 Vehicle type (5 options available)</a:t>
            </a:r>
            <a:endParaRPr sz="10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 Physics parameters</a:t>
            </a:r>
            <a:endParaRPr sz="1000">
              <a:solidFill>
                <a:srgbClr val="222222"/>
              </a:solidFill>
              <a:highlight>
                <a:srgbClr val="FFFFFF"/>
              </a:highlight>
              <a:latin typeface="Josefin Sans"/>
              <a:ea typeface="Josefin Sans"/>
              <a:cs typeface="Josefin Sans"/>
              <a:sym typeface="Josefin Sans"/>
            </a:endParaRPr>
          </a:p>
          <a:p>
            <a:pPr indent="0" lvl="0" marL="0" rtl="0" algn="l">
              <a:lnSpc>
                <a:spcPct val="100000"/>
              </a:lnSpc>
              <a:spcBef>
                <a:spcPts val="600"/>
              </a:spcBef>
              <a:spcAft>
                <a:spcPts val="600"/>
              </a:spcAft>
              <a:buNone/>
            </a:pPr>
            <a:r>
              <a:rPr lang="en-GB" sz="1000">
                <a:solidFill>
                  <a:srgbClr val="222222"/>
                </a:solidFill>
                <a:highlight>
                  <a:srgbClr val="FFFFFF"/>
                </a:highlight>
                <a:latin typeface="Josefin Sans"/>
                <a:ea typeface="Josefin Sans"/>
                <a:cs typeface="Josefin Sans"/>
                <a:sym typeface="Josefin Sans"/>
              </a:rPr>
              <a:t>- Sensor configuration (6-axis IMU, cameras)</a:t>
            </a:r>
            <a:endParaRPr b="1" sz="1000">
              <a:solidFill>
                <a:schemeClr val="dk1"/>
              </a:solidFill>
              <a:latin typeface="Josefin Sans"/>
              <a:ea typeface="Josefin Sans"/>
              <a:cs typeface="Josefin Sans"/>
              <a:sym typeface="Josefin Sans"/>
            </a:endParaRPr>
          </a:p>
        </p:txBody>
      </p:sp>
      <p:sp>
        <p:nvSpPr>
          <p:cNvPr id="352" name="Google Shape;352;p36"/>
          <p:cNvSpPr txBox="1"/>
          <p:nvPr/>
        </p:nvSpPr>
        <p:spPr>
          <a:xfrm>
            <a:off x="6496450" y="2918384"/>
            <a:ext cx="2275200" cy="16752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4. Scenario Definition:</a:t>
            </a:r>
            <a:endParaRPr sz="10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 Pre-defined scenarios (50+ available)</a:t>
            </a:r>
            <a:endParaRPr sz="10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 Custom path definitions</a:t>
            </a:r>
            <a:endParaRPr sz="10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 Interaction triggers</a:t>
            </a:r>
            <a:endParaRPr sz="1000">
              <a:solidFill>
                <a:srgbClr val="222222"/>
              </a:solidFill>
              <a:highlight>
                <a:srgbClr val="FFFFFF"/>
              </a:highlight>
              <a:latin typeface="Josefin Sans"/>
              <a:ea typeface="Josefin Sans"/>
              <a:cs typeface="Josefin Sans"/>
              <a:sym typeface="Josefin Sans"/>
            </a:endParaRPr>
          </a:p>
          <a:p>
            <a:pPr indent="0" lvl="0" marL="0" rtl="0" algn="l">
              <a:spcBef>
                <a:spcPts val="600"/>
              </a:spcBef>
              <a:spcAft>
                <a:spcPts val="600"/>
              </a:spcAft>
              <a:buNone/>
            </a:pPr>
            <a:r>
              <a:rPr lang="en-GB" sz="1000">
                <a:solidFill>
                  <a:srgbClr val="222222"/>
                </a:solidFill>
                <a:highlight>
                  <a:srgbClr val="FFFFFF"/>
                </a:highlight>
                <a:latin typeface="Josefin Sans"/>
                <a:ea typeface="Josefin Sans"/>
                <a:cs typeface="Josefin Sans"/>
                <a:sym typeface="Josefin Sans"/>
              </a:rPr>
              <a:t>- Risk event parameters</a:t>
            </a:r>
            <a:endParaRPr b="1" sz="1000">
              <a:solidFill>
                <a:schemeClr val="dk1"/>
              </a:solidFill>
              <a:latin typeface="Josefin Sans"/>
              <a:ea typeface="Josefin Sans"/>
              <a:cs typeface="Josefin Sans"/>
              <a:sym typeface="Josefin Sans"/>
            </a:endParaRPr>
          </a:p>
        </p:txBody>
      </p:sp>
      <p:sp>
        <p:nvSpPr>
          <p:cNvPr id="353" name="Google Shape;353;p36"/>
          <p:cNvSpPr txBox="1"/>
          <p:nvPr/>
        </p:nvSpPr>
        <p:spPr>
          <a:xfrm>
            <a:off x="516800" y="1931025"/>
            <a:ext cx="3338400" cy="26625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1500"/>
              </a:spcBef>
              <a:spcAft>
                <a:spcPts val="0"/>
              </a:spcAft>
              <a:buNone/>
            </a:pPr>
            <a:r>
              <a:rPr b="1" lang="en-GB" sz="1000">
                <a:solidFill>
                  <a:schemeClr val="dk1"/>
                </a:solidFill>
                <a:highlight>
                  <a:srgbClr val="F3F3F3"/>
                </a:highlight>
                <a:latin typeface="Josefin Sans"/>
                <a:ea typeface="Josefin Sans"/>
                <a:cs typeface="Josefin Sans"/>
                <a:sym typeface="Josefin Sans"/>
              </a:rPr>
              <a:t>Steps to run the simulation:</a:t>
            </a:r>
            <a:endParaRPr b="1" sz="1000">
              <a:solidFill>
                <a:schemeClr val="dk1"/>
              </a:solidFill>
              <a:highlight>
                <a:srgbClr val="F3F3F3"/>
              </a:highlight>
              <a:latin typeface="Josefin Sans"/>
              <a:ea typeface="Josefin Sans"/>
              <a:cs typeface="Josefin Sans"/>
              <a:sym typeface="Josefin Sans"/>
            </a:endParaRPr>
          </a:p>
          <a:p>
            <a:pPr indent="0" lvl="0" marL="0" rtl="0" algn="l">
              <a:spcBef>
                <a:spcPts val="1500"/>
              </a:spcBef>
              <a:spcAft>
                <a:spcPts val="0"/>
              </a:spcAft>
              <a:buClr>
                <a:schemeClr val="dk1"/>
              </a:buClr>
              <a:buSzPts val="1100"/>
              <a:buFont typeface="Arial"/>
              <a:buNone/>
            </a:pPr>
            <a:r>
              <a:rPr lang="en-GB" sz="900">
                <a:solidFill>
                  <a:srgbClr val="222222"/>
                </a:solidFill>
                <a:highlight>
                  <a:srgbClr val="F3F3F3"/>
                </a:highlight>
                <a:latin typeface="Josefin Sans"/>
                <a:ea typeface="Josefin Sans"/>
                <a:cs typeface="Josefin Sans"/>
                <a:sym typeface="Josefin Sans"/>
              </a:rPr>
              <a:t>1. Set up CARLA environment</a:t>
            </a:r>
            <a:endParaRPr sz="900">
              <a:solidFill>
                <a:srgbClr val="222222"/>
              </a:solidFill>
              <a:highlight>
                <a:srgbClr val="F3F3F3"/>
              </a:highlight>
              <a:latin typeface="Josefin Sans"/>
              <a:ea typeface="Josefin Sans"/>
              <a:cs typeface="Josefin Sans"/>
              <a:sym typeface="Josefin Sans"/>
            </a:endParaRPr>
          </a:p>
          <a:p>
            <a:pPr indent="0" lvl="0" marL="0" rtl="0" algn="l">
              <a:spcBef>
                <a:spcPts val="1500"/>
              </a:spcBef>
              <a:spcAft>
                <a:spcPts val="0"/>
              </a:spcAft>
              <a:buClr>
                <a:schemeClr val="dk1"/>
              </a:buClr>
              <a:buSzPts val="1100"/>
              <a:buFont typeface="Arial"/>
              <a:buNone/>
            </a:pPr>
            <a:r>
              <a:rPr lang="en-GB" sz="900">
                <a:solidFill>
                  <a:srgbClr val="222222"/>
                </a:solidFill>
                <a:highlight>
                  <a:srgbClr val="F3F3F3"/>
                </a:highlight>
                <a:latin typeface="Josefin Sans"/>
                <a:ea typeface="Josefin Sans"/>
                <a:cs typeface="Josefin Sans"/>
                <a:sym typeface="Josefin Sans"/>
              </a:rPr>
              <a:t>2. Configure environment parameters</a:t>
            </a:r>
            <a:endParaRPr sz="900">
              <a:solidFill>
                <a:srgbClr val="222222"/>
              </a:solidFill>
              <a:highlight>
                <a:srgbClr val="F3F3F3"/>
              </a:highlight>
              <a:latin typeface="Josefin Sans"/>
              <a:ea typeface="Josefin Sans"/>
              <a:cs typeface="Josefin Sans"/>
              <a:sym typeface="Josefin Sans"/>
            </a:endParaRPr>
          </a:p>
          <a:p>
            <a:pPr indent="0" lvl="0" marL="0" rtl="0" algn="l">
              <a:spcBef>
                <a:spcPts val="1500"/>
              </a:spcBef>
              <a:spcAft>
                <a:spcPts val="0"/>
              </a:spcAft>
              <a:buClr>
                <a:schemeClr val="dk1"/>
              </a:buClr>
              <a:buSzPts val="1100"/>
              <a:buFont typeface="Arial"/>
              <a:buNone/>
            </a:pPr>
            <a:r>
              <a:rPr lang="en-GB" sz="900">
                <a:solidFill>
                  <a:srgbClr val="222222"/>
                </a:solidFill>
                <a:highlight>
                  <a:srgbClr val="F3F3F3"/>
                </a:highlight>
                <a:latin typeface="Josefin Sans"/>
                <a:ea typeface="Josefin Sans"/>
                <a:cs typeface="Josefin Sans"/>
                <a:sym typeface="Josefin Sans"/>
              </a:rPr>
              <a:t>3. Define vehicle and pedestrian models</a:t>
            </a:r>
            <a:endParaRPr sz="900">
              <a:solidFill>
                <a:srgbClr val="222222"/>
              </a:solidFill>
              <a:highlight>
                <a:srgbClr val="F3F3F3"/>
              </a:highlight>
              <a:latin typeface="Josefin Sans"/>
              <a:ea typeface="Josefin Sans"/>
              <a:cs typeface="Josefin Sans"/>
              <a:sym typeface="Josefin Sans"/>
            </a:endParaRPr>
          </a:p>
          <a:p>
            <a:pPr indent="0" lvl="0" marL="0" rtl="0" algn="l">
              <a:spcBef>
                <a:spcPts val="1500"/>
              </a:spcBef>
              <a:spcAft>
                <a:spcPts val="0"/>
              </a:spcAft>
              <a:buClr>
                <a:schemeClr val="dk1"/>
              </a:buClr>
              <a:buSzPts val="1100"/>
              <a:buFont typeface="Arial"/>
              <a:buNone/>
            </a:pPr>
            <a:r>
              <a:rPr lang="en-GB" sz="900">
                <a:solidFill>
                  <a:srgbClr val="222222"/>
                </a:solidFill>
                <a:highlight>
                  <a:srgbClr val="F3F3F3"/>
                </a:highlight>
                <a:latin typeface="Josefin Sans"/>
                <a:ea typeface="Josefin Sans"/>
                <a:cs typeface="Josefin Sans"/>
                <a:sym typeface="Josefin Sans"/>
              </a:rPr>
              <a:t>4. Set up sensor data collection</a:t>
            </a:r>
            <a:endParaRPr sz="900">
              <a:solidFill>
                <a:srgbClr val="222222"/>
              </a:solidFill>
              <a:highlight>
                <a:srgbClr val="F3F3F3"/>
              </a:highlight>
              <a:latin typeface="Josefin Sans"/>
              <a:ea typeface="Josefin Sans"/>
              <a:cs typeface="Josefin Sans"/>
              <a:sym typeface="Josefin Sans"/>
            </a:endParaRPr>
          </a:p>
          <a:p>
            <a:pPr indent="0" lvl="0" marL="0" rtl="0" algn="l">
              <a:spcBef>
                <a:spcPts val="1500"/>
              </a:spcBef>
              <a:spcAft>
                <a:spcPts val="0"/>
              </a:spcAft>
              <a:buClr>
                <a:schemeClr val="dk1"/>
              </a:buClr>
              <a:buSzPts val="1100"/>
              <a:buFont typeface="Arial"/>
              <a:buNone/>
            </a:pPr>
            <a:r>
              <a:rPr lang="en-GB" sz="900">
                <a:solidFill>
                  <a:srgbClr val="222222"/>
                </a:solidFill>
                <a:highlight>
                  <a:srgbClr val="F3F3F3"/>
                </a:highlight>
                <a:latin typeface="Josefin Sans"/>
                <a:ea typeface="Josefin Sans"/>
                <a:cs typeface="Josefin Sans"/>
                <a:sym typeface="Josefin Sans"/>
              </a:rPr>
              <a:t>5. Define interaction scenarios</a:t>
            </a:r>
            <a:endParaRPr sz="900">
              <a:solidFill>
                <a:srgbClr val="222222"/>
              </a:solidFill>
              <a:highlight>
                <a:srgbClr val="F3F3F3"/>
              </a:highlight>
              <a:latin typeface="Josefin Sans"/>
              <a:ea typeface="Josefin Sans"/>
              <a:cs typeface="Josefin Sans"/>
              <a:sym typeface="Josefin Sans"/>
            </a:endParaRPr>
          </a:p>
          <a:p>
            <a:pPr indent="0" lvl="0" marL="0" rtl="0" algn="l">
              <a:spcBef>
                <a:spcPts val="1500"/>
              </a:spcBef>
              <a:spcAft>
                <a:spcPts val="0"/>
              </a:spcAft>
              <a:buClr>
                <a:schemeClr val="dk1"/>
              </a:buClr>
              <a:buSzPts val="1100"/>
              <a:buFont typeface="Arial"/>
              <a:buNone/>
            </a:pPr>
            <a:r>
              <a:rPr lang="en-GB" sz="900">
                <a:solidFill>
                  <a:srgbClr val="222222"/>
                </a:solidFill>
                <a:highlight>
                  <a:srgbClr val="F3F3F3"/>
                </a:highlight>
                <a:latin typeface="Josefin Sans"/>
                <a:ea typeface="Josefin Sans"/>
                <a:cs typeface="Josefin Sans"/>
                <a:sym typeface="Josefin Sans"/>
              </a:rPr>
              <a:t>6. Implement behavioral models (can be trained on JAAD data)</a:t>
            </a:r>
            <a:endParaRPr sz="900">
              <a:solidFill>
                <a:srgbClr val="222222"/>
              </a:solidFill>
              <a:highlight>
                <a:srgbClr val="F3F3F3"/>
              </a:highlight>
              <a:latin typeface="Josefin Sans"/>
              <a:ea typeface="Josefin Sans"/>
              <a:cs typeface="Josefin Sans"/>
              <a:sym typeface="Josefin Sans"/>
            </a:endParaRPr>
          </a:p>
          <a:p>
            <a:pPr indent="0" lvl="0" marL="0" rtl="0" algn="l">
              <a:lnSpc>
                <a:spcPct val="100000"/>
              </a:lnSpc>
              <a:spcBef>
                <a:spcPts val="1500"/>
              </a:spcBef>
              <a:spcAft>
                <a:spcPts val="1500"/>
              </a:spcAft>
              <a:buNone/>
            </a:pPr>
            <a:r>
              <a:rPr lang="en-GB" sz="900">
                <a:solidFill>
                  <a:srgbClr val="222222"/>
                </a:solidFill>
                <a:highlight>
                  <a:srgbClr val="F3F3F3"/>
                </a:highlight>
                <a:latin typeface="Josefin Sans"/>
                <a:ea typeface="Josefin Sans"/>
                <a:cs typeface="Josefin Sans"/>
                <a:sym typeface="Josefin Sans"/>
              </a:rPr>
              <a:t>7. Define metrics for measuring interactions and risk</a:t>
            </a:r>
            <a:endParaRPr sz="900">
              <a:solidFill>
                <a:schemeClr val="dk1"/>
              </a:solidFill>
              <a:highlight>
                <a:srgbClr val="F3F3F3"/>
              </a:highlight>
              <a:latin typeface="Josefin Sans"/>
              <a:ea typeface="Josefin Sans"/>
              <a:cs typeface="Josefin Sans"/>
              <a:sym typeface="Josefin Sans"/>
            </a:endParaRPr>
          </a:p>
        </p:txBody>
      </p:sp>
      <p:pic>
        <p:nvPicPr>
          <p:cNvPr id="354" name="Google Shape;354;p36"/>
          <p:cNvPicPr preferRelativeResize="0"/>
          <p:nvPr/>
        </p:nvPicPr>
        <p:blipFill>
          <a:blip r:embed="rId4">
            <a:alphaModFix/>
          </a:blip>
          <a:stretch>
            <a:fillRect/>
          </a:stretch>
        </p:blipFill>
        <p:spPr>
          <a:xfrm>
            <a:off x="52150" y="-5850"/>
            <a:ext cx="407152" cy="457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7"/>
          <p:cNvSpPr/>
          <p:nvPr/>
        </p:nvSpPr>
        <p:spPr>
          <a:xfrm>
            <a:off x="-150" y="-51600"/>
            <a:ext cx="9144000" cy="5195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3200">
                <a:solidFill>
                  <a:schemeClr val="lt1"/>
                </a:solidFill>
                <a:highlight>
                  <a:schemeClr val="accent1"/>
                </a:highlight>
                <a:latin typeface="Josefin Sans"/>
                <a:ea typeface="Josefin Sans"/>
                <a:cs typeface="Josefin Sans"/>
                <a:sym typeface="Josefin Sans"/>
              </a:rPr>
              <a:t>PART - II</a:t>
            </a:r>
            <a:r>
              <a:rPr b="1" lang="en-GB" sz="1800">
                <a:solidFill>
                  <a:schemeClr val="lt1"/>
                </a:solidFill>
                <a:highlight>
                  <a:schemeClr val="accent1"/>
                </a:highlight>
                <a:latin typeface="Josefin Sans"/>
                <a:ea typeface="Josefin Sans"/>
                <a:cs typeface="Josefin Sans"/>
                <a:sym typeface="Josefin Sans"/>
              </a:rPr>
              <a:t> </a:t>
            </a:r>
            <a:r>
              <a:rPr b="1" lang="en-GB" sz="1800">
                <a:solidFill>
                  <a:srgbClr val="FFFFFF"/>
                </a:solidFill>
                <a:latin typeface="Josefin Sans"/>
                <a:ea typeface="Josefin Sans"/>
                <a:cs typeface="Josefin Sans"/>
                <a:sym typeface="Josefin Sans"/>
              </a:rPr>
              <a:t> </a:t>
            </a:r>
            <a:endParaRPr b="1" sz="1800">
              <a:solidFill>
                <a:srgbClr val="FFFFFF"/>
              </a:solidFill>
              <a:latin typeface="Josefin Sans"/>
              <a:ea typeface="Josefin Sans"/>
              <a:cs typeface="Josefin Sans"/>
              <a:sym typeface="Josefi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8"/>
          <p:cNvSpPr/>
          <p:nvPr/>
        </p:nvSpPr>
        <p:spPr>
          <a:xfrm>
            <a:off x="-26550" y="1075050"/>
            <a:ext cx="9197100" cy="4068300"/>
          </a:xfrm>
          <a:prstGeom prst="rect">
            <a:avLst/>
          </a:prstGeom>
          <a:solidFill>
            <a:schemeClr val="accent1"/>
          </a:solidFill>
          <a:ln>
            <a:noFill/>
          </a:ln>
        </p:spPr>
        <p:txBody>
          <a:bodyPr anchorCtr="0" anchor="ctr" bIns="91425" lIns="91425" spcFirstLastPara="1" rIns="91425" wrap="square" tIns="91425">
            <a:noAutofit/>
          </a:bodyPr>
          <a:lstStyle/>
          <a:p>
            <a:pPr indent="-330200" lvl="0" marL="457200" rtl="0" algn="l">
              <a:spcBef>
                <a:spcPts val="0"/>
              </a:spcBef>
              <a:spcAft>
                <a:spcPts val="0"/>
              </a:spcAft>
              <a:buClr>
                <a:schemeClr val="lt1"/>
              </a:buClr>
              <a:buSzPts val="1600"/>
              <a:buFont typeface="Josefin Sans"/>
              <a:buChar char="●"/>
            </a:pPr>
            <a:r>
              <a:rPr lang="en-GB" sz="1600">
                <a:solidFill>
                  <a:schemeClr val="lt1"/>
                </a:solidFill>
                <a:highlight>
                  <a:srgbClr val="4285F4"/>
                </a:highlight>
                <a:latin typeface="Josefin Sans"/>
                <a:ea typeface="Josefin Sans"/>
                <a:cs typeface="Josefin Sans"/>
                <a:sym typeface="Josefin Sans"/>
              </a:rPr>
              <a:t>Figure out simulations on SUMO</a:t>
            </a:r>
            <a:endParaRPr sz="1600">
              <a:solidFill>
                <a:schemeClr val="lt1"/>
              </a:solidFill>
              <a:highlight>
                <a:srgbClr val="4285F4"/>
              </a:highlight>
              <a:latin typeface="Josefin Sans"/>
              <a:ea typeface="Josefin Sans"/>
              <a:cs typeface="Josefin Sans"/>
              <a:sym typeface="Josefin Sans"/>
            </a:endParaRPr>
          </a:p>
          <a:p>
            <a:pPr indent="-330200" lvl="0" marL="457200" rtl="0" algn="l">
              <a:spcBef>
                <a:spcPts val="0"/>
              </a:spcBef>
              <a:spcAft>
                <a:spcPts val="0"/>
              </a:spcAft>
              <a:buClr>
                <a:schemeClr val="lt1"/>
              </a:buClr>
              <a:buSzPts val="1600"/>
              <a:buFont typeface="Josefin Sans"/>
              <a:buChar char="●"/>
            </a:pPr>
            <a:r>
              <a:rPr lang="en-GB" sz="1600">
                <a:solidFill>
                  <a:schemeClr val="lt1"/>
                </a:solidFill>
                <a:highlight>
                  <a:srgbClr val="4285F4"/>
                </a:highlight>
                <a:latin typeface="Josefin Sans"/>
                <a:ea typeface="Josefin Sans"/>
                <a:cs typeface="Josefin Sans"/>
                <a:sym typeface="Josefin Sans"/>
              </a:rPr>
              <a:t>Visualize and analyze the results and derive observations</a:t>
            </a:r>
            <a:endParaRPr sz="1600">
              <a:solidFill>
                <a:schemeClr val="lt1"/>
              </a:solidFill>
              <a:highlight>
                <a:srgbClr val="4285F4"/>
              </a:highlight>
              <a:latin typeface="Josefin Sans"/>
              <a:ea typeface="Josefin Sans"/>
              <a:cs typeface="Josefin Sans"/>
              <a:sym typeface="Josefin Sans"/>
            </a:endParaRPr>
          </a:p>
        </p:txBody>
      </p:sp>
      <p:sp>
        <p:nvSpPr>
          <p:cNvPr id="365" name="Google Shape;365;p38"/>
          <p:cNvSpPr txBox="1"/>
          <p:nvPr/>
        </p:nvSpPr>
        <p:spPr>
          <a:xfrm>
            <a:off x="6170550" y="0"/>
            <a:ext cx="30000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100">
                <a:solidFill>
                  <a:schemeClr val="lt1"/>
                </a:solidFill>
                <a:latin typeface="Josefin Sans"/>
                <a:ea typeface="Josefin Sans"/>
                <a:cs typeface="Josefin Sans"/>
                <a:sym typeface="Josefin Sans"/>
              </a:rPr>
              <a:t>            TATA POWER</a:t>
            </a:r>
            <a:endParaRPr sz="2300"/>
          </a:p>
        </p:txBody>
      </p:sp>
      <p:sp>
        <p:nvSpPr>
          <p:cNvPr id="366" name="Google Shape;366;p38"/>
          <p:cNvSpPr/>
          <p:nvPr/>
        </p:nvSpPr>
        <p:spPr>
          <a:xfrm>
            <a:off x="0" y="194625"/>
            <a:ext cx="9144000" cy="750900"/>
          </a:xfrm>
          <a:prstGeom prst="rect">
            <a:avLst/>
          </a:pr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100">
                <a:latin typeface="Josefin Sans"/>
                <a:ea typeface="Josefin Sans"/>
                <a:cs typeface="Josefin Sans"/>
                <a:sym typeface="Josefin Sans"/>
              </a:rPr>
              <a:t>TASK IV</a:t>
            </a:r>
            <a:r>
              <a:rPr b="1" lang="en-GB" sz="2100">
                <a:solidFill>
                  <a:srgbClr val="000000"/>
                </a:solidFill>
                <a:latin typeface="Josefin Sans"/>
                <a:ea typeface="Josefin Sans"/>
                <a:cs typeface="Josefin Sans"/>
                <a:sym typeface="Josefin Sans"/>
              </a:rPr>
              <a:t>   </a:t>
            </a:r>
            <a:endParaRPr b="1" sz="2100">
              <a:solidFill>
                <a:srgbClr val="000000"/>
              </a:solidFill>
              <a:latin typeface="Josefin Sans"/>
              <a:ea typeface="Josefin Sans"/>
              <a:cs typeface="Josefin Sans"/>
              <a:sym typeface="Josefin Sans"/>
            </a:endParaRPr>
          </a:p>
        </p:txBody>
      </p:sp>
      <p:pic>
        <p:nvPicPr>
          <p:cNvPr id="367" name="Google Shape;367;p38"/>
          <p:cNvPicPr preferRelativeResize="0"/>
          <p:nvPr/>
        </p:nvPicPr>
        <p:blipFill>
          <a:blip r:embed="rId3">
            <a:alphaModFix/>
          </a:blip>
          <a:stretch>
            <a:fillRect/>
          </a:stretch>
        </p:blipFill>
        <p:spPr>
          <a:xfrm>
            <a:off x="52150" y="25350"/>
            <a:ext cx="407152" cy="457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9"/>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Simulation on SUMO: Driver Behaviour</a:t>
            </a:r>
            <a:r>
              <a:rPr b="1" lang="en-GB">
                <a:solidFill>
                  <a:schemeClr val="lt1"/>
                </a:solidFill>
                <a:highlight>
                  <a:schemeClr val="accent1"/>
                </a:highlight>
                <a:latin typeface="Josefin Sans"/>
                <a:ea typeface="Josefin Sans"/>
                <a:cs typeface="Josefin Sans"/>
                <a:sym typeface="Josefin Sans"/>
              </a:rPr>
              <a:t>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373" name="Google Shape;373;p39"/>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CARLA Dataset</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374" name="Google Shape;374;p39"/>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Summarizing over class frequency distribution and SUMO</a:t>
            </a:r>
            <a:endParaRPr sz="1100">
              <a:solidFill>
                <a:srgbClr val="FFFFFF"/>
              </a:solidFill>
              <a:latin typeface="Josefin Sans"/>
              <a:ea typeface="Josefin Sans"/>
              <a:cs typeface="Josefin Sans"/>
              <a:sym typeface="Josefin Sans"/>
            </a:endParaRPr>
          </a:p>
        </p:txBody>
      </p:sp>
      <p:pic>
        <p:nvPicPr>
          <p:cNvPr id="375" name="Google Shape;375;p39"/>
          <p:cNvPicPr preferRelativeResize="0"/>
          <p:nvPr/>
        </p:nvPicPr>
        <p:blipFill>
          <a:blip r:embed="rId3">
            <a:alphaModFix/>
          </a:blip>
          <a:stretch>
            <a:fillRect/>
          </a:stretch>
        </p:blipFill>
        <p:spPr>
          <a:xfrm>
            <a:off x="52150" y="-5850"/>
            <a:ext cx="407152" cy="457200"/>
          </a:xfrm>
          <a:prstGeom prst="rect">
            <a:avLst/>
          </a:prstGeom>
          <a:noFill/>
          <a:ln>
            <a:noFill/>
          </a:ln>
        </p:spPr>
      </p:pic>
      <p:sp>
        <p:nvSpPr>
          <p:cNvPr id="376" name="Google Shape;376;p39"/>
          <p:cNvSpPr txBox="1"/>
          <p:nvPr/>
        </p:nvSpPr>
        <p:spPr>
          <a:xfrm>
            <a:off x="459300" y="949725"/>
            <a:ext cx="3006000" cy="1765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0"/>
              </a:spcAft>
              <a:buClr>
                <a:schemeClr val="dk1"/>
              </a:buClr>
              <a:buSzPts val="1100"/>
              <a:buFont typeface="Arial"/>
              <a:buNone/>
            </a:pPr>
            <a:r>
              <a:rPr lang="en-GB" sz="1100">
                <a:solidFill>
                  <a:srgbClr val="3C4043"/>
                </a:solidFill>
                <a:highlight>
                  <a:schemeClr val="lt2"/>
                </a:highlight>
                <a:latin typeface="Josefin Sans"/>
                <a:ea typeface="Josefin Sans"/>
                <a:cs typeface="Josefin Sans"/>
                <a:sym typeface="Josefin Sans"/>
              </a:rPr>
              <a:t>This data is collected to classify different driver behaviours &amp; extract driver patterns. As CARLA majorly focuses on driver behaviours.</a:t>
            </a:r>
            <a:endParaRPr sz="1100">
              <a:solidFill>
                <a:srgbClr val="3C4043"/>
              </a:solidFill>
              <a:highlight>
                <a:schemeClr val="lt2"/>
              </a:highlight>
              <a:latin typeface="Josefin Sans"/>
              <a:ea typeface="Josefin Sans"/>
              <a:cs typeface="Josefin Sans"/>
              <a:sym typeface="Josefin Sans"/>
            </a:endParaRPr>
          </a:p>
          <a:p>
            <a:pPr indent="0" lvl="0" marL="0" rtl="0" algn="ctr">
              <a:lnSpc>
                <a:spcPct val="115000"/>
              </a:lnSpc>
              <a:spcBef>
                <a:spcPts val="1500"/>
              </a:spcBef>
              <a:spcAft>
                <a:spcPts val="1500"/>
              </a:spcAft>
              <a:buClr>
                <a:schemeClr val="dk1"/>
              </a:buClr>
              <a:buSzPts val="1100"/>
              <a:buFont typeface="Arial"/>
              <a:buNone/>
            </a:pPr>
            <a:r>
              <a:rPr lang="en-GB" sz="1100">
                <a:solidFill>
                  <a:srgbClr val="3C4043"/>
                </a:solidFill>
                <a:highlight>
                  <a:schemeClr val="lt2"/>
                </a:highlight>
                <a:latin typeface="Josefin Sans"/>
                <a:ea typeface="Josefin Sans"/>
                <a:cs typeface="Josefin Sans"/>
                <a:sym typeface="Josefin Sans"/>
              </a:rPr>
              <a:t>6-axis virtual IMU (Inertial </a:t>
            </a:r>
            <a:r>
              <a:rPr lang="en-GB" sz="1100">
                <a:solidFill>
                  <a:srgbClr val="3C4043"/>
                </a:solidFill>
                <a:highlight>
                  <a:schemeClr val="lt2"/>
                </a:highlight>
                <a:latin typeface="Josefin Sans"/>
                <a:ea typeface="Josefin Sans"/>
                <a:cs typeface="Josefin Sans"/>
                <a:sym typeface="Josefin Sans"/>
              </a:rPr>
              <a:t>Measurement</a:t>
            </a:r>
            <a:r>
              <a:rPr lang="en-GB" sz="1100">
                <a:solidFill>
                  <a:srgbClr val="3C4043"/>
                </a:solidFill>
                <a:highlight>
                  <a:schemeClr val="lt2"/>
                </a:highlight>
                <a:latin typeface="Josefin Sans"/>
                <a:ea typeface="Josefin Sans"/>
                <a:cs typeface="Josefin Sans"/>
                <a:sym typeface="Josefin Sans"/>
              </a:rPr>
              <a:t> Unit - 3 axis Accelerometer, 3 axis Gyroscope) sensor used to collect data.</a:t>
            </a:r>
            <a:endParaRPr sz="1100">
              <a:solidFill>
                <a:srgbClr val="3C4043"/>
              </a:solidFill>
              <a:highlight>
                <a:schemeClr val="lt2"/>
              </a:highlight>
              <a:latin typeface="Josefin Sans"/>
              <a:ea typeface="Josefin Sans"/>
              <a:cs typeface="Josefin Sans"/>
              <a:sym typeface="Josefin Sans"/>
            </a:endParaRPr>
          </a:p>
        </p:txBody>
      </p:sp>
      <p:sp>
        <p:nvSpPr>
          <p:cNvPr id="377" name="Google Shape;377;p39"/>
          <p:cNvSpPr txBox="1"/>
          <p:nvPr/>
        </p:nvSpPr>
        <p:spPr>
          <a:xfrm>
            <a:off x="459300" y="2882850"/>
            <a:ext cx="3006000" cy="1765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0"/>
              </a:spcAft>
              <a:buClr>
                <a:schemeClr val="dk1"/>
              </a:buClr>
              <a:buSzPts val="1100"/>
              <a:buFont typeface="Arial"/>
              <a:buNone/>
            </a:pPr>
            <a:r>
              <a:rPr lang="en-GB" sz="1100">
                <a:solidFill>
                  <a:srgbClr val="3C4043"/>
                </a:solidFill>
                <a:highlight>
                  <a:schemeClr val="lt2"/>
                </a:highlight>
                <a:latin typeface="Josefin Sans"/>
                <a:ea typeface="Josefin Sans"/>
                <a:cs typeface="Josefin Sans"/>
                <a:sym typeface="Josefin Sans"/>
              </a:rPr>
              <a:t>The CARLA simulator required very high system requirements to continue with the computing and the analysis. So, we choose a more simpler version of simulations on the same dataset.</a:t>
            </a:r>
            <a:endParaRPr sz="1100">
              <a:solidFill>
                <a:srgbClr val="3C4043"/>
              </a:solidFill>
              <a:highlight>
                <a:schemeClr val="lt2"/>
              </a:highlight>
              <a:latin typeface="Josefin Sans"/>
              <a:ea typeface="Josefin Sans"/>
              <a:cs typeface="Josefin Sans"/>
              <a:sym typeface="Josefin Sans"/>
            </a:endParaRPr>
          </a:p>
          <a:p>
            <a:pPr indent="0" lvl="0" marL="0" rtl="0" algn="ctr">
              <a:lnSpc>
                <a:spcPct val="115000"/>
              </a:lnSpc>
              <a:spcBef>
                <a:spcPts val="1500"/>
              </a:spcBef>
              <a:spcAft>
                <a:spcPts val="1500"/>
              </a:spcAft>
              <a:buClr>
                <a:schemeClr val="dk1"/>
              </a:buClr>
              <a:buSzPts val="1100"/>
              <a:buFont typeface="Arial"/>
              <a:buNone/>
            </a:pPr>
            <a:r>
              <a:rPr lang="en-GB" sz="1100">
                <a:solidFill>
                  <a:srgbClr val="3C4043"/>
                </a:solidFill>
                <a:highlight>
                  <a:schemeClr val="lt2"/>
                </a:highlight>
                <a:latin typeface="Josefin Sans"/>
                <a:ea typeface="Josefin Sans"/>
                <a:cs typeface="Josefin Sans"/>
                <a:sym typeface="Josefin Sans"/>
              </a:rPr>
              <a:t>The simulator </a:t>
            </a:r>
            <a:r>
              <a:rPr lang="en-GB" sz="1100">
                <a:solidFill>
                  <a:srgbClr val="3C4043"/>
                </a:solidFill>
                <a:highlight>
                  <a:schemeClr val="lt2"/>
                </a:highlight>
                <a:latin typeface="Josefin Sans"/>
                <a:ea typeface="Josefin Sans"/>
                <a:cs typeface="Josefin Sans"/>
                <a:sym typeface="Josefin Sans"/>
              </a:rPr>
              <a:t>chosen</a:t>
            </a:r>
            <a:r>
              <a:rPr lang="en-GB" sz="1100">
                <a:solidFill>
                  <a:srgbClr val="3C4043"/>
                </a:solidFill>
                <a:highlight>
                  <a:schemeClr val="lt2"/>
                </a:highlight>
                <a:latin typeface="Josefin Sans"/>
                <a:ea typeface="Josefin Sans"/>
                <a:cs typeface="Josefin Sans"/>
                <a:sym typeface="Josefin Sans"/>
              </a:rPr>
              <a:t> was SUMO (simulation of urban mobility) and the observations made are as follows</a:t>
            </a:r>
            <a:endParaRPr sz="1100">
              <a:solidFill>
                <a:srgbClr val="3C4043"/>
              </a:solidFill>
              <a:highlight>
                <a:schemeClr val="lt2"/>
              </a:highlight>
              <a:latin typeface="Josefin Sans"/>
              <a:ea typeface="Josefin Sans"/>
              <a:cs typeface="Josefin Sans"/>
              <a:sym typeface="Josefin Sans"/>
            </a:endParaRPr>
          </a:p>
        </p:txBody>
      </p:sp>
      <p:pic>
        <p:nvPicPr>
          <p:cNvPr id="378" name="Google Shape;378;p39"/>
          <p:cNvPicPr preferRelativeResize="0"/>
          <p:nvPr/>
        </p:nvPicPr>
        <p:blipFill>
          <a:blip r:embed="rId4">
            <a:alphaModFix/>
          </a:blip>
          <a:stretch>
            <a:fillRect/>
          </a:stretch>
        </p:blipFill>
        <p:spPr>
          <a:xfrm>
            <a:off x="3633225" y="940675"/>
            <a:ext cx="3698325" cy="3698325"/>
          </a:xfrm>
          <a:prstGeom prst="rect">
            <a:avLst/>
          </a:prstGeom>
          <a:noFill/>
          <a:ln cap="flat" cmpd="sng" w="9525">
            <a:solidFill>
              <a:schemeClr val="accent1"/>
            </a:solidFill>
            <a:prstDash val="solid"/>
            <a:round/>
            <a:headEnd len="sm" w="sm" type="none"/>
            <a:tailEnd len="sm" w="sm" type="none"/>
          </a:ln>
        </p:spPr>
      </p:pic>
      <p:sp>
        <p:nvSpPr>
          <p:cNvPr id="379" name="Google Shape;379;p39"/>
          <p:cNvSpPr txBox="1"/>
          <p:nvPr/>
        </p:nvSpPr>
        <p:spPr>
          <a:xfrm>
            <a:off x="7601725" y="2157150"/>
            <a:ext cx="1194600" cy="8292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600"/>
              </a:spcAft>
              <a:buClr>
                <a:schemeClr val="dk1"/>
              </a:buClr>
              <a:buSzPts val="1100"/>
              <a:buFont typeface="Arial"/>
              <a:buNone/>
            </a:pPr>
            <a:r>
              <a:rPr lang="en-GB" sz="1000">
                <a:solidFill>
                  <a:srgbClr val="222222"/>
                </a:solidFill>
                <a:highlight>
                  <a:srgbClr val="FFFFFF"/>
                </a:highlight>
                <a:latin typeface="Josefin Sans"/>
                <a:ea typeface="Josefin Sans"/>
                <a:cs typeface="Josefin Sans"/>
                <a:sym typeface="Josefin Sans"/>
              </a:rPr>
              <a:t>Frequency distribution of the seven classes i.e., seven drivers.</a:t>
            </a:r>
            <a:endParaRPr b="1" sz="1000">
              <a:solidFill>
                <a:schemeClr val="dk1"/>
              </a:solidFill>
              <a:latin typeface="Josefin Sans"/>
              <a:ea typeface="Josefin Sans"/>
              <a:cs typeface="Josefin Sans"/>
              <a:sym typeface="Josefi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0"/>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Simulation on SUMO: Driver Behaviour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385" name="Google Shape;385;p40"/>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CARLA and SUMO C0- simulation</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386" name="Google Shape;386;p40"/>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Integration of SUMO </a:t>
            </a:r>
            <a:r>
              <a:rPr lang="en-GB" sz="1100">
                <a:solidFill>
                  <a:srgbClr val="FFFFFF"/>
                </a:solidFill>
                <a:latin typeface="Josefin Sans"/>
                <a:ea typeface="Josefin Sans"/>
                <a:cs typeface="Josefin Sans"/>
                <a:sym typeface="Josefin Sans"/>
              </a:rPr>
              <a:t>and</a:t>
            </a:r>
            <a:r>
              <a:rPr lang="en-GB" sz="1100">
                <a:solidFill>
                  <a:srgbClr val="FFFFFF"/>
                </a:solidFill>
                <a:latin typeface="Josefin Sans"/>
                <a:ea typeface="Josefin Sans"/>
                <a:cs typeface="Josefin Sans"/>
                <a:sym typeface="Josefin Sans"/>
              </a:rPr>
              <a:t> CARLA</a:t>
            </a:r>
            <a:endParaRPr sz="1100">
              <a:solidFill>
                <a:srgbClr val="FFFFFF"/>
              </a:solidFill>
              <a:latin typeface="Josefin Sans"/>
              <a:ea typeface="Josefin Sans"/>
              <a:cs typeface="Josefin Sans"/>
              <a:sym typeface="Josefin Sans"/>
            </a:endParaRPr>
          </a:p>
        </p:txBody>
      </p:sp>
      <p:pic>
        <p:nvPicPr>
          <p:cNvPr id="387" name="Google Shape;387;p40"/>
          <p:cNvPicPr preferRelativeResize="0"/>
          <p:nvPr/>
        </p:nvPicPr>
        <p:blipFill>
          <a:blip r:embed="rId3">
            <a:alphaModFix/>
          </a:blip>
          <a:stretch>
            <a:fillRect/>
          </a:stretch>
        </p:blipFill>
        <p:spPr>
          <a:xfrm>
            <a:off x="52150" y="-5850"/>
            <a:ext cx="407152" cy="457200"/>
          </a:xfrm>
          <a:prstGeom prst="rect">
            <a:avLst/>
          </a:prstGeom>
          <a:noFill/>
          <a:ln>
            <a:noFill/>
          </a:ln>
        </p:spPr>
      </p:pic>
      <p:pic>
        <p:nvPicPr>
          <p:cNvPr id="388" name="Google Shape;388;p40"/>
          <p:cNvPicPr preferRelativeResize="0"/>
          <p:nvPr/>
        </p:nvPicPr>
        <p:blipFill>
          <a:blip r:embed="rId4">
            <a:alphaModFix/>
          </a:blip>
          <a:stretch>
            <a:fillRect/>
          </a:stretch>
        </p:blipFill>
        <p:spPr>
          <a:xfrm>
            <a:off x="518525" y="934200"/>
            <a:ext cx="2710574" cy="3711274"/>
          </a:xfrm>
          <a:prstGeom prst="rect">
            <a:avLst/>
          </a:prstGeom>
          <a:noFill/>
          <a:ln cap="flat" cmpd="sng" w="9525">
            <a:solidFill>
              <a:schemeClr val="lt1"/>
            </a:solidFill>
            <a:prstDash val="solid"/>
            <a:round/>
            <a:headEnd len="sm" w="sm" type="none"/>
            <a:tailEnd len="sm" w="sm" type="none"/>
          </a:ln>
        </p:spPr>
      </p:pic>
      <p:pic>
        <p:nvPicPr>
          <p:cNvPr id="389" name="Google Shape;389;p40"/>
          <p:cNvPicPr preferRelativeResize="0"/>
          <p:nvPr/>
        </p:nvPicPr>
        <p:blipFill>
          <a:blip r:embed="rId5">
            <a:alphaModFix/>
          </a:blip>
          <a:stretch>
            <a:fillRect/>
          </a:stretch>
        </p:blipFill>
        <p:spPr>
          <a:xfrm>
            <a:off x="3663774" y="934199"/>
            <a:ext cx="4846152" cy="2633675"/>
          </a:xfrm>
          <a:prstGeom prst="rect">
            <a:avLst/>
          </a:prstGeom>
          <a:noFill/>
          <a:ln cap="flat" cmpd="sng" w="9525">
            <a:solidFill>
              <a:schemeClr val="lt1"/>
            </a:solidFill>
            <a:prstDash val="solid"/>
            <a:round/>
            <a:headEnd len="sm" w="sm" type="none"/>
            <a:tailEnd len="sm" w="sm" type="none"/>
          </a:ln>
        </p:spPr>
      </p:pic>
      <p:sp>
        <p:nvSpPr>
          <p:cNvPr id="390" name="Google Shape;390;p40"/>
          <p:cNvSpPr txBox="1"/>
          <p:nvPr/>
        </p:nvSpPr>
        <p:spPr>
          <a:xfrm>
            <a:off x="3663775" y="3721075"/>
            <a:ext cx="5043900" cy="9243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1500"/>
              </a:spcAft>
              <a:buClr>
                <a:schemeClr val="dk1"/>
              </a:buClr>
              <a:buSzPts val="1100"/>
              <a:buFont typeface="Arial"/>
              <a:buNone/>
            </a:pPr>
            <a:r>
              <a:rPr lang="en-GB" sz="900">
                <a:solidFill>
                  <a:schemeClr val="dk1"/>
                </a:solidFill>
                <a:latin typeface="Josefin Sans"/>
                <a:ea typeface="Josefin Sans"/>
                <a:cs typeface="Josefin Sans"/>
                <a:sym typeface="Josefin Sans"/>
              </a:rPr>
              <a:t>The diagram illustrates a reinforcement learning loop for autonomous driving, where an agent (autonomous vehicle) interacts with an environment simulated by SUMO and CARLA. Based on its current state (distance, velocity), the agent selects an action (drive, stop) which is fed into the simulator. The simulator then provides a reward and the next state, which are used to update the agent's policy (π(s)).</a:t>
            </a:r>
            <a:endParaRPr sz="900">
              <a:solidFill>
                <a:srgbClr val="3C4043"/>
              </a:solidFill>
              <a:highlight>
                <a:schemeClr val="lt2"/>
              </a:highlight>
              <a:latin typeface="Josefin Sans"/>
              <a:ea typeface="Josefin Sans"/>
              <a:cs typeface="Josefin Sans"/>
              <a:sym typeface="Josefin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1"/>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Simulation on SUMO: Driver Behaviour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396" name="Google Shape;396;p41"/>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CARLA Dataset: Acceleration Data</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397" name="Google Shape;397;p41"/>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Visual frequency representation of acceleration across the axis</a:t>
            </a:r>
            <a:endParaRPr sz="1100">
              <a:solidFill>
                <a:srgbClr val="FFFFFF"/>
              </a:solidFill>
              <a:latin typeface="Josefin Sans"/>
              <a:ea typeface="Josefin Sans"/>
              <a:cs typeface="Josefin Sans"/>
              <a:sym typeface="Josefin Sans"/>
            </a:endParaRPr>
          </a:p>
        </p:txBody>
      </p:sp>
      <p:pic>
        <p:nvPicPr>
          <p:cNvPr id="398" name="Google Shape;398;p41"/>
          <p:cNvPicPr preferRelativeResize="0"/>
          <p:nvPr/>
        </p:nvPicPr>
        <p:blipFill>
          <a:blip r:embed="rId3">
            <a:alphaModFix/>
          </a:blip>
          <a:stretch>
            <a:fillRect/>
          </a:stretch>
        </p:blipFill>
        <p:spPr>
          <a:xfrm>
            <a:off x="52150" y="-5850"/>
            <a:ext cx="407152" cy="457200"/>
          </a:xfrm>
          <a:prstGeom prst="rect">
            <a:avLst/>
          </a:prstGeom>
          <a:noFill/>
          <a:ln>
            <a:noFill/>
          </a:ln>
        </p:spPr>
      </p:pic>
      <p:pic>
        <p:nvPicPr>
          <p:cNvPr id="399" name="Google Shape;399;p41"/>
          <p:cNvPicPr preferRelativeResize="0"/>
          <p:nvPr/>
        </p:nvPicPr>
        <p:blipFill>
          <a:blip r:embed="rId4">
            <a:alphaModFix/>
          </a:blip>
          <a:stretch>
            <a:fillRect/>
          </a:stretch>
        </p:blipFill>
        <p:spPr>
          <a:xfrm>
            <a:off x="231225" y="959788"/>
            <a:ext cx="2708748" cy="2852325"/>
          </a:xfrm>
          <a:prstGeom prst="rect">
            <a:avLst/>
          </a:prstGeom>
          <a:noFill/>
          <a:ln cap="flat" cmpd="sng" w="9525">
            <a:solidFill>
              <a:schemeClr val="accent1"/>
            </a:solidFill>
            <a:prstDash val="solid"/>
            <a:round/>
            <a:headEnd len="sm" w="sm" type="none"/>
            <a:tailEnd len="sm" w="sm" type="none"/>
          </a:ln>
        </p:spPr>
      </p:pic>
      <p:pic>
        <p:nvPicPr>
          <p:cNvPr id="400" name="Google Shape;400;p41"/>
          <p:cNvPicPr preferRelativeResize="0"/>
          <p:nvPr/>
        </p:nvPicPr>
        <p:blipFill>
          <a:blip r:embed="rId5">
            <a:alphaModFix/>
          </a:blip>
          <a:stretch>
            <a:fillRect/>
          </a:stretch>
        </p:blipFill>
        <p:spPr>
          <a:xfrm>
            <a:off x="3217622" y="959801"/>
            <a:ext cx="2708759" cy="2852336"/>
          </a:xfrm>
          <a:prstGeom prst="rect">
            <a:avLst/>
          </a:prstGeom>
          <a:noFill/>
          <a:ln cap="flat" cmpd="sng" w="9525">
            <a:solidFill>
              <a:schemeClr val="accent1"/>
            </a:solidFill>
            <a:prstDash val="solid"/>
            <a:round/>
            <a:headEnd len="sm" w="sm" type="none"/>
            <a:tailEnd len="sm" w="sm" type="none"/>
          </a:ln>
        </p:spPr>
      </p:pic>
      <p:pic>
        <p:nvPicPr>
          <p:cNvPr id="401" name="Google Shape;401;p41"/>
          <p:cNvPicPr preferRelativeResize="0"/>
          <p:nvPr/>
        </p:nvPicPr>
        <p:blipFill>
          <a:blip r:embed="rId6">
            <a:alphaModFix/>
          </a:blip>
          <a:stretch>
            <a:fillRect/>
          </a:stretch>
        </p:blipFill>
        <p:spPr>
          <a:xfrm>
            <a:off x="6204016" y="959799"/>
            <a:ext cx="2708758" cy="2852335"/>
          </a:xfrm>
          <a:prstGeom prst="rect">
            <a:avLst/>
          </a:prstGeom>
          <a:noFill/>
          <a:ln cap="flat" cmpd="sng" w="9525">
            <a:solidFill>
              <a:schemeClr val="accent1"/>
            </a:solidFill>
            <a:prstDash val="solid"/>
            <a:round/>
            <a:headEnd len="sm" w="sm" type="none"/>
            <a:tailEnd len="sm" w="sm" type="none"/>
          </a:ln>
        </p:spPr>
      </p:pic>
      <p:sp>
        <p:nvSpPr>
          <p:cNvPr id="402" name="Google Shape;402;p41"/>
          <p:cNvSpPr txBox="1"/>
          <p:nvPr/>
        </p:nvSpPr>
        <p:spPr>
          <a:xfrm>
            <a:off x="231000" y="3990125"/>
            <a:ext cx="8681700" cy="7038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1500"/>
              </a:spcAft>
              <a:buClr>
                <a:schemeClr val="dk1"/>
              </a:buClr>
              <a:buSzPts val="1100"/>
              <a:buFont typeface="Arial"/>
              <a:buNone/>
            </a:pPr>
            <a:r>
              <a:rPr lang="en-GB" sz="1100">
                <a:solidFill>
                  <a:schemeClr val="dk1"/>
                </a:solidFill>
                <a:latin typeface="Josefin Sans"/>
                <a:ea typeface="Josefin Sans"/>
                <a:cs typeface="Josefin Sans"/>
                <a:sym typeface="Josefin Sans"/>
              </a:rPr>
              <a:t>The driver predominantly maintains a constant speed with minimal acceleration or deceleration events in all directions, suggesting steady driving habits. Occasional small accelerations indicate minor adjustments, likely for maintaining lane position or adapting to slight changes in traffic flow.</a:t>
            </a:r>
            <a:endParaRPr sz="1100">
              <a:solidFill>
                <a:srgbClr val="3C4043"/>
              </a:solidFill>
              <a:highlight>
                <a:schemeClr val="lt2"/>
              </a:highlight>
              <a:latin typeface="Josefin Sans"/>
              <a:ea typeface="Josefin Sans"/>
              <a:cs typeface="Josefin Sans"/>
              <a:sym typeface="Josefin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2"/>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Simulation on SUMO: Driver Behaviour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408" name="Google Shape;408;p42"/>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CARLA Dataset: Acceleration Data</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409" name="Google Shape;409;p42"/>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Visual </a:t>
            </a:r>
            <a:r>
              <a:rPr lang="en-GB" sz="1100">
                <a:solidFill>
                  <a:srgbClr val="FFFFFF"/>
                </a:solidFill>
                <a:latin typeface="Josefin Sans"/>
                <a:ea typeface="Josefin Sans"/>
                <a:cs typeface="Josefin Sans"/>
                <a:sym typeface="Josefin Sans"/>
              </a:rPr>
              <a:t>distribution</a:t>
            </a:r>
            <a:r>
              <a:rPr lang="en-GB" sz="1100">
                <a:solidFill>
                  <a:srgbClr val="FFFFFF"/>
                </a:solidFill>
                <a:latin typeface="Josefin Sans"/>
                <a:ea typeface="Josefin Sans"/>
                <a:cs typeface="Josefin Sans"/>
                <a:sym typeface="Josefin Sans"/>
              </a:rPr>
              <a:t> of acceleration among different classes</a:t>
            </a:r>
            <a:endParaRPr sz="1100">
              <a:solidFill>
                <a:srgbClr val="FFFFFF"/>
              </a:solidFill>
              <a:latin typeface="Josefin Sans"/>
              <a:ea typeface="Josefin Sans"/>
              <a:cs typeface="Josefin Sans"/>
              <a:sym typeface="Josefin Sans"/>
            </a:endParaRPr>
          </a:p>
        </p:txBody>
      </p:sp>
      <p:pic>
        <p:nvPicPr>
          <p:cNvPr id="410" name="Google Shape;410;p42"/>
          <p:cNvPicPr preferRelativeResize="0"/>
          <p:nvPr/>
        </p:nvPicPr>
        <p:blipFill>
          <a:blip r:embed="rId3">
            <a:alphaModFix/>
          </a:blip>
          <a:stretch>
            <a:fillRect/>
          </a:stretch>
        </p:blipFill>
        <p:spPr>
          <a:xfrm>
            <a:off x="52150" y="-5850"/>
            <a:ext cx="407152" cy="457200"/>
          </a:xfrm>
          <a:prstGeom prst="rect">
            <a:avLst/>
          </a:prstGeom>
          <a:noFill/>
          <a:ln>
            <a:noFill/>
          </a:ln>
        </p:spPr>
      </p:pic>
      <p:sp>
        <p:nvSpPr>
          <p:cNvPr id="411" name="Google Shape;411;p42"/>
          <p:cNvSpPr txBox="1"/>
          <p:nvPr/>
        </p:nvSpPr>
        <p:spPr>
          <a:xfrm>
            <a:off x="231000" y="3990125"/>
            <a:ext cx="8681700" cy="7038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1500"/>
              </a:spcAft>
              <a:buClr>
                <a:schemeClr val="dk1"/>
              </a:buClr>
              <a:buSzPts val="1100"/>
              <a:buFont typeface="Arial"/>
              <a:buNone/>
            </a:pPr>
            <a:r>
              <a:rPr lang="en-GB" sz="1100">
                <a:solidFill>
                  <a:schemeClr val="dk1"/>
                </a:solidFill>
                <a:latin typeface="Josefin Sans"/>
                <a:ea typeface="Josefin Sans"/>
                <a:cs typeface="Josefin Sans"/>
                <a:sym typeface="Josefin Sans"/>
              </a:rPr>
              <a:t>Most drivers tend to operate with low accelerations in all directions, indicating a generally smooth and controlled driving style. However, some drivers exhibit extreme acceleration and deceleration events, suggesting more aggressive or erratic maneuvering.</a:t>
            </a:r>
            <a:endParaRPr sz="1100">
              <a:solidFill>
                <a:srgbClr val="3C4043"/>
              </a:solidFill>
              <a:highlight>
                <a:schemeClr val="lt2"/>
              </a:highlight>
              <a:latin typeface="Josefin Sans"/>
              <a:ea typeface="Josefin Sans"/>
              <a:cs typeface="Josefin Sans"/>
              <a:sym typeface="Josefin Sans"/>
            </a:endParaRPr>
          </a:p>
        </p:txBody>
      </p:sp>
      <p:pic>
        <p:nvPicPr>
          <p:cNvPr id="412" name="Google Shape;412;p42"/>
          <p:cNvPicPr preferRelativeResize="0"/>
          <p:nvPr/>
        </p:nvPicPr>
        <p:blipFill>
          <a:blip r:embed="rId4">
            <a:alphaModFix/>
          </a:blip>
          <a:stretch>
            <a:fillRect/>
          </a:stretch>
        </p:blipFill>
        <p:spPr>
          <a:xfrm>
            <a:off x="231000" y="1000212"/>
            <a:ext cx="2851787" cy="2771500"/>
          </a:xfrm>
          <a:prstGeom prst="rect">
            <a:avLst/>
          </a:prstGeom>
          <a:noFill/>
          <a:ln cap="flat" cmpd="sng" w="9525">
            <a:solidFill>
              <a:srgbClr val="4285F4"/>
            </a:solidFill>
            <a:prstDash val="solid"/>
            <a:round/>
            <a:headEnd len="sm" w="sm" type="none"/>
            <a:tailEnd len="sm" w="sm" type="none"/>
          </a:ln>
        </p:spPr>
      </p:pic>
      <p:pic>
        <p:nvPicPr>
          <p:cNvPr id="413" name="Google Shape;413;p42"/>
          <p:cNvPicPr preferRelativeResize="0"/>
          <p:nvPr/>
        </p:nvPicPr>
        <p:blipFill>
          <a:blip r:embed="rId5">
            <a:alphaModFix/>
          </a:blip>
          <a:stretch>
            <a:fillRect/>
          </a:stretch>
        </p:blipFill>
        <p:spPr>
          <a:xfrm>
            <a:off x="3145956" y="1000212"/>
            <a:ext cx="2851787" cy="2771500"/>
          </a:xfrm>
          <a:prstGeom prst="rect">
            <a:avLst/>
          </a:prstGeom>
          <a:noFill/>
          <a:ln cap="flat" cmpd="sng" w="9525">
            <a:solidFill>
              <a:srgbClr val="4285F4"/>
            </a:solidFill>
            <a:prstDash val="solid"/>
            <a:round/>
            <a:headEnd len="sm" w="sm" type="none"/>
            <a:tailEnd len="sm" w="sm" type="none"/>
          </a:ln>
        </p:spPr>
      </p:pic>
      <p:pic>
        <p:nvPicPr>
          <p:cNvPr id="414" name="Google Shape;414;p42"/>
          <p:cNvPicPr preferRelativeResize="0"/>
          <p:nvPr/>
        </p:nvPicPr>
        <p:blipFill>
          <a:blip r:embed="rId6">
            <a:alphaModFix/>
          </a:blip>
          <a:stretch>
            <a:fillRect/>
          </a:stretch>
        </p:blipFill>
        <p:spPr>
          <a:xfrm>
            <a:off x="6060912" y="1000212"/>
            <a:ext cx="2851787" cy="2771500"/>
          </a:xfrm>
          <a:prstGeom prst="rect">
            <a:avLst/>
          </a:prstGeom>
          <a:noFill/>
          <a:ln cap="flat" cmpd="sng" w="9525">
            <a:solidFill>
              <a:srgbClr val="4285F4"/>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3"/>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Simulation on SUMO: Driver Behaviour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420" name="Google Shape;420;p43"/>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CARLA Dataset: Gyroscope Data</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421" name="Google Shape;421;p43"/>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Visual frequency representation of gyroscope across the axis</a:t>
            </a:r>
            <a:endParaRPr sz="1100">
              <a:solidFill>
                <a:srgbClr val="FFFFFF"/>
              </a:solidFill>
              <a:latin typeface="Josefin Sans"/>
              <a:ea typeface="Josefin Sans"/>
              <a:cs typeface="Josefin Sans"/>
              <a:sym typeface="Josefin Sans"/>
            </a:endParaRPr>
          </a:p>
        </p:txBody>
      </p:sp>
      <p:pic>
        <p:nvPicPr>
          <p:cNvPr id="422" name="Google Shape;422;p43"/>
          <p:cNvPicPr preferRelativeResize="0"/>
          <p:nvPr/>
        </p:nvPicPr>
        <p:blipFill>
          <a:blip r:embed="rId3">
            <a:alphaModFix/>
          </a:blip>
          <a:stretch>
            <a:fillRect/>
          </a:stretch>
        </p:blipFill>
        <p:spPr>
          <a:xfrm>
            <a:off x="52150" y="-5850"/>
            <a:ext cx="407152" cy="457200"/>
          </a:xfrm>
          <a:prstGeom prst="rect">
            <a:avLst/>
          </a:prstGeom>
          <a:noFill/>
          <a:ln>
            <a:noFill/>
          </a:ln>
        </p:spPr>
      </p:pic>
      <p:sp>
        <p:nvSpPr>
          <p:cNvPr id="423" name="Google Shape;423;p43"/>
          <p:cNvSpPr txBox="1"/>
          <p:nvPr/>
        </p:nvSpPr>
        <p:spPr>
          <a:xfrm>
            <a:off x="231000" y="3990125"/>
            <a:ext cx="8681700" cy="7038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1500"/>
              </a:spcAft>
              <a:buClr>
                <a:schemeClr val="dk1"/>
              </a:buClr>
              <a:buSzPts val="1100"/>
              <a:buFont typeface="Arial"/>
              <a:buNone/>
            </a:pPr>
            <a:r>
              <a:rPr lang="en-GB" sz="1100">
                <a:solidFill>
                  <a:schemeClr val="dk1"/>
                </a:solidFill>
                <a:latin typeface="Josefin Sans"/>
                <a:ea typeface="Josefin Sans"/>
                <a:cs typeface="Josefin Sans"/>
                <a:sym typeface="Josefin Sans"/>
              </a:rPr>
              <a:t>The driver primarily keeps the vehicle stable with minimal rotational movement along all three axes (X, Y, Z), indicating infrequent and subtle steering adjustments. Larger deviations suggest occasional sharper turns or corrections, but the overall driving behavior is characterized by smooth and controlled handling.</a:t>
            </a:r>
            <a:endParaRPr sz="1100">
              <a:solidFill>
                <a:srgbClr val="3C4043"/>
              </a:solidFill>
              <a:highlight>
                <a:schemeClr val="lt2"/>
              </a:highlight>
              <a:latin typeface="Josefin Sans"/>
              <a:ea typeface="Josefin Sans"/>
              <a:cs typeface="Josefin Sans"/>
              <a:sym typeface="Josefin Sans"/>
            </a:endParaRPr>
          </a:p>
        </p:txBody>
      </p:sp>
      <p:pic>
        <p:nvPicPr>
          <p:cNvPr id="424" name="Google Shape;424;p43"/>
          <p:cNvPicPr preferRelativeResize="0"/>
          <p:nvPr/>
        </p:nvPicPr>
        <p:blipFill>
          <a:blip r:embed="rId4">
            <a:alphaModFix/>
          </a:blip>
          <a:stretch>
            <a:fillRect/>
          </a:stretch>
        </p:blipFill>
        <p:spPr>
          <a:xfrm>
            <a:off x="231150" y="1000212"/>
            <a:ext cx="2796062" cy="2771500"/>
          </a:xfrm>
          <a:prstGeom prst="rect">
            <a:avLst/>
          </a:prstGeom>
          <a:noFill/>
          <a:ln cap="flat" cmpd="sng" w="9525">
            <a:solidFill>
              <a:schemeClr val="accent1"/>
            </a:solidFill>
            <a:prstDash val="solid"/>
            <a:round/>
            <a:headEnd len="sm" w="sm" type="none"/>
            <a:tailEnd len="sm" w="sm" type="none"/>
          </a:ln>
        </p:spPr>
      </p:pic>
      <p:pic>
        <p:nvPicPr>
          <p:cNvPr id="425" name="Google Shape;425;p43"/>
          <p:cNvPicPr preferRelativeResize="0"/>
          <p:nvPr/>
        </p:nvPicPr>
        <p:blipFill>
          <a:blip r:embed="rId5">
            <a:alphaModFix/>
          </a:blip>
          <a:stretch>
            <a:fillRect/>
          </a:stretch>
        </p:blipFill>
        <p:spPr>
          <a:xfrm>
            <a:off x="3173969" y="1000212"/>
            <a:ext cx="2796062" cy="2771500"/>
          </a:xfrm>
          <a:prstGeom prst="rect">
            <a:avLst/>
          </a:prstGeom>
          <a:noFill/>
          <a:ln cap="flat" cmpd="sng" w="9525">
            <a:solidFill>
              <a:schemeClr val="accent1"/>
            </a:solidFill>
            <a:prstDash val="solid"/>
            <a:round/>
            <a:headEnd len="sm" w="sm" type="none"/>
            <a:tailEnd len="sm" w="sm" type="none"/>
          </a:ln>
        </p:spPr>
      </p:pic>
      <p:pic>
        <p:nvPicPr>
          <p:cNvPr id="426" name="Google Shape;426;p43"/>
          <p:cNvPicPr preferRelativeResize="0"/>
          <p:nvPr/>
        </p:nvPicPr>
        <p:blipFill>
          <a:blip r:embed="rId6">
            <a:alphaModFix/>
          </a:blip>
          <a:stretch>
            <a:fillRect/>
          </a:stretch>
        </p:blipFill>
        <p:spPr>
          <a:xfrm>
            <a:off x="6116789" y="1000212"/>
            <a:ext cx="2796062" cy="2771500"/>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4"/>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Simulation on SUMO: Driver Behaviour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432" name="Google Shape;432;p44"/>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CARLA Dataset: Gyroscope Data</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433" name="Google Shape;433;p44"/>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Visual distribution of gyroscope among different classes  </a:t>
            </a:r>
            <a:endParaRPr sz="1100">
              <a:solidFill>
                <a:srgbClr val="FFFFFF"/>
              </a:solidFill>
              <a:latin typeface="Josefin Sans"/>
              <a:ea typeface="Josefin Sans"/>
              <a:cs typeface="Josefin Sans"/>
              <a:sym typeface="Josefin Sans"/>
            </a:endParaRPr>
          </a:p>
        </p:txBody>
      </p:sp>
      <p:pic>
        <p:nvPicPr>
          <p:cNvPr id="434" name="Google Shape;434;p44"/>
          <p:cNvPicPr preferRelativeResize="0"/>
          <p:nvPr/>
        </p:nvPicPr>
        <p:blipFill>
          <a:blip r:embed="rId3">
            <a:alphaModFix/>
          </a:blip>
          <a:stretch>
            <a:fillRect/>
          </a:stretch>
        </p:blipFill>
        <p:spPr>
          <a:xfrm>
            <a:off x="52150" y="-5850"/>
            <a:ext cx="407152" cy="457200"/>
          </a:xfrm>
          <a:prstGeom prst="rect">
            <a:avLst/>
          </a:prstGeom>
          <a:noFill/>
          <a:ln>
            <a:noFill/>
          </a:ln>
        </p:spPr>
      </p:pic>
      <p:sp>
        <p:nvSpPr>
          <p:cNvPr id="435" name="Google Shape;435;p44"/>
          <p:cNvSpPr txBox="1"/>
          <p:nvPr/>
        </p:nvSpPr>
        <p:spPr>
          <a:xfrm>
            <a:off x="231000" y="3990125"/>
            <a:ext cx="8681700" cy="7038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1500"/>
              </a:spcAft>
              <a:buClr>
                <a:schemeClr val="dk1"/>
              </a:buClr>
              <a:buSzPts val="1100"/>
              <a:buFont typeface="Arial"/>
              <a:buNone/>
            </a:pPr>
            <a:r>
              <a:rPr lang="en-GB" sz="1000">
                <a:solidFill>
                  <a:schemeClr val="dk1"/>
                </a:solidFill>
                <a:latin typeface="Josefin Sans"/>
                <a:ea typeface="Josefin Sans"/>
                <a:cs typeface="Josefin Sans"/>
                <a:sym typeface="Josefin Sans"/>
              </a:rPr>
              <a:t>The majority of drivers (represented by the dense cluster around the center) exhibit relatively low and controlled rotational movement, indicating a generally smooth driving style with minimal sharp turns or excessive corrections. However, distinct driving styles are evident, with some drivers showing significantly larger excursions in rotational movement across all axes (X, Y, Z), pointing to more dynamic or aggressive handling.</a:t>
            </a:r>
            <a:endParaRPr sz="1000">
              <a:solidFill>
                <a:srgbClr val="3C4043"/>
              </a:solidFill>
              <a:highlight>
                <a:schemeClr val="lt2"/>
              </a:highlight>
              <a:latin typeface="Josefin Sans"/>
              <a:ea typeface="Josefin Sans"/>
              <a:cs typeface="Josefin Sans"/>
              <a:sym typeface="Josefin Sans"/>
            </a:endParaRPr>
          </a:p>
        </p:txBody>
      </p:sp>
      <p:pic>
        <p:nvPicPr>
          <p:cNvPr id="436" name="Google Shape;436;p44"/>
          <p:cNvPicPr preferRelativeResize="0"/>
          <p:nvPr/>
        </p:nvPicPr>
        <p:blipFill>
          <a:blip r:embed="rId4">
            <a:alphaModFix/>
          </a:blip>
          <a:stretch>
            <a:fillRect/>
          </a:stretch>
        </p:blipFill>
        <p:spPr>
          <a:xfrm>
            <a:off x="231000" y="940050"/>
            <a:ext cx="2796062" cy="2891813"/>
          </a:xfrm>
          <a:prstGeom prst="rect">
            <a:avLst/>
          </a:prstGeom>
          <a:noFill/>
          <a:ln cap="flat" cmpd="sng" w="9525">
            <a:solidFill>
              <a:schemeClr val="accent1"/>
            </a:solidFill>
            <a:prstDash val="solid"/>
            <a:round/>
            <a:headEnd len="sm" w="sm" type="none"/>
            <a:tailEnd len="sm" w="sm" type="none"/>
          </a:ln>
        </p:spPr>
      </p:pic>
      <p:pic>
        <p:nvPicPr>
          <p:cNvPr id="437" name="Google Shape;437;p44"/>
          <p:cNvPicPr preferRelativeResize="0"/>
          <p:nvPr/>
        </p:nvPicPr>
        <p:blipFill>
          <a:blip r:embed="rId5">
            <a:alphaModFix/>
          </a:blip>
          <a:stretch>
            <a:fillRect/>
          </a:stretch>
        </p:blipFill>
        <p:spPr>
          <a:xfrm>
            <a:off x="3173819" y="940050"/>
            <a:ext cx="2796062" cy="2891813"/>
          </a:xfrm>
          <a:prstGeom prst="rect">
            <a:avLst/>
          </a:prstGeom>
          <a:noFill/>
          <a:ln cap="flat" cmpd="sng" w="9525">
            <a:solidFill>
              <a:schemeClr val="accent1"/>
            </a:solidFill>
            <a:prstDash val="solid"/>
            <a:round/>
            <a:headEnd len="sm" w="sm" type="none"/>
            <a:tailEnd len="sm" w="sm" type="none"/>
          </a:ln>
        </p:spPr>
      </p:pic>
      <p:pic>
        <p:nvPicPr>
          <p:cNvPr id="438" name="Google Shape;438;p44"/>
          <p:cNvPicPr preferRelativeResize="0"/>
          <p:nvPr/>
        </p:nvPicPr>
        <p:blipFill>
          <a:blip r:embed="rId6">
            <a:alphaModFix/>
          </a:blip>
          <a:stretch>
            <a:fillRect/>
          </a:stretch>
        </p:blipFill>
        <p:spPr>
          <a:xfrm>
            <a:off x="6116639" y="940050"/>
            <a:ext cx="2796062" cy="2891813"/>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5"/>
          <p:cNvSpPr/>
          <p:nvPr/>
        </p:nvSpPr>
        <p:spPr>
          <a:xfrm>
            <a:off x="-26550" y="1075050"/>
            <a:ext cx="9197100" cy="4068300"/>
          </a:xfrm>
          <a:prstGeom prst="rect">
            <a:avLst/>
          </a:prstGeom>
          <a:solidFill>
            <a:schemeClr val="accent1"/>
          </a:solidFill>
          <a:ln>
            <a:noFill/>
          </a:ln>
        </p:spPr>
        <p:txBody>
          <a:bodyPr anchorCtr="0" anchor="ctr" bIns="91425" lIns="91425" spcFirstLastPara="1" rIns="91425" wrap="square" tIns="91425">
            <a:noAutofit/>
          </a:bodyPr>
          <a:lstStyle/>
          <a:p>
            <a:pPr indent="-355600" lvl="0" marL="457200" rtl="0" algn="l">
              <a:spcBef>
                <a:spcPts val="0"/>
              </a:spcBef>
              <a:spcAft>
                <a:spcPts val="0"/>
              </a:spcAft>
              <a:buClr>
                <a:schemeClr val="lt1"/>
              </a:buClr>
              <a:buSzPts val="2000"/>
              <a:buFont typeface="Josefin Sans"/>
              <a:buChar char="●"/>
            </a:pPr>
            <a:r>
              <a:rPr lang="en-GB" sz="1600">
                <a:solidFill>
                  <a:schemeClr val="lt1"/>
                </a:solidFill>
                <a:highlight>
                  <a:srgbClr val="4285F4"/>
                </a:highlight>
                <a:latin typeface="Josefin Sans"/>
                <a:ea typeface="Josefin Sans"/>
                <a:cs typeface="Josefin Sans"/>
                <a:sym typeface="Josefin Sans"/>
              </a:rPr>
              <a:t>Representation of the SUMO simulation for: Traffic efficiency and Un</a:t>
            </a:r>
            <a:r>
              <a:rPr lang="en-GB" sz="1600">
                <a:solidFill>
                  <a:schemeClr val="lt1"/>
                </a:solidFill>
                <a:highlight>
                  <a:srgbClr val="4285F4"/>
                </a:highlight>
                <a:latin typeface="Josefin Sans"/>
                <a:ea typeface="Josefin Sans"/>
                <a:cs typeface="Josefin Sans"/>
                <a:sym typeface="Josefin Sans"/>
              </a:rPr>
              <a:t>safe Situations</a:t>
            </a:r>
            <a:r>
              <a:rPr lang="en-GB" sz="1600">
                <a:solidFill>
                  <a:schemeClr val="lt1"/>
                </a:solidFill>
                <a:highlight>
                  <a:srgbClr val="4285F4"/>
                </a:highlight>
                <a:latin typeface="Josefin Sans"/>
                <a:ea typeface="Josefin Sans"/>
                <a:cs typeface="Josefin Sans"/>
                <a:sym typeface="Josefin Sans"/>
              </a:rPr>
              <a:t> </a:t>
            </a:r>
            <a:endParaRPr sz="2000">
              <a:solidFill>
                <a:schemeClr val="lt1"/>
              </a:solidFill>
              <a:highlight>
                <a:srgbClr val="4285F4"/>
              </a:highlight>
              <a:latin typeface="Josefin Sans"/>
              <a:ea typeface="Josefin Sans"/>
              <a:cs typeface="Josefin Sans"/>
              <a:sym typeface="Josefin Sans"/>
            </a:endParaRPr>
          </a:p>
        </p:txBody>
      </p:sp>
      <p:sp>
        <p:nvSpPr>
          <p:cNvPr id="444" name="Google Shape;444;p45"/>
          <p:cNvSpPr txBox="1"/>
          <p:nvPr/>
        </p:nvSpPr>
        <p:spPr>
          <a:xfrm>
            <a:off x="6170550" y="0"/>
            <a:ext cx="30000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100">
                <a:solidFill>
                  <a:schemeClr val="lt1"/>
                </a:solidFill>
                <a:latin typeface="Josefin Sans"/>
                <a:ea typeface="Josefin Sans"/>
                <a:cs typeface="Josefin Sans"/>
                <a:sym typeface="Josefin Sans"/>
              </a:rPr>
              <a:t>            TATA POWER</a:t>
            </a:r>
            <a:endParaRPr sz="2300"/>
          </a:p>
        </p:txBody>
      </p:sp>
      <p:sp>
        <p:nvSpPr>
          <p:cNvPr id="445" name="Google Shape;445;p45"/>
          <p:cNvSpPr/>
          <p:nvPr/>
        </p:nvSpPr>
        <p:spPr>
          <a:xfrm>
            <a:off x="0" y="194625"/>
            <a:ext cx="9144000" cy="750900"/>
          </a:xfrm>
          <a:prstGeom prst="rect">
            <a:avLst/>
          </a:pr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100">
                <a:latin typeface="Josefin Sans"/>
                <a:ea typeface="Josefin Sans"/>
                <a:cs typeface="Josefin Sans"/>
                <a:sym typeface="Josefin Sans"/>
              </a:rPr>
              <a:t>TASK V</a:t>
            </a:r>
            <a:r>
              <a:rPr b="1" lang="en-GB" sz="2100">
                <a:solidFill>
                  <a:srgbClr val="000000"/>
                </a:solidFill>
                <a:latin typeface="Josefin Sans"/>
                <a:ea typeface="Josefin Sans"/>
                <a:cs typeface="Josefin Sans"/>
                <a:sym typeface="Josefin Sans"/>
              </a:rPr>
              <a:t>   </a:t>
            </a:r>
            <a:endParaRPr b="1" sz="2100">
              <a:solidFill>
                <a:srgbClr val="000000"/>
              </a:solidFill>
              <a:latin typeface="Josefin Sans"/>
              <a:ea typeface="Josefin Sans"/>
              <a:cs typeface="Josefin Sans"/>
              <a:sym typeface="Josefin Sans"/>
            </a:endParaRPr>
          </a:p>
        </p:txBody>
      </p:sp>
      <p:pic>
        <p:nvPicPr>
          <p:cNvPr id="446" name="Google Shape;446;p45"/>
          <p:cNvPicPr preferRelativeResize="0"/>
          <p:nvPr/>
        </p:nvPicPr>
        <p:blipFill>
          <a:blip r:embed="rId3">
            <a:alphaModFix/>
          </a:blip>
          <a:stretch>
            <a:fillRect/>
          </a:stretch>
        </p:blipFill>
        <p:spPr>
          <a:xfrm>
            <a:off x="52150" y="25350"/>
            <a:ext cx="407152" cy="457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6"/>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Representation of the SUMO simulation</a:t>
            </a:r>
            <a:r>
              <a:rPr b="1" lang="en-GB">
                <a:solidFill>
                  <a:schemeClr val="lt1"/>
                </a:solidFill>
                <a:highlight>
                  <a:schemeClr val="accent1"/>
                </a:highlight>
                <a:latin typeface="Josefin Sans"/>
                <a:ea typeface="Josefin Sans"/>
                <a:cs typeface="Josefin Sans"/>
                <a:sym typeface="Josefin Sans"/>
              </a:rPr>
              <a:t>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452" name="Google Shape;452;p46"/>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Applying parameters</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453" name="Google Shape;453;p46"/>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Demonstration of the simulation</a:t>
            </a:r>
            <a:r>
              <a:rPr lang="en-GB" sz="1100">
                <a:solidFill>
                  <a:srgbClr val="FFFFFF"/>
                </a:solidFill>
                <a:latin typeface="Josefin Sans"/>
                <a:ea typeface="Josefin Sans"/>
                <a:cs typeface="Josefin Sans"/>
                <a:sym typeface="Josefin Sans"/>
              </a:rPr>
              <a:t>  </a:t>
            </a:r>
            <a:endParaRPr sz="1100">
              <a:solidFill>
                <a:srgbClr val="FFFFFF"/>
              </a:solidFill>
              <a:latin typeface="Josefin Sans"/>
              <a:ea typeface="Josefin Sans"/>
              <a:cs typeface="Josefin Sans"/>
              <a:sym typeface="Josefin Sans"/>
            </a:endParaRPr>
          </a:p>
        </p:txBody>
      </p:sp>
      <p:pic>
        <p:nvPicPr>
          <p:cNvPr id="454" name="Google Shape;454;p46"/>
          <p:cNvPicPr preferRelativeResize="0"/>
          <p:nvPr/>
        </p:nvPicPr>
        <p:blipFill>
          <a:blip r:embed="rId3">
            <a:alphaModFix/>
          </a:blip>
          <a:stretch>
            <a:fillRect/>
          </a:stretch>
        </p:blipFill>
        <p:spPr>
          <a:xfrm>
            <a:off x="52150" y="-5850"/>
            <a:ext cx="407152" cy="457200"/>
          </a:xfrm>
          <a:prstGeom prst="rect">
            <a:avLst/>
          </a:prstGeom>
          <a:noFill/>
          <a:ln>
            <a:noFill/>
          </a:ln>
        </p:spPr>
      </p:pic>
      <p:pic>
        <p:nvPicPr>
          <p:cNvPr id="455" name="Google Shape;455;p46" title="Screenshot 2025-04-23 at 6.36.32 PM.png"/>
          <p:cNvPicPr preferRelativeResize="0"/>
          <p:nvPr/>
        </p:nvPicPr>
        <p:blipFill>
          <a:blip r:embed="rId4">
            <a:alphaModFix/>
          </a:blip>
          <a:stretch>
            <a:fillRect/>
          </a:stretch>
        </p:blipFill>
        <p:spPr>
          <a:xfrm>
            <a:off x="152400" y="934200"/>
            <a:ext cx="4797020" cy="3711275"/>
          </a:xfrm>
          <a:prstGeom prst="rect">
            <a:avLst/>
          </a:prstGeom>
          <a:noFill/>
          <a:ln cap="flat" cmpd="sng" w="9525">
            <a:solidFill>
              <a:schemeClr val="accent1"/>
            </a:solidFill>
            <a:prstDash val="solid"/>
            <a:round/>
            <a:headEnd len="sm" w="sm" type="none"/>
            <a:tailEnd len="sm" w="sm" type="none"/>
          </a:ln>
        </p:spPr>
      </p:pic>
      <p:pic>
        <p:nvPicPr>
          <p:cNvPr id="456" name="Google Shape;456;p46" title="Screenshot 2025-04-23 at 6.37.51 PM.png"/>
          <p:cNvPicPr preferRelativeResize="0"/>
          <p:nvPr/>
        </p:nvPicPr>
        <p:blipFill>
          <a:blip r:embed="rId5">
            <a:alphaModFix/>
          </a:blip>
          <a:stretch>
            <a:fillRect/>
          </a:stretch>
        </p:blipFill>
        <p:spPr>
          <a:xfrm>
            <a:off x="5101820" y="934200"/>
            <a:ext cx="3889782" cy="1935394"/>
          </a:xfrm>
          <a:prstGeom prst="rect">
            <a:avLst/>
          </a:prstGeom>
          <a:noFill/>
          <a:ln cap="flat" cmpd="sng" w="9525">
            <a:solidFill>
              <a:schemeClr val="accent1"/>
            </a:solidFill>
            <a:prstDash val="solid"/>
            <a:round/>
            <a:headEnd len="sm" w="sm" type="none"/>
            <a:tailEnd len="sm" w="sm" type="none"/>
          </a:ln>
        </p:spPr>
      </p:pic>
      <p:sp>
        <p:nvSpPr>
          <p:cNvPr id="457" name="Google Shape;457;p46"/>
          <p:cNvSpPr txBox="1"/>
          <p:nvPr/>
        </p:nvSpPr>
        <p:spPr>
          <a:xfrm>
            <a:off x="5355313" y="3207998"/>
            <a:ext cx="3382800" cy="13431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1500"/>
              </a:spcAft>
              <a:buNone/>
            </a:pPr>
            <a:r>
              <a:rPr lang="en-GB" sz="1100">
                <a:solidFill>
                  <a:schemeClr val="dk1"/>
                </a:solidFill>
                <a:latin typeface="Josefin Sans"/>
                <a:ea typeface="Josefin Sans"/>
                <a:cs typeface="Josefin Sans"/>
                <a:sym typeface="Josefin Sans"/>
              </a:rPr>
              <a:t>A visual representation of setting up parameters like speed, gyroscopic moment etc in SUMO and a real street view</a:t>
            </a:r>
            <a:endParaRPr sz="1100">
              <a:solidFill>
                <a:schemeClr val="dk1"/>
              </a:solidFill>
              <a:latin typeface="Josefin Sans"/>
              <a:ea typeface="Josefin Sans"/>
              <a:cs typeface="Josefin Sans"/>
              <a:sym typeface="Josefin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7"/>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Representation of the SUMO simulation </a:t>
            </a:r>
            <a:r>
              <a:rPr b="1" lang="en-GB">
                <a:solidFill>
                  <a:schemeClr val="lt1"/>
                </a:solidFill>
                <a:latin typeface="Josefin Sans"/>
                <a:ea typeface="Josefin Sans"/>
                <a:cs typeface="Josefin Sans"/>
                <a:sym typeface="Josefin Sans"/>
              </a:rPr>
              <a:t> </a:t>
            </a:r>
            <a:r>
              <a:rPr b="1" lang="en-GB">
                <a:solidFill>
                  <a:schemeClr val="lt1"/>
                </a:solidFill>
                <a:highlight>
                  <a:schemeClr val="accent1"/>
                </a:highlight>
                <a:latin typeface="Josefin Sans"/>
                <a:ea typeface="Josefin Sans"/>
                <a:cs typeface="Josefin Sans"/>
                <a:sym typeface="Josefin Sans"/>
              </a:rPr>
              <a:t>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463" name="Google Shape;463;p47"/>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Real world scenario</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464" name="Google Shape;464;p47"/>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Demonstration of a real life street on SUMO</a:t>
            </a:r>
            <a:r>
              <a:rPr lang="en-GB" sz="1100">
                <a:solidFill>
                  <a:srgbClr val="FFFFFF"/>
                </a:solidFill>
                <a:latin typeface="Josefin Sans"/>
                <a:ea typeface="Josefin Sans"/>
                <a:cs typeface="Josefin Sans"/>
                <a:sym typeface="Josefin Sans"/>
              </a:rPr>
              <a:t>  </a:t>
            </a:r>
            <a:endParaRPr sz="1100">
              <a:solidFill>
                <a:srgbClr val="FFFFFF"/>
              </a:solidFill>
              <a:latin typeface="Josefin Sans"/>
              <a:ea typeface="Josefin Sans"/>
              <a:cs typeface="Josefin Sans"/>
              <a:sym typeface="Josefin Sans"/>
            </a:endParaRPr>
          </a:p>
        </p:txBody>
      </p:sp>
      <p:pic>
        <p:nvPicPr>
          <p:cNvPr id="465" name="Google Shape;465;p47"/>
          <p:cNvPicPr preferRelativeResize="0"/>
          <p:nvPr/>
        </p:nvPicPr>
        <p:blipFill>
          <a:blip r:embed="rId3">
            <a:alphaModFix/>
          </a:blip>
          <a:stretch>
            <a:fillRect/>
          </a:stretch>
        </p:blipFill>
        <p:spPr>
          <a:xfrm>
            <a:off x="52150" y="-5850"/>
            <a:ext cx="407152" cy="457200"/>
          </a:xfrm>
          <a:prstGeom prst="rect">
            <a:avLst/>
          </a:prstGeom>
          <a:noFill/>
          <a:ln>
            <a:noFill/>
          </a:ln>
        </p:spPr>
      </p:pic>
      <p:pic>
        <p:nvPicPr>
          <p:cNvPr id="466" name="Google Shape;466;p47" title="Screenshot 2025-04-23 at 6.38.33 PM.png"/>
          <p:cNvPicPr preferRelativeResize="0"/>
          <p:nvPr/>
        </p:nvPicPr>
        <p:blipFill>
          <a:blip r:embed="rId4">
            <a:alphaModFix/>
          </a:blip>
          <a:stretch>
            <a:fillRect/>
          </a:stretch>
        </p:blipFill>
        <p:spPr>
          <a:xfrm>
            <a:off x="873700" y="948989"/>
            <a:ext cx="7396598" cy="3245524"/>
          </a:xfrm>
          <a:prstGeom prst="rect">
            <a:avLst/>
          </a:prstGeom>
          <a:noFill/>
          <a:ln>
            <a:noFill/>
          </a:ln>
        </p:spPr>
      </p:pic>
      <p:sp>
        <p:nvSpPr>
          <p:cNvPr id="467" name="Google Shape;467;p47"/>
          <p:cNvSpPr txBox="1"/>
          <p:nvPr/>
        </p:nvSpPr>
        <p:spPr>
          <a:xfrm>
            <a:off x="1372650" y="4323400"/>
            <a:ext cx="6398400" cy="3456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500"/>
              </a:spcBef>
              <a:spcAft>
                <a:spcPts val="1500"/>
              </a:spcAft>
              <a:buNone/>
            </a:pPr>
            <a:r>
              <a:rPr lang="en-GB" sz="1100">
                <a:solidFill>
                  <a:schemeClr val="dk1"/>
                </a:solidFill>
                <a:latin typeface="Josefin Sans"/>
                <a:ea typeface="Josefin Sans"/>
                <a:cs typeface="Josefin Sans"/>
                <a:sym typeface="Josefin Sans"/>
              </a:rPr>
              <a:t>A visual </a:t>
            </a:r>
            <a:r>
              <a:rPr lang="en-GB" sz="1100">
                <a:solidFill>
                  <a:schemeClr val="dk1"/>
                </a:solidFill>
                <a:latin typeface="Josefin Sans"/>
                <a:ea typeface="Josefin Sans"/>
                <a:cs typeface="Josefin Sans"/>
                <a:sym typeface="Josefin Sans"/>
              </a:rPr>
              <a:t>representation</a:t>
            </a:r>
            <a:r>
              <a:rPr lang="en-GB" sz="1100">
                <a:solidFill>
                  <a:schemeClr val="dk1"/>
                </a:solidFill>
                <a:latin typeface="Josefin Sans"/>
                <a:ea typeface="Josefin Sans"/>
                <a:cs typeface="Josefin Sans"/>
                <a:sym typeface="Josefin Sans"/>
              </a:rPr>
              <a:t> of a </a:t>
            </a:r>
            <a:r>
              <a:rPr lang="en-GB" sz="1100">
                <a:solidFill>
                  <a:schemeClr val="dk1"/>
                </a:solidFill>
                <a:latin typeface="Josefin Sans"/>
                <a:ea typeface="Josefin Sans"/>
                <a:cs typeface="Josefin Sans"/>
                <a:sym typeface="Josefin Sans"/>
              </a:rPr>
              <a:t>street</a:t>
            </a:r>
            <a:r>
              <a:rPr lang="en-GB" sz="1100">
                <a:solidFill>
                  <a:schemeClr val="dk1"/>
                </a:solidFill>
                <a:latin typeface="Josefin Sans"/>
                <a:ea typeface="Josefin Sans"/>
                <a:cs typeface="Josefin Sans"/>
                <a:sym typeface="Josefin Sans"/>
              </a:rPr>
              <a:t> on google maps and on SUMO</a:t>
            </a:r>
            <a:endParaRPr sz="1100">
              <a:solidFill>
                <a:schemeClr val="dk1"/>
              </a:solidFill>
              <a:latin typeface="Josefin Sans"/>
              <a:ea typeface="Josefin Sans"/>
              <a:cs typeface="Josefin Sans"/>
              <a:sym typeface="Josefin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8"/>
          <p:cNvSpPr/>
          <p:nvPr/>
        </p:nvSpPr>
        <p:spPr>
          <a:xfrm>
            <a:off x="-26550" y="1075050"/>
            <a:ext cx="9197100" cy="4068300"/>
          </a:xfrm>
          <a:prstGeom prst="rect">
            <a:avLst/>
          </a:prstGeom>
          <a:solidFill>
            <a:schemeClr val="accent1"/>
          </a:solidFill>
          <a:ln>
            <a:noFill/>
          </a:ln>
        </p:spPr>
        <p:txBody>
          <a:bodyPr anchorCtr="0" anchor="ctr" bIns="91425" lIns="91425" spcFirstLastPara="1" rIns="91425" wrap="square" tIns="91425">
            <a:noAutofit/>
          </a:bodyPr>
          <a:lstStyle/>
          <a:p>
            <a:pPr indent="-355600" lvl="0" marL="457200" rtl="0" algn="l">
              <a:spcBef>
                <a:spcPts val="0"/>
              </a:spcBef>
              <a:spcAft>
                <a:spcPts val="0"/>
              </a:spcAft>
              <a:buClr>
                <a:schemeClr val="lt1"/>
              </a:buClr>
              <a:buSzPts val="2000"/>
              <a:buFont typeface="Josefin Sans"/>
              <a:buChar char="●"/>
            </a:pPr>
            <a:r>
              <a:rPr lang="en-GB" sz="1600">
                <a:solidFill>
                  <a:schemeClr val="lt1"/>
                </a:solidFill>
                <a:highlight>
                  <a:srgbClr val="4285F4"/>
                </a:highlight>
                <a:latin typeface="Josefin Sans"/>
                <a:ea typeface="Josefin Sans"/>
                <a:cs typeface="Josefin Sans"/>
                <a:sym typeface="Josefin Sans"/>
              </a:rPr>
              <a:t>If pedestrians are allowed to cross roads at any arbitrary locations instead of fixed zebra crossings, how much does the traffic efficiency reduce (assuming vehicles slow down whenever a pedestrian is crossing in front of it)?</a:t>
            </a:r>
            <a:endParaRPr sz="1600">
              <a:solidFill>
                <a:schemeClr val="lt1"/>
              </a:solidFill>
              <a:highlight>
                <a:srgbClr val="4285F4"/>
              </a:highlight>
              <a:latin typeface="Josefin Sans"/>
              <a:ea typeface="Josefin Sans"/>
              <a:cs typeface="Josefin Sans"/>
              <a:sym typeface="Josefin Sans"/>
            </a:endParaRPr>
          </a:p>
          <a:p>
            <a:pPr indent="0" lvl="0" marL="457200" rtl="0" algn="l">
              <a:spcBef>
                <a:spcPts val="0"/>
              </a:spcBef>
              <a:spcAft>
                <a:spcPts val="0"/>
              </a:spcAft>
              <a:buNone/>
            </a:pPr>
            <a:r>
              <a:rPr lang="en-GB" sz="1600">
                <a:solidFill>
                  <a:schemeClr val="lt1"/>
                </a:solidFill>
                <a:highlight>
                  <a:srgbClr val="4285F4"/>
                </a:highlight>
                <a:latin typeface="Josefin Sans"/>
                <a:ea typeface="Josefin Sans"/>
                <a:cs typeface="Josefin Sans"/>
                <a:sym typeface="Josefin Sans"/>
              </a:rPr>
              <a:t>Traffic efficiency means average travel time of all vehicles.</a:t>
            </a:r>
            <a:endParaRPr sz="1600">
              <a:solidFill>
                <a:schemeClr val="lt1"/>
              </a:solidFill>
              <a:highlight>
                <a:srgbClr val="4285F4"/>
              </a:highlight>
              <a:latin typeface="Josefin Sans"/>
              <a:ea typeface="Josefin Sans"/>
              <a:cs typeface="Josefin Sans"/>
              <a:sym typeface="Josefin Sans"/>
            </a:endParaRPr>
          </a:p>
          <a:p>
            <a:pPr indent="-355600" lvl="0" marL="457200" rtl="0" algn="l">
              <a:spcBef>
                <a:spcPts val="0"/>
              </a:spcBef>
              <a:spcAft>
                <a:spcPts val="0"/>
              </a:spcAft>
              <a:buClr>
                <a:schemeClr val="lt1"/>
              </a:buClr>
              <a:buSzPts val="2000"/>
              <a:buFont typeface="Josefin Sans"/>
              <a:buChar char="●"/>
            </a:pPr>
            <a:r>
              <a:rPr lang="en-GB" sz="1600">
                <a:solidFill>
                  <a:schemeClr val="lt1"/>
                </a:solidFill>
                <a:highlight>
                  <a:srgbClr val="4285F4"/>
                </a:highlight>
                <a:latin typeface="Josefin Sans"/>
                <a:ea typeface="Josefin Sans"/>
                <a:cs typeface="Josefin Sans"/>
                <a:sym typeface="Josefin Sans"/>
              </a:rPr>
              <a:t>If pedestrians are allowed to cross roads at arbitrary locations, how often does this create an unsafe situation (vehicle coming too close to pedestrian)?</a:t>
            </a:r>
            <a:endParaRPr sz="2000">
              <a:solidFill>
                <a:schemeClr val="lt1"/>
              </a:solidFill>
              <a:highlight>
                <a:srgbClr val="4285F4"/>
              </a:highlight>
              <a:latin typeface="Josefin Sans"/>
              <a:ea typeface="Josefin Sans"/>
              <a:cs typeface="Josefin Sans"/>
              <a:sym typeface="Josefin Sans"/>
            </a:endParaRPr>
          </a:p>
        </p:txBody>
      </p:sp>
      <p:sp>
        <p:nvSpPr>
          <p:cNvPr id="473" name="Google Shape;473;p48"/>
          <p:cNvSpPr txBox="1"/>
          <p:nvPr/>
        </p:nvSpPr>
        <p:spPr>
          <a:xfrm>
            <a:off x="6170550" y="0"/>
            <a:ext cx="30000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100">
                <a:solidFill>
                  <a:schemeClr val="lt1"/>
                </a:solidFill>
                <a:latin typeface="Josefin Sans"/>
                <a:ea typeface="Josefin Sans"/>
                <a:cs typeface="Josefin Sans"/>
                <a:sym typeface="Josefin Sans"/>
              </a:rPr>
              <a:t>            TATA POWER</a:t>
            </a:r>
            <a:endParaRPr sz="2300"/>
          </a:p>
        </p:txBody>
      </p:sp>
      <p:sp>
        <p:nvSpPr>
          <p:cNvPr id="474" name="Google Shape;474;p48"/>
          <p:cNvSpPr/>
          <p:nvPr/>
        </p:nvSpPr>
        <p:spPr>
          <a:xfrm>
            <a:off x="0" y="194625"/>
            <a:ext cx="9144000" cy="750900"/>
          </a:xfrm>
          <a:prstGeom prst="rect">
            <a:avLst/>
          </a:pr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100">
                <a:latin typeface="Josefin Sans"/>
                <a:ea typeface="Josefin Sans"/>
                <a:cs typeface="Josefin Sans"/>
                <a:sym typeface="Josefin Sans"/>
              </a:rPr>
              <a:t>TASK VI</a:t>
            </a:r>
            <a:r>
              <a:rPr b="1" lang="en-GB" sz="2100">
                <a:solidFill>
                  <a:srgbClr val="000000"/>
                </a:solidFill>
                <a:latin typeface="Josefin Sans"/>
                <a:ea typeface="Josefin Sans"/>
                <a:cs typeface="Josefin Sans"/>
                <a:sym typeface="Josefin Sans"/>
              </a:rPr>
              <a:t>   </a:t>
            </a:r>
            <a:endParaRPr b="1" sz="2100">
              <a:solidFill>
                <a:srgbClr val="000000"/>
              </a:solidFill>
              <a:latin typeface="Josefin Sans"/>
              <a:ea typeface="Josefin Sans"/>
              <a:cs typeface="Josefin Sans"/>
              <a:sym typeface="Josefin Sans"/>
            </a:endParaRPr>
          </a:p>
        </p:txBody>
      </p:sp>
      <p:pic>
        <p:nvPicPr>
          <p:cNvPr id="475" name="Google Shape;475;p48"/>
          <p:cNvPicPr preferRelativeResize="0"/>
          <p:nvPr/>
        </p:nvPicPr>
        <p:blipFill>
          <a:blip r:embed="rId3">
            <a:alphaModFix/>
          </a:blip>
          <a:stretch>
            <a:fillRect/>
          </a:stretch>
        </p:blipFill>
        <p:spPr>
          <a:xfrm>
            <a:off x="52150" y="25350"/>
            <a:ext cx="407152" cy="457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9"/>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Traffic Efficiency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481" name="Google Shape;481;p49"/>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Key setup parameters</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482" name="Google Shape;482;p49"/>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Pedestrian and vehicle behaviour for analyzing traffic efficiency</a:t>
            </a:r>
            <a:r>
              <a:rPr lang="en-GB" sz="1100">
                <a:solidFill>
                  <a:srgbClr val="FFFFFF"/>
                </a:solidFill>
                <a:latin typeface="Josefin Sans"/>
                <a:ea typeface="Josefin Sans"/>
                <a:cs typeface="Josefin Sans"/>
                <a:sym typeface="Josefin Sans"/>
              </a:rPr>
              <a:t>  </a:t>
            </a:r>
            <a:endParaRPr sz="1100">
              <a:solidFill>
                <a:srgbClr val="FFFFFF"/>
              </a:solidFill>
              <a:latin typeface="Josefin Sans"/>
              <a:ea typeface="Josefin Sans"/>
              <a:cs typeface="Josefin Sans"/>
              <a:sym typeface="Josefin Sans"/>
            </a:endParaRPr>
          </a:p>
        </p:txBody>
      </p:sp>
      <p:pic>
        <p:nvPicPr>
          <p:cNvPr id="483" name="Google Shape;483;p49"/>
          <p:cNvPicPr preferRelativeResize="0"/>
          <p:nvPr/>
        </p:nvPicPr>
        <p:blipFill>
          <a:blip r:embed="rId3">
            <a:alphaModFix/>
          </a:blip>
          <a:stretch>
            <a:fillRect/>
          </a:stretch>
        </p:blipFill>
        <p:spPr>
          <a:xfrm>
            <a:off x="52150" y="-5850"/>
            <a:ext cx="407152" cy="457200"/>
          </a:xfrm>
          <a:prstGeom prst="rect">
            <a:avLst/>
          </a:prstGeom>
          <a:noFill/>
          <a:ln>
            <a:noFill/>
          </a:ln>
        </p:spPr>
      </p:pic>
      <p:sp>
        <p:nvSpPr>
          <p:cNvPr id="484" name="Google Shape;484;p49"/>
          <p:cNvSpPr txBox="1"/>
          <p:nvPr/>
        </p:nvSpPr>
        <p:spPr>
          <a:xfrm>
            <a:off x="1303925" y="1873800"/>
            <a:ext cx="2467200" cy="3456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rgbClr val="FFFFFF"/>
                </a:solidFill>
                <a:latin typeface="Josefin Sans"/>
                <a:ea typeface="Josefin Sans"/>
                <a:cs typeface="Josefin Sans"/>
                <a:sym typeface="Josefin Sans"/>
              </a:rPr>
              <a:t>Pedestrian Behaviour</a:t>
            </a:r>
            <a:endParaRPr b="1" sz="1300">
              <a:solidFill>
                <a:srgbClr val="FFFFFF"/>
              </a:solidFill>
              <a:latin typeface="Josefin Sans"/>
              <a:ea typeface="Josefin Sans"/>
              <a:cs typeface="Josefin Sans"/>
              <a:sym typeface="Josefin Sans"/>
            </a:endParaRPr>
          </a:p>
        </p:txBody>
      </p:sp>
      <p:sp>
        <p:nvSpPr>
          <p:cNvPr id="485" name="Google Shape;485;p49"/>
          <p:cNvSpPr txBox="1"/>
          <p:nvPr/>
        </p:nvSpPr>
        <p:spPr>
          <a:xfrm>
            <a:off x="5372865" y="1873800"/>
            <a:ext cx="2467200" cy="3456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rgbClr val="FFFFFF"/>
                </a:solidFill>
                <a:latin typeface="Josefin Sans"/>
                <a:ea typeface="Josefin Sans"/>
                <a:cs typeface="Josefin Sans"/>
                <a:sym typeface="Josefin Sans"/>
              </a:rPr>
              <a:t>Vehicle Behaviour</a:t>
            </a:r>
            <a:endParaRPr b="1" sz="1300">
              <a:solidFill>
                <a:srgbClr val="FFFFFF"/>
              </a:solidFill>
              <a:latin typeface="Josefin Sans"/>
              <a:ea typeface="Josefin Sans"/>
              <a:cs typeface="Josefin Sans"/>
              <a:sym typeface="Josefin Sans"/>
            </a:endParaRPr>
          </a:p>
        </p:txBody>
      </p:sp>
      <p:sp>
        <p:nvSpPr>
          <p:cNvPr id="486" name="Google Shape;486;p49"/>
          <p:cNvSpPr txBox="1"/>
          <p:nvPr/>
        </p:nvSpPr>
        <p:spPr>
          <a:xfrm>
            <a:off x="999863" y="2428788"/>
            <a:ext cx="3075300" cy="21597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lnSpc>
                <a:spcPct val="115000"/>
              </a:lnSpc>
              <a:spcBef>
                <a:spcPts val="150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Crossing frequency: Set to 1–5 crossings/minute (varies by pedestrian density)</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Crossing speed: 1.2–1.5 m/s (human walking speed)</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Risk tolerance: 20–40% chance of crossing without checking traffic</a:t>
            </a:r>
            <a:endParaRPr b="1" sz="1200">
              <a:solidFill>
                <a:schemeClr val="dk1"/>
              </a:solidFill>
              <a:highlight>
                <a:srgbClr val="F3F3F3"/>
              </a:highlight>
              <a:latin typeface="Josefin Sans"/>
              <a:ea typeface="Josefin Sans"/>
              <a:cs typeface="Josefin Sans"/>
              <a:sym typeface="Josefin Sans"/>
            </a:endParaRPr>
          </a:p>
        </p:txBody>
      </p:sp>
      <p:sp>
        <p:nvSpPr>
          <p:cNvPr id="487" name="Google Shape;487;p49"/>
          <p:cNvSpPr txBox="1"/>
          <p:nvPr/>
        </p:nvSpPr>
        <p:spPr>
          <a:xfrm>
            <a:off x="5068831" y="2428788"/>
            <a:ext cx="3075300" cy="21597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lnSpc>
                <a:spcPct val="115000"/>
              </a:lnSpc>
              <a:spcBef>
                <a:spcPts val="150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Deceleration rate: 2.5–4.0 m/s² (realistic braking for yielding)</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Reaction time: 1.0–1.5 seconds (human driver response delay)</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Minimum gap: 2.0–3.0 m (distance maintained from pedestrians)</a:t>
            </a:r>
            <a:endParaRPr sz="1200">
              <a:solidFill>
                <a:schemeClr val="dk1"/>
              </a:solidFill>
              <a:latin typeface="Josefin Sans"/>
              <a:ea typeface="Josefin Sans"/>
              <a:cs typeface="Josefin Sans"/>
              <a:sym typeface="Josefin Sans"/>
            </a:endParaRPr>
          </a:p>
        </p:txBody>
      </p:sp>
      <p:sp>
        <p:nvSpPr>
          <p:cNvPr id="488" name="Google Shape;488;p49"/>
          <p:cNvSpPr txBox="1"/>
          <p:nvPr/>
        </p:nvSpPr>
        <p:spPr>
          <a:xfrm>
            <a:off x="999600" y="947750"/>
            <a:ext cx="7144500" cy="6891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GB" sz="1200">
                <a:solidFill>
                  <a:schemeClr val="dk1"/>
                </a:solidFill>
                <a:latin typeface="Josefin Sans"/>
                <a:ea typeface="Josefin Sans"/>
                <a:cs typeface="Josefin Sans"/>
                <a:sym typeface="Josefin Sans"/>
              </a:rPr>
              <a:t>SUMO can quantitatively analyze how arbitrary pedestrian crossings impact traffic efficiency through controlled simulations.</a:t>
            </a:r>
            <a:endParaRPr sz="1000">
              <a:solidFill>
                <a:srgbClr val="222222"/>
              </a:solidFill>
              <a:highlight>
                <a:srgbClr val="FFFFFF"/>
              </a:highlight>
              <a:latin typeface="Josefin Sans"/>
              <a:ea typeface="Josefin Sans"/>
              <a:cs typeface="Josefin Sans"/>
              <a:sym typeface="Josefin Sans"/>
            </a:endParaRPr>
          </a:p>
          <a:p>
            <a:pPr indent="0" lvl="0" marL="0" rtl="0" algn="ctr">
              <a:lnSpc>
                <a:spcPct val="100000"/>
              </a:lnSpc>
              <a:spcBef>
                <a:spcPts val="600"/>
              </a:spcBef>
              <a:spcAft>
                <a:spcPts val="0"/>
              </a:spcAft>
              <a:buClr>
                <a:schemeClr val="dk1"/>
              </a:buClr>
              <a:buSzPts val="1100"/>
              <a:buFont typeface="Arial"/>
              <a:buNone/>
            </a:pPr>
            <a:r>
              <a:t/>
            </a:r>
            <a:endParaRPr sz="1000">
              <a:solidFill>
                <a:schemeClr val="dk1"/>
              </a:solidFill>
              <a:latin typeface="Josefin Sans"/>
              <a:ea typeface="Josefin Sans"/>
              <a:cs typeface="Josefin Sans"/>
              <a:sym typeface="Josefin Sans"/>
            </a:endParaRPr>
          </a:p>
          <a:p>
            <a:pPr indent="0" lvl="0" marL="0" rtl="0" algn="ctr">
              <a:lnSpc>
                <a:spcPct val="100000"/>
              </a:lnSpc>
              <a:spcBef>
                <a:spcPts val="600"/>
              </a:spcBef>
              <a:spcAft>
                <a:spcPts val="600"/>
              </a:spcAft>
              <a:buNone/>
            </a:pPr>
            <a:r>
              <a:t/>
            </a:r>
            <a:endParaRPr b="1" sz="1000">
              <a:solidFill>
                <a:schemeClr val="dk1"/>
              </a:solidFill>
              <a:latin typeface="Josefin Sans"/>
              <a:ea typeface="Josefin Sans"/>
              <a:cs typeface="Josefin Sans"/>
              <a:sym typeface="Josefin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0"/>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Traffic</a:t>
            </a:r>
            <a:r>
              <a:rPr b="1" lang="en-GB">
                <a:solidFill>
                  <a:schemeClr val="lt1"/>
                </a:solidFill>
                <a:highlight>
                  <a:schemeClr val="accent1"/>
                </a:highlight>
                <a:latin typeface="Josefin Sans"/>
                <a:ea typeface="Josefin Sans"/>
                <a:cs typeface="Josefin Sans"/>
                <a:sym typeface="Josefin Sans"/>
              </a:rPr>
              <a:t> Efficiency</a:t>
            </a:r>
            <a:r>
              <a:rPr b="1" lang="en-GB">
                <a:solidFill>
                  <a:schemeClr val="lt1"/>
                </a:solidFill>
                <a:highlight>
                  <a:schemeClr val="accent1"/>
                </a:highlight>
                <a:latin typeface="Josefin Sans"/>
                <a:ea typeface="Josefin Sans"/>
                <a:cs typeface="Josefin Sans"/>
                <a:sym typeface="Josefin Sans"/>
              </a:rPr>
              <a:t>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494" name="Google Shape;494;p50"/>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Metrics to look out for analyzing traffic efficiency</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495" name="Google Shape;495;p50"/>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Necessary threshold discussion to monitor traffic efficiency</a:t>
            </a:r>
            <a:r>
              <a:rPr lang="en-GB" sz="1100">
                <a:solidFill>
                  <a:srgbClr val="FFFFFF"/>
                </a:solidFill>
                <a:latin typeface="Josefin Sans"/>
                <a:ea typeface="Josefin Sans"/>
                <a:cs typeface="Josefin Sans"/>
                <a:sym typeface="Josefin Sans"/>
              </a:rPr>
              <a:t>  </a:t>
            </a:r>
            <a:endParaRPr sz="1100">
              <a:solidFill>
                <a:srgbClr val="FFFFFF"/>
              </a:solidFill>
              <a:latin typeface="Josefin Sans"/>
              <a:ea typeface="Josefin Sans"/>
              <a:cs typeface="Josefin Sans"/>
              <a:sym typeface="Josefin Sans"/>
            </a:endParaRPr>
          </a:p>
        </p:txBody>
      </p:sp>
      <p:pic>
        <p:nvPicPr>
          <p:cNvPr id="496" name="Google Shape;496;p50"/>
          <p:cNvPicPr preferRelativeResize="0"/>
          <p:nvPr/>
        </p:nvPicPr>
        <p:blipFill>
          <a:blip r:embed="rId3">
            <a:alphaModFix/>
          </a:blip>
          <a:stretch>
            <a:fillRect/>
          </a:stretch>
        </p:blipFill>
        <p:spPr>
          <a:xfrm>
            <a:off x="52150" y="-5850"/>
            <a:ext cx="407152" cy="457200"/>
          </a:xfrm>
          <a:prstGeom prst="rect">
            <a:avLst/>
          </a:prstGeom>
          <a:noFill/>
          <a:ln>
            <a:noFill/>
          </a:ln>
        </p:spPr>
      </p:pic>
      <p:graphicFrame>
        <p:nvGraphicFramePr>
          <p:cNvPr id="497" name="Google Shape;497;p50"/>
          <p:cNvGraphicFramePr/>
          <p:nvPr/>
        </p:nvGraphicFramePr>
        <p:xfrm>
          <a:off x="493500" y="1806775"/>
          <a:ext cx="3000000" cy="3000000"/>
        </p:xfrm>
        <a:graphic>
          <a:graphicData uri="http://schemas.openxmlformats.org/drawingml/2006/table">
            <a:tbl>
              <a:tblPr>
                <a:noFill/>
                <a:tableStyleId>{D45A3726-6D87-4FA0-885B-04208B5A4D76}</a:tableStyleId>
              </a:tblPr>
              <a:tblGrid>
                <a:gridCol w="2718900"/>
                <a:gridCol w="2852400"/>
                <a:gridCol w="2585400"/>
              </a:tblGrid>
              <a:tr h="483675">
                <a:tc>
                  <a:txBody>
                    <a:bodyPr/>
                    <a:lstStyle/>
                    <a:p>
                      <a:pPr indent="0" lvl="0" marL="0" rtl="0" algn="ctr">
                        <a:lnSpc>
                          <a:spcPct val="171429"/>
                        </a:lnSpc>
                        <a:spcBef>
                          <a:spcPts val="1100"/>
                        </a:spcBef>
                        <a:spcAft>
                          <a:spcPts val="1100"/>
                        </a:spcAft>
                        <a:buNone/>
                      </a:pPr>
                      <a:r>
                        <a:rPr b="1" lang="en-GB" sz="1100">
                          <a:latin typeface="Josefin Sans"/>
                          <a:ea typeface="Josefin Sans"/>
                          <a:cs typeface="Josefin Sans"/>
                          <a:sym typeface="Josefin Sans"/>
                        </a:rPr>
                        <a:t>Metric</a:t>
                      </a:r>
                      <a:endParaRPr b="1" sz="1100">
                        <a:latin typeface="Josefin Sans"/>
                        <a:ea typeface="Josefin Sans"/>
                        <a:cs typeface="Josefin Sans"/>
                        <a:sym typeface="Josefin Sans"/>
                      </a:endParaRPr>
                    </a:p>
                  </a:txBody>
                  <a:tcPr marT="91425" marB="91425" marR="91425" marL="91425">
                    <a:lnL cap="flat" cmpd="sng" w="9525">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a:solidFill>
                        <a:schemeClr val="dk1"/>
                      </a:solidFill>
                      <a:prstDash val="solid"/>
                      <a:round/>
                      <a:headEnd len="sm" w="sm" type="none"/>
                      <a:tailEnd len="sm" w="sm" type="none"/>
                    </a:lnB>
                    <a:solidFill>
                      <a:schemeClr val="accent1"/>
                    </a:solidFill>
                  </a:tcPr>
                </a:tc>
                <a:tc>
                  <a:txBody>
                    <a:bodyPr/>
                    <a:lstStyle/>
                    <a:p>
                      <a:pPr indent="0" lvl="0" marL="0" rtl="0" algn="ctr">
                        <a:lnSpc>
                          <a:spcPct val="171429"/>
                        </a:lnSpc>
                        <a:spcBef>
                          <a:spcPts val="1100"/>
                        </a:spcBef>
                        <a:spcAft>
                          <a:spcPts val="1100"/>
                        </a:spcAft>
                        <a:buNone/>
                      </a:pPr>
                      <a:r>
                        <a:rPr b="1" lang="en-GB" sz="1100">
                          <a:latin typeface="Josefin Sans"/>
                          <a:ea typeface="Josefin Sans"/>
                          <a:cs typeface="Josefin Sans"/>
                          <a:sym typeface="Josefin Sans"/>
                        </a:rPr>
                        <a:t>Definition</a:t>
                      </a:r>
                      <a:endParaRPr b="1" sz="1100">
                        <a:latin typeface="Josefin Sans"/>
                        <a:ea typeface="Josefin Sans"/>
                        <a:cs typeface="Josefin Sans"/>
                        <a:sym typeface="Josefin Sans"/>
                      </a:endParaRPr>
                    </a:p>
                  </a:txBody>
                  <a:tcPr marT="91425" marB="91425" marR="91425" marL="91425">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a:solidFill>
                        <a:schemeClr val="dk1"/>
                      </a:solidFill>
                      <a:prstDash val="solid"/>
                      <a:round/>
                      <a:headEnd len="sm" w="sm" type="none"/>
                      <a:tailEnd len="sm" w="sm" type="none"/>
                    </a:lnB>
                    <a:solidFill>
                      <a:schemeClr val="accent1"/>
                    </a:solidFill>
                  </a:tcPr>
                </a:tc>
                <a:tc>
                  <a:txBody>
                    <a:bodyPr/>
                    <a:lstStyle/>
                    <a:p>
                      <a:pPr indent="0" lvl="0" marL="0" rtl="0" algn="ctr">
                        <a:lnSpc>
                          <a:spcPct val="171429"/>
                        </a:lnSpc>
                        <a:spcBef>
                          <a:spcPts val="1100"/>
                        </a:spcBef>
                        <a:spcAft>
                          <a:spcPts val="1100"/>
                        </a:spcAft>
                        <a:buNone/>
                      </a:pPr>
                      <a:r>
                        <a:rPr b="1" lang="en-GB" sz="1100">
                          <a:latin typeface="Josefin Sans"/>
                          <a:ea typeface="Josefin Sans"/>
                          <a:cs typeface="Josefin Sans"/>
                          <a:sym typeface="Josefin Sans"/>
                        </a:rPr>
                        <a:t>Thresholds</a:t>
                      </a:r>
                      <a:endParaRPr b="1" sz="1100">
                        <a:latin typeface="Josefin Sans"/>
                        <a:ea typeface="Josefin Sans"/>
                        <a:cs typeface="Josefin Sans"/>
                        <a:sym typeface="Josefin Sans"/>
                      </a:endParaRPr>
                    </a:p>
                  </a:txBody>
                  <a:tcPr marT="91425" marB="91425" marR="91425" marL="91425">
                    <a:lnL cap="flat" cmpd="sng">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a:solidFill>
                        <a:schemeClr val="dk1"/>
                      </a:solidFill>
                      <a:prstDash val="solid"/>
                      <a:round/>
                      <a:headEnd len="sm" w="sm" type="none"/>
                      <a:tailEnd len="sm" w="sm" type="none"/>
                    </a:lnB>
                    <a:solidFill>
                      <a:schemeClr val="accent1"/>
                    </a:solidFill>
                  </a:tcPr>
                </a:tc>
              </a:tr>
              <a:tr h="483675">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Average travel time</a:t>
                      </a:r>
                      <a:endParaRPr sz="1100">
                        <a:latin typeface="Josefin Sans"/>
                        <a:ea typeface="Josefin Sans"/>
                        <a:cs typeface="Josefin Sans"/>
                        <a:sym typeface="Josefin Sans"/>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Total vehicle travel time / no. of vehicles</a:t>
                      </a:r>
                      <a:endParaRPr sz="1100">
                        <a:latin typeface="Josefin Sans"/>
                        <a:ea typeface="Josefin Sans"/>
                        <a:cs typeface="Josefin Sans"/>
                        <a:sym typeface="Josefin Sans"/>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&gt;25% increase = critical degradation</a:t>
                      </a:r>
                      <a:endParaRPr sz="1100">
                        <a:latin typeface="Josefin Sans"/>
                        <a:ea typeface="Josefin Sans"/>
                        <a:cs typeface="Josefin Sans"/>
                        <a:sym typeface="Josefin Sans"/>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83675">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Time loss</a:t>
                      </a:r>
                      <a:endParaRPr sz="1100">
                        <a:latin typeface="Josefin Sans"/>
                        <a:ea typeface="Josefin Sans"/>
                        <a:cs typeface="Josefin Sans"/>
                        <a:sym typeface="Josefin Sans"/>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Delay due to stops/slowdowns</a:t>
                      </a:r>
                      <a:endParaRPr sz="1100">
                        <a:latin typeface="Josefin Sans"/>
                        <a:ea typeface="Josefin Sans"/>
                        <a:cs typeface="Josefin Sans"/>
                        <a:sym typeface="Josefin Sans"/>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&gt;30 sec/km = severe congestion</a:t>
                      </a:r>
                      <a:endParaRPr sz="1100">
                        <a:latin typeface="Josefin Sans"/>
                        <a:ea typeface="Josefin Sans"/>
                        <a:cs typeface="Josefin Sans"/>
                        <a:sym typeface="Josefin Sans"/>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83675">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Pedestrian conflicts</a:t>
                      </a:r>
                      <a:endParaRPr sz="1100">
                        <a:latin typeface="Josefin Sans"/>
                        <a:ea typeface="Josefin Sans"/>
                        <a:cs typeface="Josefin Sans"/>
                        <a:sym typeface="Josefin Sans"/>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No. of</a:t>
                      </a:r>
                      <a:r>
                        <a:rPr lang="en-GB" sz="1100">
                          <a:latin typeface="Josefin Sans"/>
                          <a:ea typeface="Josefin Sans"/>
                          <a:cs typeface="Josefin Sans"/>
                          <a:sym typeface="Josefin Sans"/>
                        </a:rPr>
                        <a:t> near-misses per hour (vehicles &lt;1m)</a:t>
                      </a:r>
                      <a:endParaRPr sz="1100">
                        <a:latin typeface="Josefin Sans"/>
                        <a:ea typeface="Josefin Sans"/>
                        <a:cs typeface="Josefin Sans"/>
                        <a:sym typeface="Josefin Sans"/>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&gt;10 conflicts/hr = unsafe</a:t>
                      </a:r>
                      <a:endParaRPr sz="1100">
                        <a:latin typeface="Josefin Sans"/>
                        <a:ea typeface="Josefin Sans"/>
                        <a:cs typeface="Josefin Sans"/>
                        <a:sym typeface="Josefin Sans"/>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83675">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Vehicle throughput</a:t>
                      </a:r>
                      <a:endParaRPr sz="1100">
                        <a:latin typeface="Josefin Sans"/>
                        <a:ea typeface="Josefin Sans"/>
                        <a:cs typeface="Josefin Sans"/>
                        <a:sym typeface="Josefin Sans"/>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No. of</a:t>
                      </a:r>
                      <a:r>
                        <a:rPr lang="en-GB" sz="1100">
                          <a:latin typeface="Josefin Sans"/>
                          <a:ea typeface="Josefin Sans"/>
                          <a:cs typeface="Josefin Sans"/>
                          <a:sym typeface="Josefin Sans"/>
                        </a:rPr>
                        <a:t> vehicles passing a point per hour</a:t>
                      </a:r>
                      <a:endParaRPr sz="1100">
                        <a:latin typeface="Josefin Sans"/>
                        <a:ea typeface="Josefin Sans"/>
                        <a:cs typeface="Josefin Sans"/>
                        <a:sym typeface="Josefin Sans"/>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&lt;500 veh/hr/lane = poor efficiency</a:t>
                      </a:r>
                      <a:endParaRPr sz="1100">
                        <a:latin typeface="Josefin Sans"/>
                        <a:ea typeface="Josefin Sans"/>
                        <a:cs typeface="Josefin Sans"/>
                        <a:sym typeface="Josefin Sans"/>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98" name="Google Shape;498;p50"/>
          <p:cNvSpPr txBox="1"/>
          <p:nvPr/>
        </p:nvSpPr>
        <p:spPr>
          <a:xfrm>
            <a:off x="2880450" y="1113603"/>
            <a:ext cx="3382800" cy="3456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rgbClr val="FFFFFF"/>
                </a:solidFill>
                <a:latin typeface="Josefin Sans"/>
                <a:ea typeface="Josefin Sans"/>
                <a:cs typeface="Josefin Sans"/>
                <a:sym typeface="Josefin Sans"/>
              </a:rPr>
              <a:t>Metrics to monitor</a:t>
            </a:r>
            <a:endParaRPr b="1" sz="1300">
              <a:solidFill>
                <a:srgbClr val="FFFFFF"/>
              </a:solidFill>
              <a:latin typeface="Josefin Sans"/>
              <a:ea typeface="Josefin Sans"/>
              <a:cs typeface="Josefin Sans"/>
              <a:sym typeface="Josefin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1"/>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Traffic Efficiency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504" name="Google Shape;504;p51"/>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Quantitative</a:t>
            </a:r>
            <a:r>
              <a:rPr b="1" lang="en-GB" sz="1000">
                <a:latin typeface="Josefin Sans"/>
                <a:ea typeface="Josefin Sans"/>
                <a:cs typeface="Josefin Sans"/>
                <a:sym typeface="Josefin Sans"/>
              </a:rPr>
              <a:t> Analysis</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505" name="Google Shape;505;p51"/>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A quantitative analysis of traffic efficiency</a:t>
            </a:r>
            <a:r>
              <a:rPr lang="en-GB" sz="1100">
                <a:solidFill>
                  <a:srgbClr val="FFFFFF"/>
                </a:solidFill>
                <a:latin typeface="Josefin Sans"/>
                <a:ea typeface="Josefin Sans"/>
                <a:cs typeface="Josefin Sans"/>
                <a:sym typeface="Josefin Sans"/>
              </a:rPr>
              <a:t>  </a:t>
            </a:r>
            <a:endParaRPr sz="1100">
              <a:solidFill>
                <a:srgbClr val="FFFFFF"/>
              </a:solidFill>
              <a:latin typeface="Josefin Sans"/>
              <a:ea typeface="Josefin Sans"/>
              <a:cs typeface="Josefin Sans"/>
              <a:sym typeface="Josefin Sans"/>
            </a:endParaRPr>
          </a:p>
        </p:txBody>
      </p:sp>
      <p:pic>
        <p:nvPicPr>
          <p:cNvPr id="506" name="Google Shape;506;p51"/>
          <p:cNvPicPr preferRelativeResize="0"/>
          <p:nvPr/>
        </p:nvPicPr>
        <p:blipFill>
          <a:blip r:embed="rId3">
            <a:alphaModFix/>
          </a:blip>
          <a:stretch>
            <a:fillRect/>
          </a:stretch>
        </p:blipFill>
        <p:spPr>
          <a:xfrm>
            <a:off x="52150" y="-5850"/>
            <a:ext cx="407152" cy="457200"/>
          </a:xfrm>
          <a:prstGeom prst="rect">
            <a:avLst/>
          </a:prstGeom>
          <a:noFill/>
          <a:ln>
            <a:noFill/>
          </a:ln>
        </p:spPr>
      </p:pic>
      <p:pic>
        <p:nvPicPr>
          <p:cNvPr id="507" name="Google Shape;507;p51" title="Screenshot 2025-04-07 at 4.04.04 PM.png"/>
          <p:cNvPicPr preferRelativeResize="0"/>
          <p:nvPr/>
        </p:nvPicPr>
        <p:blipFill>
          <a:blip r:embed="rId4">
            <a:alphaModFix/>
          </a:blip>
          <a:stretch>
            <a:fillRect/>
          </a:stretch>
        </p:blipFill>
        <p:spPr>
          <a:xfrm>
            <a:off x="3380348" y="1459300"/>
            <a:ext cx="2154098" cy="457200"/>
          </a:xfrm>
          <a:prstGeom prst="rect">
            <a:avLst/>
          </a:prstGeom>
          <a:noFill/>
          <a:ln cap="flat" cmpd="sng" w="9525">
            <a:solidFill>
              <a:schemeClr val="accent1"/>
            </a:solidFill>
            <a:prstDash val="solid"/>
            <a:round/>
            <a:headEnd len="sm" w="sm" type="none"/>
            <a:tailEnd len="sm" w="sm" type="none"/>
          </a:ln>
        </p:spPr>
      </p:pic>
      <p:sp>
        <p:nvSpPr>
          <p:cNvPr id="508" name="Google Shape;508;p51"/>
          <p:cNvSpPr txBox="1"/>
          <p:nvPr/>
        </p:nvSpPr>
        <p:spPr>
          <a:xfrm>
            <a:off x="592350" y="947750"/>
            <a:ext cx="7730100" cy="3456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20000"/>
              </a:lnSpc>
              <a:spcBef>
                <a:spcPts val="0"/>
              </a:spcBef>
              <a:spcAft>
                <a:spcPts val="0"/>
              </a:spcAft>
              <a:buClr>
                <a:schemeClr val="dk1"/>
              </a:buClr>
              <a:buSzPts val="1100"/>
              <a:buFont typeface="Arial"/>
              <a:buNone/>
            </a:pPr>
            <a:r>
              <a:rPr lang="en-GB" sz="1200">
                <a:solidFill>
                  <a:schemeClr val="dk1"/>
                </a:solidFill>
                <a:latin typeface="Josefin Sans"/>
                <a:ea typeface="Josefin Sans"/>
                <a:cs typeface="Josefin Sans"/>
                <a:sym typeface="Josefin Sans"/>
              </a:rPr>
              <a:t>The relationship between pedestrian density (</a:t>
            </a:r>
            <a:r>
              <a:rPr i="1" lang="en-GB" sz="1350">
                <a:solidFill>
                  <a:schemeClr val="dk1"/>
                </a:solidFill>
                <a:latin typeface="Josefin Sans"/>
                <a:ea typeface="Josefin Sans"/>
                <a:cs typeface="Josefin Sans"/>
                <a:sym typeface="Josefin Sans"/>
              </a:rPr>
              <a:t>P</a:t>
            </a:r>
            <a:r>
              <a:rPr lang="en-GB" sz="1200">
                <a:solidFill>
                  <a:schemeClr val="dk1"/>
                </a:solidFill>
                <a:latin typeface="Josefin Sans"/>
                <a:ea typeface="Josefin Sans"/>
                <a:cs typeface="Josefin Sans"/>
                <a:sym typeface="Josefin Sans"/>
              </a:rPr>
              <a:t>, ped/km²/hr) and traffic efficiency (</a:t>
            </a:r>
            <a:r>
              <a:rPr i="1" lang="en-GB" sz="1350">
                <a:solidFill>
                  <a:schemeClr val="dk1"/>
                </a:solidFill>
                <a:latin typeface="Josefin Sans"/>
                <a:ea typeface="Josefin Sans"/>
                <a:cs typeface="Josefin Sans"/>
                <a:sym typeface="Josefin Sans"/>
              </a:rPr>
              <a:t>E</a:t>
            </a:r>
            <a:r>
              <a:rPr lang="en-GB" sz="1200">
                <a:solidFill>
                  <a:schemeClr val="dk1"/>
                </a:solidFill>
                <a:latin typeface="Josefin Sans"/>
                <a:ea typeface="Josefin Sans"/>
                <a:cs typeface="Josefin Sans"/>
                <a:sym typeface="Josefin Sans"/>
              </a:rPr>
              <a:t>) can be modeled as</a:t>
            </a:r>
            <a:endParaRPr b="1" sz="1000">
              <a:solidFill>
                <a:schemeClr val="dk1"/>
              </a:solidFill>
              <a:latin typeface="Josefin Sans"/>
              <a:ea typeface="Josefin Sans"/>
              <a:cs typeface="Josefin Sans"/>
              <a:sym typeface="Josefin Sans"/>
            </a:endParaRPr>
          </a:p>
        </p:txBody>
      </p:sp>
      <p:graphicFrame>
        <p:nvGraphicFramePr>
          <p:cNvPr id="509" name="Google Shape;509;p51"/>
          <p:cNvGraphicFramePr/>
          <p:nvPr/>
        </p:nvGraphicFramePr>
        <p:xfrm>
          <a:off x="952350" y="2139263"/>
          <a:ext cx="3000000" cy="3000000"/>
        </p:xfrm>
        <a:graphic>
          <a:graphicData uri="http://schemas.openxmlformats.org/drawingml/2006/table">
            <a:tbl>
              <a:tblPr>
                <a:noFill/>
                <a:tableStyleId>{D45A3726-6D87-4FA0-885B-04208B5A4D76}</a:tableStyleId>
              </a:tblPr>
              <a:tblGrid>
                <a:gridCol w="1761425"/>
                <a:gridCol w="4012325"/>
                <a:gridCol w="1465250"/>
              </a:tblGrid>
              <a:tr h="381000">
                <a:tc>
                  <a:txBody>
                    <a:bodyPr/>
                    <a:lstStyle/>
                    <a:p>
                      <a:pPr indent="0" lvl="0" marL="0" rtl="0" algn="ctr">
                        <a:lnSpc>
                          <a:spcPct val="171429"/>
                        </a:lnSpc>
                        <a:spcBef>
                          <a:spcPts val="1100"/>
                        </a:spcBef>
                        <a:spcAft>
                          <a:spcPts val="1100"/>
                        </a:spcAft>
                        <a:buNone/>
                      </a:pPr>
                      <a:r>
                        <a:rPr b="1" lang="en-GB" sz="950">
                          <a:latin typeface="Josefin Sans"/>
                          <a:ea typeface="Josefin Sans"/>
                          <a:cs typeface="Josefin Sans"/>
                          <a:sym typeface="Josefin Sans"/>
                        </a:rPr>
                        <a:t>Term</a:t>
                      </a:r>
                      <a:endParaRPr b="1" sz="950">
                        <a:latin typeface="Josefin Sans"/>
                        <a:ea typeface="Josefin Sans"/>
                        <a:cs typeface="Josefin Sans"/>
                        <a:sym typeface="Josefi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5E7EB"/>
                      </a:solidFill>
                      <a:prstDash val="solid"/>
                      <a:round/>
                      <a:headEnd len="sm" w="sm" type="none"/>
                      <a:tailEnd len="sm" w="sm" type="none"/>
                    </a:lnB>
                    <a:solidFill>
                      <a:schemeClr val="accent1"/>
                    </a:solidFill>
                  </a:tcPr>
                </a:tc>
                <a:tc>
                  <a:txBody>
                    <a:bodyPr/>
                    <a:lstStyle/>
                    <a:p>
                      <a:pPr indent="0" lvl="0" marL="0" rtl="0" algn="ctr">
                        <a:lnSpc>
                          <a:spcPct val="171429"/>
                        </a:lnSpc>
                        <a:spcBef>
                          <a:spcPts val="1100"/>
                        </a:spcBef>
                        <a:spcAft>
                          <a:spcPts val="1100"/>
                        </a:spcAft>
                        <a:buNone/>
                      </a:pPr>
                      <a:r>
                        <a:rPr b="1" lang="en-GB" sz="950">
                          <a:latin typeface="Josefin Sans"/>
                          <a:ea typeface="Josefin Sans"/>
                          <a:cs typeface="Josefin Sans"/>
                          <a:sym typeface="Josefin Sans"/>
                        </a:rPr>
                        <a:t>Description</a:t>
                      </a:r>
                      <a:endParaRPr b="1" sz="950">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5E7EB"/>
                      </a:solidFill>
                      <a:prstDash val="solid"/>
                      <a:round/>
                      <a:headEnd len="sm" w="sm" type="none"/>
                      <a:tailEnd len="sm" w="sm" type="none"/>
                    </a:lnB>
                    <a:solidFill>
                      <a:srgbClr val="4285F4"/>
                    </a:solidFill>
                  </a:tcPr>
                </a:tc>
                <a:tc>
                  <a:txBody>
                    <a:bodyPr/>
                    <a:lstStyle/>
                    <a:p>
                      <a:pPr indent="0" lvl="0" marL="0" rtl="0" algn="ctr">
                        <a:lnSpc>
                          <a:spcPct val="171429"/>
                        </a:lnSpc>
                        <a:spcBef>
                          <a:spcPts val="1100"/>
                        </a:spcBef>
                        <a:spcAft>
                          <a:spcPts val="1100"/>
                        </a:spcAft>
                        <a:buNone/>
                      </a:pPr>
                      <a:r>
                        <a:rPr b="1" lang="en-GB" sz="950">
                          <a:latin typeface="Josefin Sans"/>
                          <a:ea typeface="Josefin Sans"/>
                          <a:cs typeface="Josefin Sans"/>
                          <a:sym typeface="Josefin Sans"/>
                        </a:rPr>
                        <a:t>Example Values</a:t>
                      </a:r>
                      <a:endParaRPr b="1" sz="950">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5E7EB"/>
                      </a:solidFill>
                      <a:prstDash val="solid"/>
                      <a:round/>
                      <a:headEnd len="sm" w="sm" type="none"/>
                      <a:tailEnd len="sm" w="sm" type="none"/>
                    </a:lnB>
                    <a:solidFill>
                      <a:schemeClr val="accent1"/>
                    </a:solidFill>
                  </a:tcPr>
                </a:tc>
              </a:tr>
              <a:tr h="381000">
                <a:tc>
                  <a:txBody>
                    <a:bodyPr/>
                    <a:lstStyle/>
                    <a:p>
                      <a:pPr indent="0" lvl="0" marL="0" rtl="0" algn="l">
                        <a:lnSpc>
                          <a:spcPct val="171429"/>
                        </a:lnSpc>
                        <a:spcBef>
                          <a:spcPts val="1100"/>
                        </a:spcBef>
                        <a:spcAft>
                          <a:spcPts val="1100"/>
                        </a:spcAft>
                        <a:buNone/>
                      </a:pPr>
                      <a:r>
                        <a:rPr lang="en-GB" sz="950">
                          <a:latin typeface="Josefin Sans"/>
                          <a:ea typeface="Josefin Sans"/>
                          <a:cs typeface="Josefin Sans"/>
                          <a:sym typeface="Josefin Sans"/>
                        </a:rPr>
                        <a:t>E</a:t>
                      </a:r>
                      <a:endParaRPr sz="95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Josefin Sans"/>
                          <a:ea typeface="Josefin Sans"/>
                          <a:cs typeface="Josefin Sans"/>
                          <a:sym typeface="Josefin Sans"/>
                        </a:rPr>
                        <a:t>Actual traffic efficiency (vehicle-km/hour)</a:t>
                      </a:r>
                      <a:endParaRPr sz="95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Josefin Sans"/>
                          <a:ea typeface="Josefin Sans"/>
                          <a:cs typeface="Josefin Sans"/>
                          <a:sym typeface="Josefin Sans"/>
                        </a:rPr>
                        <a:t>0.82 · E₀ (82% of baseline)</a:t>
                      </a:r>
                      <a:endParaRPr sz="95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71429"/>
                        </a:lnSpc>
                        <a:spcBef>
                          <a:spcPts val="1100"/>
                        </a:spcBef>
                        <a:spcAft>
                          <a:spcPts val="1100"/>
                        </a:spcAft>
                        <a:buNone/>
                      </a:pPr>
                      <a:r>
                        <a:rPr lang="en-GB" sz="950">
                          <a:latin typeface="Josefin Sans"/>
                          <a:ea typeface="Josefin Sans"/>
                          <a:cs typeface="Josefin Sans"/>
                          <a:sym typeface="Josefin Sans"/>
                        </a:rPr>
                        <a:t>E₀</a:t>
                      </a:r>
                      <a:endParaRPr sz="95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Josefin Sans"/>
                          <a:ea typeface="Josefin Sans"/>
                          <a:cs typeface="Josefin Sans"/>
                          <a:sym typeface="Josefin Sans"/>
                        </a:rPr>
                        <a:t>Baseline efficiency (vehicle-km/hour without pedestrians)</a:t>
                      </a:r>
                      <a:endParaRPr sz="95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Josefin Sans"/>
                          <a:ea typeface="Josefin Sans"/>
                          <a:cs typeface="Josefin Sans"/>
                          <a:sym typeface="Josefin Sans"/>
                        </a:rPr>
                        <a:t>1000 vehicle-km/hr</a:t>
                      </a:r>
                      <a:endParaRPr sz="95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71429"/>
                        </a:lnSpc>
                        <a:spcBef>
                          <a:spcPts val="1100"/>
                        </a:spcBef>
                        <a:spcAft>
                          <a:spcPts val="1100"/>
                        </a:spcAft>
                        <a:buNone/>
                      </a:pPr>
                      <a:r>
                        <a:rPr lang="en-GB" sz="950">
                          <a:latin typeface="Josefin Sans"/>
                          <a:ea typeface="Josefin Sans"/>
                          <a:cs typeface="Josefin Sans"/>
                          <a:sym typeface="Josefin Sans"/>
                        </a:rPr>
                        <a:t>P</a:t>
                      </a:r>
                      <a:endParaRPr sz="95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Josefin Sans"/>
                          <a:ea typeface="Josefin Sans"/>
                          <a:cs typeface="Josefin Sans"/>
                          <a:sym typeface="Josefin Sans"/>
                        </a:rPr>
                        <a:t>Pedestrian density (pedestrians/km²/hour)</a:t>
                      </a:r>
                      <a:endParaRPr sz="95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Josefin Sans"/>
                          <a:ea typeface="Josefin Sans"/>
                          <a:cs typeface="Josefin Sans"/>
                          <a:sym typeface="Josefin Sans"/>
                        </a:rPr>
                        <a:t>500 ped/km²/hr</a:t>
                      </a:r>
                      <a:endParaRPr sz="95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71429"/>
                        </a:lnSpc>
                        <a:spcBef>
                          <a:spcPts val="1100"/>
                        </a:spcBef>
                        <a:spcAft>
                          <a:spcPts val="1100"/>
                        </a:spcAft>
                        <a:buNone/>
                      </a:pPr>
                      <a:r>
                        <a:rPr lang="en-GB" sz="950">
                          <a:latin typeface="Josefin Sans"/>
                          <a:ea typeface="Josefin Sans"/>
                          <a:cs typeface="Josefin Sans"/>
                          <a:sym typeface="Josefin Sans"/>
                        </a:rPr>
                        <a:t>0.0025</a:t>
                      </a:r>
                      <a:endParaRPr sz="95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Josefin Sans"/>
                          <a:ea typeface="Josefin Sans"/>
                          <a:cs typeface="Josefin Sans"/>
                          <a:sym typeface="Josefin Sans"/>
                        </a:rPr>
                        <a:t>Scaling factor (calibrated from real-world data)</a:t>
                      </a:r>
                      <a:endParaRPr sz="95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Josefin Sans"/>
                          <a:ea typeface="Josefin Sans"/>
                          <a:cs typeface="Josefin Sans"/>
                          <a:sym typeface="Josefin Sans"/>
                        </a:rPr>
                        <a:t>Fixed constant</a:t>
                      </a:r>
                      <a:endParaRPr sz="95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71429"/>
                        </a:lnSpc>
                        <a:spcBef>
                          <a:spcPts val="1100"/>
                        </a:spcBef>
                        <a:spcAft>
                          <a:spcPts val="1100"/>
                        </a:spcAft>
                        <a:buNone/>
                      </a:pPr>
                      <a:r>
                        <a:rPr lang="en-GB" sz="950">
                          <a:latin typeface="Josefin Sans"/>
                          <a:ea typeface="Josefin Sans"/>
                          <a:cs typeface="Josefin Sans"/>
                          <a:sym typeface="Josefin Sans"/>
                        </a:rPr>
                        <a:t>P¹·²</a:t>
                      </a:r>
                      <a:endParaRPr sz="95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Josefin Sans"/>
                          <a:ea typeface="Josefin Sans"/>
                          <a:cs typeface="Josefin Sans"/>
                          <a:sym typeface="Josefin Sans"/>
                        </a:rPr>
                        <a:t>Non-linear pedestrian impact (density raised to 1.2 power)</a:t>
                      </a:r>
                      <a:endParaRPr sz="95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Josefin Sans"/>
                          <a:ea typeface="Josefin Sans"/>
                          <a:cs typeface="Josefin Sans"/>
                          <a:sym typeface="Josefin Sans"/>
                        </a:rPr>
                        <a:t>500¹·² ≈ 3,800</a:t>
                      </a:r>
                      <a:endParaRPr sz="95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2"/>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Traffic Efficiency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515" name="Google Shape;515;p52"/>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Observed results</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516" name="Google Shape;516;p52"/>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Results obtained after simulations and statistical analysis</a:t>
            </a:r>
            <a:r>
              <a:rPr lang="en-GB" sz="1100">
                <a:solidFill>
                  <a:srgbClr val="FFFFFF"/>
                </a:solidFill>
                <a:latin typeface="Josefin Sans"/>
                <a:ea typeface="Josefin Sans"/>
                <a:cs typeface="Josefin Sans"/>
                <a:sym typeface="Josefin Sans"/>
              </a:rPr>
              <a:t>  </a:t>
            </a:r>
            <a:endParaRPr sz="1100">
              <a:solidFill>
                <a:srgbClr val="FFFFFF"/>
              </a:solidFill>
              <a:latin typeface="Josefin Sans"/>
              <a:ea typeface="Josefin Sans"/>
              <a:cs typeface="Josefin Sans"/>
              <a:sym typeface="Josefin Sans"/>
            </a:endParaRPr>
          </a:p>
        </p:txBody>
      </p:sp>
      <p:pic>
        <p:nvPicPr>
          <p:cNvPr id="517" name="Google Shape;517;p52"/>
          <p:cNvPicPr preferRelativeResize="0"/>
          <p:nvPr/>
        </p:nvPicPr>
        <p:blipFill>
          <a:blip r:embed="rId3">
            <a:alphaModFix/>
          </a:blip>
          <a:stretch>
            <a:fillRect/>
          </a:stretch>
        </p:blipFill>
        <p:spPr>
          <a:xfrm>
            <a:off x="52150" y="-5850"/>
            <a:ext cx="407152" cy="457200"/>
          </a:xfrm>
          <a:prstGeom prst="rect">
            <a:avLst/>
          </a:prstGeom>
          <a:noFill/>
          <a:ln>
            <a:noFill/>
          </a:ln>
        </p:spPr>
      </p:pic>
      <p:sp>
        <p:nvSpPr>
          <p:cNvPr id="518" name="Google Shape;518;p52"/>
          <p:cNvSpPr txBox="1"/>
          <p:nvPr/>
        </p:nvSpPr>
        <p:spPr>
          <a:xfrm>
            <a:off x="661450" y="981500"/>
            <a:ext cx="7730100" cy="3456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20000"/>
              </a:lnSpc>
              <a:spcBef>
                <a:spcPts val="0"/>
              </a:spcBef>
              <a:spcAft>
                <a:spcPts val="0"/>
              </a:spcAft>
              <a:buClr>
                <a:schemeClr val="dk1"/>
              </a:buClr>
              <a:buSzPts val="1100"/>
              <a:buFont typeface="Arial"/>
              <a:buNone/>
            </a:pPr>
            <a:r>
              <a:rPr lang="en-GB" sz="1200">
                <a:solidFill>
                  <a:schemeClr val="dk1"/>
                </a:solidFill>
                <a:latin typeface="Josefin Sans"/>
                <a:ea typeface="Josefin Sans"/>
                <a:cs typeface="Josefin Sans"/>
                <a:sym typeface="Josefin Sans"/>
              </a:rPr>
              <a:t>The results obtained on traffic </a:t>
            </a:r>
            <a:r>
              <a:rPr lang="en-GB" sz="1200">
                <a:solidFill>
                  <a:schemeClr val="dk1"/>
                </a:solidFill>
                <a:latin typeface="Josefin Sans"/>
                <a:ea typeface="Josefin Sans"/>
                <a:cs typeface="Josefin Sans"/>
                <a:sym typeface="Josefin Sans"/>
              </a:rPr>
              <a:t>efficiency</a:t>
            </a:r>
            <a:r>
              <a:rPr lang="en-GB" sz="1200">
                <a:solidFill>
                  <a:schemeClr val="dk1"/>
                </a:solidFill>
                <a:latin typeface="Josefin Sans"/>
                <a:ea typeface="Josefin Sans"/>
                <a:cs typeface="Josefin Sans"/>
                <a:sym typeface="Josefin Sans"/>
              </a:rPr>
              <a:t> reduction, critical density thresholds, and spatial impact  </a:t>
            </a:r>
            <a:endParaRPr b="1" sz="1000">
              <a:solidFill>
                <a:schemeClr val="dk1"/>
              </a:solidFill>
              <a:latin typeface="Josefin Sans"/>
              <a:ea typeface="Josefin Sans"/>
              <a:cs typeface="Josefin Sans"/>
              <a:sym typeface="Josefin Sans"/>
            </a:endParaRPr>
          </a:p>
        </p:txBody>
      </p:sp>
      <p:sp>
        <p:nvSpPr>
          <p:cNvPr id="519" name="Google Shape;519;p52"/>
          <p:cNvSpPr txBox="1"/>
          <p:nvPr/>
        </p:nvSpPr>
        <p:spPr>
          <a:xfrm>
            <a:off x="437025" y="1488900"/>
            <a:ext cx="3338400" cy="31470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1500"/>
              </a:spcBef>
              <a:spcAft>
                <a:spcPts val="0"/>
              </a:spcAft>
              <a:buNone/>
            </a:pPr>
            <a:r>
              <a:rPr b="1" lang="en-GB" sz="1100">
                <a:solidFill>
                  <a:schemeClr val="dk1"/>
                </a:solidFill>
                <a:highlight>
                  <a:srgbClr val="F3F3F3"/>
                </a:highlight>
                <a:latin typeface="Josefin Sans"/>
                <a:ea typeface="Josefin Sans"/>
                <a:cs typeface="Josefin Sans"/>
                <a:sym typeface="Josefin Sans"/>
              </a:rPr>
              <a:t>Traffic </a:t>
            </a:r>
            <a:r>
              <a:rPr b="1" lang="en-GB" sz="1100">
                <a:solidFill>
                  <a:schemeClr val="dk1"/>
                </a:solidFill>
                <a:highlight>
                  <a:srgbClr val="F3F3F3"/>
                </a:highlight>
                <a:latin typeface="Josefin Sans"/>
                <a:ea typeface="Josefin Sans"/>
                <a:cs typeface="Josefin Sans"/>
                <a:sym typeface="Josefin Sans"/>
              </a:rPr>
              <a:t>Efficiency Reduction</a:t>
            </a:r>
            <a:r>
              <a:rPr b="1" lang="en-GB" sz="1100">
                <a:solidFill>
                  <a:schemeClr val="dk1"/>
                </a:solidFill>
                <a:highlight>
                  <a:srgbClr val="F3F3F3"/>
                </a:highlight>
                <a:latin typeface="Josefin Sans"/>
                <a:ea typeface="Josefin Sans"/>
                <a:cs typeface="Josefin Sans"/>
                <a:sym typeface="Josefin Sans"/>
              </a:rPr>
              <a:t> </a:t>
            </a:r>
            <a:r>
              <a:rPr b="1" lang="en-GB" sz="1100">
                <a:solidFill>
                  <a:schemeClr val="dk1"/>
                </a:solidFill>
                <a:highlight>
                  <a:srgbClr val="F3F3F3"/>
                </a:highlight>
                <a:latin typeface="Josefin Sans"/>
                <a:ea typeface="Josefin Sans"/>
                <a:cs typeface="Josefin Sans"/>
                <a:sym typeface="Josefin Sans"/>
              </a:rPr>
              <a:t>:</a:t>
            </a:r>
            <a:endParaRPr b="1" sz="1100">
              <a:solidFill>
                <a:schemeClr val="dk1"/>
              </a:solidFill>
              <a:highlight>
                <a:srgbClr val="F3F3F3"/>
              </a:highlight>
              <a:latin typeface="Josefin Sans"/>
              <a:ea typeface="Josefin Sans"/>
              <a:cs typeface="Josefin Sans"/>
              <a:sym typeface="Josefin Sans"/>
            </a:endParaRPr>
          </a:p>
          <a:p>
            <a:pPr indent="0" lvl="0" marL="0" rtl="0" algn="l">
              <a:lnSpc>
                <a:spcPct val="115000"/>
              </a:lnSpc>
              <a:spcBef>
                <a:spcPts val="2100"/>
              </a:spcBef>
              <a:spcAft>
                <a:spcPts val="0"/>
              </a:spcAft>
              <a:buNone/>
            </a:pPr>
            <a:r>
              <a:rPr lang="en-GB" sz="1100">
                <a:solidFill>
                  <a:schemeClr val="dk1"/>
                </a:solidFill>
                <a:latin typeface="Josefin Sans"/>
                <a:ea typeface="Josefin Sans"/>
                <a:cs typeface="Josefin Sans"/>
                <a:sym typeface="Josefin Sans"/>
              </a:rPr>
              <a:t>1. </a:t>
            </a:r>
            <a:r>
              <a:rPr lang="en-GB" sz="1100">
                <a:solidFill>
                  <a:schemeClr val="dk1"/>
                </a:solidFill>
                <a:latin typeface="Josefin Sans"/>
                <a:ea typeface="Josefin Sans"/>
                <a:cs typeface="Josefin Sans"/>
                <a:sym typeface="Josefin Sans"/>
              </a:rPr>
              <a:t>15–25% increase in average travel time for moderate pedestrian density (500–800 ped/hr)</a:t>
            </a:r>
            <a:endParaRPr sz="1100">
              <a:solidFill>
                <a:schemeClr val="dk1"/>
              </a:solidFill>
              <a:latin typeface="Josefin Sans"/>
              <a:ea typeface="Josefin Sans"/>
              <a:cs typeface="Josefin Sans"/>
              <a:sym typeface="Josefin Sans"/>
            </a:endParaRPr>
          </a:p>
          <a:p>
            <a:pPr indent="0" lvl="0" marL="0" rtl="0" algn="l">
              <a:lnSpc>
                <a:spcPct val="115000"/>
              </a:lnSpc>
              <a:spcBef>
                <a:spcPts val="2100"/>
              </a:spcBef>
              <a:spcAft>
                <a:spcPts val="0"/>
              </a:spcAft>
              <a:buNone/>
            </a:pPr>
            <a:r>
              <a:rPr lang="en-GB" sz="1100">
                <a:solidFill>
                  <a:schemeClr val="dk1"/>
                </a:solidFill>
                <a:latin typeface="Josefin Sans"/>
                <a:ea typeface="Josefin Sans"/>
                <a:cs typeface="Josefin Sans"/>
                <a:sym typeface="Josefin Sans"/>
              </a:rPr>
              <a:t>2. 35–40% increase at high pedestrian density (&gt;1,200 ped/hr)</a:t>
            </a:r>
            <a:endParaRPr sz="1100">
              <a:solidFill>
                <a:schemeClr val="dk1"/>
              </a:solidFill>
              <a:latin typeface="Josefin Sans"/>
              <a:ea typeface="Josefin Sans"/>
              <a:cs typeface="Josefin Sans"/>
              <a:sym typeface="Josefin Sans"/>
            </a:endParaRPr>
          </a:p>
          <a:p>
            <a:pPr indent="0" lvl="0" marL="0" rtl="0" algn="l">
              <a:lnSpc>
                <a:spcPct val="115000"/>
              </a:lnSpc>
              <a:spcBef>
                <a:spcPts val="2100"/>
              </a:spcBef>
              <a:spcAft>
                <a:spcPts val="2100"/>
              </a:spcAft>
              <a:buNone/>
            </a:pPr>
            <a:r>
              <a:rPr lang="en-GB" sz="1100">
                <a:solidFill>
                  <a:schemeClr val="dk1"/>
                </a:solidFill>
                <a:latin typeface="Josefin Sans"/>
                <a:ea typeface="Josefin Sans"/>
                <a:cs typeface="Josefin Sans"/>
                <a:sym typeface="Josefin Sans"/>
              </a:rPr>
              <a:t>Example: A 10 km urban route with baseline 20-min travel time becomes 24–28 mins with arbitrary crossings</a:t>
            </a:r>
            <a:endParaRPr sz="1100">
              <a:solidFill>
                <a:srgbClr val="222222"/>
              </a:solidFill>
              <a:highlight>
                <a:srgbClr val="F3F3F3"/>
              </a:highlight>
              <a:latin typeface="Josefin Sans"/>
              <a:ea typeface="Josefin Sans"/>
              <a:cs typeface="Josefin Sans"/>
              <a:sym typeface="Josefin Sans"/>
            </a:endParaRPr>
          </a:p>
        </p:txBody>
      </p:sp>
      <p:sp>
        <p:nvSpPr>
          <p:cNvPr id="520" name="Google Shape;520;p52"/>
          <p:cNvSpPr txBox="1"/>
          <p:nvPr/>
        </p:nvSpPr>
        <p:spPr>
          <a:xfrm>
            <a:off x="3896675" y="1488900"/>
            <a:ext cx="4719300" cy="1563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1500"/>
              </a:spcBef>
              <a:spcAft>
                <a:spcPts val="0"/>
              </a:spcAft>
              <a:buNone/>
            </a:pPr>
            <a:r>
              <a:rPr b="1" lang="en-GB" sz="1100">
                <a:solidFill>
                  <a:schemeClr val="dk1"/>
                </a:solidFill>
                <a:highlight>
                  <a:schemeClr val="lt1"/>
                </a:highlight>
                <a:latin typeface="Josefin Sans"/>
                <a:ea typeface="Josefin Sans"/>
                <a:cs typeface="Josefin Sans"/>
                <a:sym typeface="Josefin Sans"/>
              </a:rPr>
              <a:t>Critical Density Thresholds</a:t>
            </a:r>
            <a:r>
              <a:rPr b="1" lang="en-GB" sz="1100">
                <a:solidFill>
                  <a:schemeClr val="dk1"/>
                </a:solidFill>
                <a:highlight>
                  <a:schemeClr val="lt1"/>
                </a:highlight>
                <a:latin typeface="Josefin Sans"/>
                <a:ea typeface="Josefin Sans"/>
                <a:cs typeface="Josefin Sans"/>
                <a:sym typeface="Josefin Sans"/>
              </a:rPr>
              <a:t> :</a:t>
            </a:r>
            <a:endParaRPr b="1" sz="1100">
              <a:solidFill>
                <a:schemeClr val="dk1"/>
              </a:solidFill>
              <a:highlight>
                <a:schemeClr val="lt1"/>
              </a:highlight>
              <a:latin typeface="Josefin Sans"/>
              <a:ea typeface="Josefin Sans"/>
              <a:cs typeface="Josefin Sans"/>
              <a:sym typeface="Josefin Sans"/>
            </a:endParaRPr>
          </a:p>
          <a:p>
            <a:pPr indent="0" lvl="0" marL="0" rtl="0" algn="l">
              <a:lnSpc>
                <a:spcPct val="115000"/>
              </a:lnSpc>
              <a:spcBef>
                <a:spcPts val="2100"/>
              </a:spcBef>
              <a:spcAft>
                <a:spcPts val="0"/>
              </a:spcAft>
              <a:buNone/>
            </a:pPr>
            <a:r>
              <a:rPr lang="en-GB" sz="1100">
                <a:solidFill>
                  <a:schemeClr val="dk1"/>
                </a:solidFill>
                <a:latin typeface="Josefin Sans"/>
                <a:ea typeface="Josefin Sans"/>
                <a:cs typeface="Josefin Sans"/>
                <a:sym typeface="Josefin Sans"/>
              </a:rPr>
              <a:t>1. </a:t>
            </a:r>
            <a:r>
              <a:rPr lang="en-GB" sz="1100">
                <a:solidFill>
                  <a:schemeClr val="dk1"/>
                </a:solidFill>
                <a:latin typeface="Josefin Sans"/>
                <a:ea typeface="Josefin Sans"/>
                <a:cs typeface="Josefin Sans"/>
                <a:sym typeface="Josefin Sans"/>
              </a:rPr>
              <a:t>Linear degradation: Travel time increases ~0.5% per 100 ped/hr up to 800 ped/hr</a:t>
            </a:r>
            <a:endParaRPr sz="1100">
              <a:solidFill>
                <a:schemeClr val="dk1"/>
              </a:solidFill>
              <a:latin typeface="Josefin Sans"/>
              <a:ea typeface="Josefin Sans"/>
              <a:cs typeface="Josefin Sans"/>
              <a:sym typeface="Josefin Sans"/>
            </a:endParaRPr>
          </a:p>
          <a:p>
            <a:pPr indent="0" lvl="0" marL="0" rtl="0" algn="l">
              <a:lnSpc>
                <a:spcPct val="115000"/>
              </a:lnSpc>
              <a:spcBef>
                <a:spcPts val="2100"/>
              </a:spcBef>
              <a:spcAft>
                <a:spcPts val="2100"/>
              </a:spcAft>
              <a:buNone/>
            </a:pPr>
            <a:r>
              <a:rPr lang="en-GB" sz="1100">
                <a:solidFill>
                  <a:schemeClr val="dk1"/>
                </a:solidFill>
                <a:latin typeface="Josefin Sans"/>
                <a:ea typeface="Josefin Sans"/>
                <a:cs typeface="Josefin Sans"/>
                <a:sym typeface="Josefin Sans"/>
              </a:rPr>
              <a:t>2. Exponential degradation: Beyond 800 ped/hr, travel time rises ~1.2% per 100 ped/hr</a:t>
            </a:r>
            <a:endParaRPr sz="1100">
              <a:solidFill>
                <a:srgbClr val="222222"/>
              </a:solidFill>
              <a:highlight>
                <a:srgbClr val="F3F3F3"/>
              </a:highlight>
              <a:latin typeface="Josefin Sans"/>
              <a:ea typeface="Josefin Sans"/>
              <a:cs typeface="Josefin Sans"/>
              <a:sym typeface="Josefin Sans"/>
            </a:endParaRPr>
          </a:p>
        </p:txBody>
      </p:sp>
      <p:sp>
        <p:nvSpPr>
          <p:cNvPr id="521" name="Google Shape;521;p52"/>
          <p:cNvSpPr txBox="1"/>
          <p:nvPr/>
        </p:nvSpPr>
        <p:spPr>
          <a:xfrm>
            <a:off x="3896675" y="3212850"/>
            <a:ext cx="4719300" cy="14232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1500"/>
              </a:spcBef>
              <a:spcAft>
                <a:spcPts val="0"/>
              </a:spcAft>
              <a:buNone/>
            </a:pPr>
            <a:r>
              <a:rPr b="1" lang="en-GB" sz="1100">
                <a:solidFill>
                  <a:schemeClr val="dk1"/>
                </a:solidFill>
                <a:highlight>
                  <a:schemeClr val="lt1"/>
                </a:highlight>
                <a:latin typeface="Josefin Sans"/>
                <a:ea typeface="Josefin Sans"/>
                <a:cs typeface="Josefin Sans"/>
                <a:sym typeface="Josefin Sans"/>
              </a:rPr>
              <a:t>Spatial Impact</a:t>
            </a:r>
            <a:r>
              <a:rPr b="1" lang="en-GB" sz="1100">
                <a:solidFill>
                  <a:schemeClr val="dk1"/>
                </a:solidFill>
                <a:highlight>
                  <a:schemeClr val="lt1"/>
                </a:highlight>
                <a:latin typeface="Josefin Sans"/>
                <a:ea typeface="Josefin Sans"/>
                <a:cs typeface="Josefin Sans"/>
                <a:sym typeface="Josefin Sans"/>
              </a:rPr>
              <a:t> :</a:t>
            </a:r>
            <a:endParaRPr b="1" sz="1100">
              <a:solidFill>
                <a:schemeClr val="dk1"/>
              </a:solidFill>
              <a:highlight>
                <a:schemeClr val="lt1"/>
              </a:highlight>
              <a:latin typeface="Josefin Sans"/>
              <a:ea typeface="Josefin Sans"/>
              <a:cs typeface="Josefin Sans"/>
              <a:sym typeface="Josefin Sans"/>
            </a:endParaRPr>
          </a:p>
          <a:p>
            <a:pPr indent="0" lvl="0" marL="0" rtl="0" algn="l">
              <a:lnSpc>
                <a:spcPct val="115000"/>
              </a:lnSpc>
              <a:spcBef>
                <a:spcPts val="2100"/>
              </a:spcBef>
              <a:spcAft>
                <a:spcPts val="0"/>
              </a:spcAft>
              <a:buNone/>
            </a:pPr>
            <a:r>
              <a:rPr lang="en-GB" sz="1100">
                <a:solidFill>
                  <a:schemeClr val="dk1"/>
                </a:solidFill>
                <a:latin typeface="Josefin Sans"/>
                <a:ea typeface="Josefin Sans"/>
                <a:cs typeface="Josefin Sans"/>
                <a:sym typeface="Josefin Sans"/>
              </a:rPr>
              <a:t>1. </a:t>
            </a:r>
            <a:r>
              <a:rPr lang="en-GB" sz="1100">
                <a:solidFill>
                  <a:schemeClr val="dk1"/>
                </a:solidFill>
                <a:latin typeface="Josefin Sans"/>
                <a:ea typeface="Josefin Sans"/>
                <a:cs typeface="Josefin Sans"/>
                <a:sym typeface="Josefin Sans"/>
              </a:rPr>
              <a:t>Mid-block crossings cause 3× more delays than intersections</a:t>
            </a:r>
            <a:endParaRPr sz="1100">
              <a:solidFill>
                <a:schemeClr val="dk1"/>
              </a:solidFill>
              <a:latin typeface="Josefin Sans"/>
              <a:ea typeface="Josefin Sans"/>
              <a:cs typeface="Josefin Sans"/>
              <a:sym typeface="Josefin Sans"/>
            </a:endParaRPr>
          </a:p>
          <a:p>
            <a:pPr indent="0" lvl="0" marL="0" rtl="0" algn="l">
              <a:lnSpc>
                <a:spcPct val="115000"/>
              </a:lnSpc>
              <a:spcBef>
                <a:spcPts val="2100"/>
              </a:spcBef>
              <a:spcAft>
                <a:spcPts val="1500"/>
              </a:spcAft>
              <a:buNone/>
            </a:pPr>
            <a:r>
              <a:rPr lang="en-GB" sz="1100">
                <a:solidFill>
                  <a:schemeClr val="dk1"/>
                </a:solidFill>
                <a:latin typeface="Josefin Sans"/>
                <a:ea typeface="Josefin Sans"/>
                <a:cs typeface="Josefin Sans"/>
                <a:sym typeface="Josefin Sans"/>
              </a:rPr>
              <a:t>2. 70% of conflicts occur within 50m of intersections, even without formal crossings</a:t>
            </a:r>
            <a:endParaRPr sz="1100">
              <a:solidFill>
                <a:schemeClr val="dk1"/>
              </a:solidFill>
              <a:latin typeface="Josefin Sans"/>
              <a:ea typeface="Josefin Sans"/>
              <a:cs typeface="Josefin Sans"/>
              <a:sym typeface="Josefin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3"/>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Unsafe Situation</a:t>
            </a:r>
            <a:r>
              <a:rPr b="1" lang="en-GB">
                <a:solidFill>
                  <a:schemeClr val="lt1"/>
                </a:solidFill>
                <a:highlight>
                  <a:schemeClr val="accent1"/>
                </a:highlight>
                <a:latin typeface="Josefin Sans"/>
                <a:ea typeface="Josefin Sans"/>
                <a:cs typeface="Josefin Sans"/>
                <a:sym typeface="Josefin Sans"/>
              </a:rPr>
              <a:t>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527" name="Google Shape;527;p53"/>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Key setup parameters</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528" name="Google Shape;528;p53"/>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lt1"/>
                </a:solidFill>
                <a:latin typeface="Josefin Sans"/>
                <a:ea typeface="Josefin Sans"/>
                <a:cs typeface="Josefin Sans"/>
                <a:sym typeface="Josefin Sans"/>
              </a:rPr>
              <a:t>Pedestrian and vehicle behaviour for analyzing unsafe situation</a:t>
            </a:r>
            <a:r>
              <a:rPr lang="en-GB" sz="1100">
                <a:solidFill>
                  <a:srgbClr val="FFFFFF"/>
                </a:solidFill>
                <a:latin typeface="Josefin Sans"/>
                <a:ea typeface="Josefin Sans"/>
                <a:cs typeface="Josefin Sans"/>
                <a:sym typeface="Josefin Sans"/>
              </a:rPr>
              <a:t>  </a:t>
            </a:r>
            <a:endParaRPr sz="1100">
              <a:solidFill>
                <a:srgbClr val="FFFFFF"/>
              </a:solidFill>
              <a:latin typeface="Josefin Sans"/>
              <a:ea typeface="Josefin Sans"/>
              <a:cs typeface="Josefin Sans"/>
              <a:sym typeface="Josefin Sans"/>
            </a:endParaRPr>
          </a:p>
        </p:txBody>
      </p:sp>
      <p:pic>
        <p:nvPicPr>
          <p:cNvPr id="529" name="Google Shape;529;p53"/>
          <p:cNvPicPr preferRelativeResize="0"/>
          <p:nvPr/>
        </p:nvPicPr>
        <p:blipFill>
          <a:blip r:embed="rId3">
            <a:alphaModFix/>
          </a:blip>
          <a:stretch>
            <a:fillRect/>
          </a:stretch>
        </p:blipFill>
        <p:spPr>
          <a:xfrm>
            <a:off x="52150" y="-5850"/>
            <a:ext cx="407152" cy="457200"/>
          </a:xfrm>
          <a:prstGeom prst="rect">
            <a:avLst/>
          </a:prstGeom>
          <a:noFill/>
          <a:ln>
            <a:noFill/>
          </a:ln>
        </p:spPr>
      </p:pic>
      <p:sp>
        <p:nvSpPr>
          <p:cNvPr id="530" name="Google Shape;530;p53"/>
          <p:cNvSpPr txBox="1"/>
          <p:nvPr/>
        </p:nvSpPr>
        <p:spPr>
          <a:xfrm>
            <a:off x="1303925" y="1873800"/>
            <a:ext cx="2467200" cy="3456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rgbClr val="FFFFFF"/>
                </a:solidFill>
                <a:latin typeface="Josefin Sans"/>
                <a:ea typeface="Josefin Sans"/>
                <a:cs typeface="Josefin Sans"/>
                <a:sym typeface="Josefin Sans"/>
              </a:rPr>
              <a:t>Pedestrian Behaviour</a:t>
            </a:r>
            <a:endParaRPr b="1" sz="1300">
              <a:solidFill>
                <a:srgbClr val="FFFFFF"/>
              </a:solidFill>
              <a:latin typeface="Josefin Sans"/>
              <a:ea typeface="Josefin Sans"/>
              <a:cs typeface="Josefin Sans"/>
              <a:sym typeface="Josefin Sans"/>
            </a:endParaRPr>
          </a:p>
        </p:txBody>
      </p:sp>
      <p:sp>
        <p:nvSpPr>
          <p:cNvPr id="531" name="Google Shape;531;p53"/>
          <p:cNvSpPr txBox="1"/>
          <p:nvPr/>
        </p:nvSpPr>
        <p:spPr>
          <a:xfrm>
            <a:off x="5372865" y="1873800"/>
            <a:ext cx="2467200" cy="3456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rgbClr val="FFFFFF"/>
                </a:solidFill>
                <a:latin typeface="Josefin Sans"/>
                <a:ea typeface="Josefin Sans"/>
                <a:cs typeface="Josefin Sans"/>
                <a:sym typeface="Josefin Sans"/>
              </a:rPr>
              <a:t>Vehicle Behaviour</a:t>
            </a:r>
            <a:endParaRPr b="1" sz="1300">
              <a:solidFill>
                <a:srgbClr val="FFFFFF"/>
              </a:solidFill>
              <a:latin typeface="Josefin Sans"/>
              <a:ea typeface="Josefin Sans"/>
              <a:cs typeface="Josefin Sans"/>
              <a:sym typeface="Josefin Sans"/>
            </a:endParaRPr>
          </a:p>
        </p:txBody>
      </p:sp>
      <p:sp>
        <p:nvSpPr>
          <p:cNvPr id="532" name="Google Shape;532;p53"/>
          <p:cNvSpPr txBox="1"/>
          <p:nvPr/>
        </p:nvSpPr>
        <p:spPr>
          <a:xfrm>
            <a:off x="999863" y="2428788"/>
            <a:ext cx="3075300" cy="21597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lnSpc>
                <a:spcPct val="115000"/>
              </a:lnSpc>
              <a:spcBef>
                <a:spcPts val="210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Crossing frequency: 2–4 crossings/minute per pedestrian</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Risk tolerance: 20–30% chance of crossing without checking traffic</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Speed variation: 0.8–1.5 m/s (elderly to hurried pedestrians)</a:t>
            </a:r>
            <a:endParaRPr sz="1200">
              <a:solidFill>
                <a:schemeClr val="dk1"/>
              </a:solidFill>
              <a:latin typeface="Josefin Sans"/>
              <a:ea typeface="Josefin Sans"/>
              <a:cs typeface="Josefin Sans"/>
              <a:sym typeface="Josefin Sans"/>
            </a:endParaRPr>
          </a:p>
        </p:txBody>
      </p:sp>
      <p:sp>
        <p:nvSpPr>
          <p:cNvPr id="533" name="Google Shape;533;p53"/>
          <p:cNvSpPr txBox="1"/>
          <p:nvPr/>
        </p:nvSpPr>
        <p:spPr>
          <a:xfrm>
            <a:off x="5068831" y="2428788"/>
            <a:ext cx="3075300" cy="21597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lnSpc>
                <a:spcPct val="115000"/>
              </a:lnSpc>
              <a:spcBef>
                <a:spcPts val="150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Reaction time: 1.0–1.5 seconds (human driver delay)</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Emergency deceleration: 4.0–6.0 m/s² (harsh braking scenarios)</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Yielding compliance: 60–80% of drivers (varies by culture)</a:t>
            </a:r>
            <a:endParaRPr sz="1200">
              <a:solidFill>
                <a:schemeClr val="dk1"/>
              </a:solidFill>
              <a:latin typeface="Josefin Sans"/>
              <a:ea typeface="Josefin Sans"/>
              <a:cs typeface="Josefin Sans"/>
              <a:sym typeface="Josefin Sans"/>
            </a:endParaRPr>
          </a:p>
        </p:txBody>
      </p:sp>
      <p:sp>
        <p:nvSpPr>
          <p:cNvPr id="534" name="Google Shape;534;p53"/>
          <p:cNvSpPr txBox="1"/>
          <p:nvPr/>
        </p:nvSpPr>
        <p:spPr>
          <a:xfrm>
            <a:off x="999600" y="947750"/>
            <a:ext cx="7144500" cy="6891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GB" sz="1200">
                <a:solidFill>
                  <a:schemeClr val="dk1"/>
                </a:solidFill>
                <a:latin typeface="Josefin Sans"/>
                <a:ea typeface="Josefin Sans"/>
                <a:cs typeface="Josefin Sans"/>
                <a:sym typeface="Josefin Sans"/>
              </a:rPr>
              <a:t>SUMO simulations can quantitatively assess unsafe vehicle-pedestrian interactions caused by arbitrary crossings.</a:t>
            </a:r>
            <a:endParaRPr b="1" sz="1000">
              <a:solidFill>
                <a:schemeClr val="dk1"/>
              </a:solidFill>
              <a:latin typeface="Josefin Sans"/>
              <a:ea typeface="Josefin Sans"/>
              <a:cs typeface="Josefin Sans"/>
              <a:sym typeface="Josefin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4"/>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Unsafe Situation</a:t>
            </a:r>
            <a:r>
              <a:rPr b="1" lang="en-GB">
                <a:solidFill>
                  <a:schemeClr val="lt1"/>
                </a:solidFill>
                <a:highlight>
                  <a:schemeClr val="accent1"/>
                </a:highlight>
                <a:latin typeface="Josefin Sans"/>
                <a:ea typeface="Josefin Sans"/>
                <a:cs typeface="Josefin Sans"/>
                <a:sym typeface="Josefin Sans"/>
              </a:rPr>
              <a:t>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540" name="Google Shape;540;p54"/>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Metrics to look out for analyzing unsafe situation</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541" name="Google Shape;541;p54"/>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lt1"/>
                </a:solidFill>
                <a:latin typeface="Josefin Sans"/>
                <a:ea typeface="Josefin Sans"/>
                <a:cs typeface="Josefin Sans"/>
                <a:sym typeface="Josefin Sans"/>
              </a:rPr>
              <a:t>Necessary threshold discussion to monitor unsafe situation</a:t>
            </a:r>
            <a:r>
              <a:rPr lang="en-GB" sz="1100">
                <a:solidFill>
                  <a:srgbClr val="FFFFFF"/>
                </a:solidFill>
                <a:latin typeface="Josefin Sans"/>
                <a:ea typeface="Josefin Sans"/>
                <a:cs typeface="Josefin Sans"/>
                <a:sym typeface="Josefin Sans"/>
              </a:rPr>
              <a:t>  </a:t>
            </a:r>
            <a:endParaRPr sz="1100">
              <a:solidFill>
                <a:srgbClr val="FFFFFF"/>
              </a:solidFill>
              <a:latin typeface="Josefin Sans"/>
              <a:ea typeface="Josefin Sans"/>
              <a:cs typeface="Josefin Sans"/>
              <a:sym typeface="Josefin Sans"/>
            </a:endParaRPr>
          </a:p>
        </p:txBody>
      </p:sp>
      <p:pic>
        <p:nvPicPr>
          <p:cNvPr id="542" name="Google Shape;542;p54"/>
          <p:cNvPicPr preferRelativeResize="0"/>
          <p:nvPr/>
        </p:nvPicPr>
        <p:blipFill>
          <a:blip r:embed="rId3">
            <a:alphaModFix/>
          </a:blip>
          <a:stretch>
            <a:fillRect/>
          </a:stretch>
        </p:blipFill>
        <p:spPr>
          <a:xfrm>
            <a:off x="52150" y="-5850"/>
            <a:ext cx="407152" cy="457200"/>
          </a:xfrm>
          <a:prstGeom prst="rect">
            <a:avLst/>
          </a:prstGeom>
          <a:noFill/>
          <a:ln>
            <a:noFill/>
          </a:ln>
        </p:spPr>
      </p:pic>
      <p:graphicFrame>
        <p:nvGraphicFramePr>
          <p:cNvPr id="543" name="Google Shape;543;p54"/>
          <p:cNvGraphicFramePr/>
          <p:nvPr/>
        </p:nvGraphicFramePr>
        <p:xfrm>
          <a:off x="493500" y="1806775"/>
          <a:ext cx="3000000" cy="3000000"/>
        </p:xfrm>
        <a:graphic>
          <a:graphicData uri="http://schemas.openxmlformats.org/drawingml/2006/table">
            <a:tbl>
              <a:tblPr>
                <a:noFill/>
                <a:tableStyleId>{D45A3726-6D87-4FA0-885B-04208B5A4D76}</a:tableStyleId>
              </a:tblPr>
              <a:tblGrid>
                <a:gridCol w="2718900"/>
                <a:gridCol w="2852400"/>
                <a:gridCol w="2585400"/>
              </a:tblGrid>
              <a:tr h="483675">
                <a:tc>
                  <a:txBody>
                    <a:bodyPr/>
                    <a:lstStyle/>
                    <a:p>
                      <a:pPr indent="0" lvl="0" marL="0" rtl="0" algn="ctr">
                        <a:lnSpc>
                          <a:spcPct val="171429"/>
                        </a:lnSpc>
                        <a:spcBef>
                          <a:spcPts val="1100"/>
                        </a:spcBef>
                        <a:spcAft>
                          <a:spcPts val="1100"/>
                        </a:spcAft>
                        <a:buNone/>
                      </a:pPr>
                      <a:r>
                        <a:rPr b="1" lang="en-GB" sz="1100">
                          <a:latin typeface="Josefin Sans"/>
                          <a:ea typeface="Josefin Sans"/>
                          <a:cs typeface="Josefin Sans"/>
                          <a:sym typeface="Josefin Sans"/>
                        </a:rPr>
                        <a:t>Metric</a:t>
                      </a:r>
                      <a:endParaRPr b="1" sz="1100">
                        <a:latin typeface="Josefin Sans"/>
                        <a:ea typeface="Josefin Sans"/>
                        <a:cs typeface="Josefin Sans"/>
                        <a:sym typeface="Josefin Sans"/>
                      </a:endParaRPr>
                    </a:p>
                  </a:txBody>
                  <a:tcPr marT="91425" marB="91425" marR="91425" marL="91425">
                    <a:lnL cap="flat" cmpd="sng" w="9525">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1"/>
                    </a:solidFill>
                  </a:tcPr>
                </a:tc>
                <a:tc>
                  <a:txBody>
                    <a:bodyPr/>
                    <a:lstStyle/>
                    <a:p>
                      <a:pPr indent="0" lvl="0" marL="0" rtl="0" algn="ctr">
                        <a:lnSpc>
                          <a:spcPct val="171429"/>
                        </a:lnSpc>
                        <a:spcBef>
                          <a:spcPts val="1100"/>
                        </a:spcBef>
                        <a:spcAft>
                          <a:spcPts val="1100"/>
                        </a:spcAft>
                        <a:buNone/>
                      </a:pPr>
                      <a:r>
                        <a:rPr b="1" lang="en-GB" sz="1100">
                          <a:latin typeface="Josefin Sans"/>
                          <a:ea typeface="Josefin Sans"/>
                          <a:cs typeface="Josefin Sans"/>
                          <a:sym typeface="Josefin Sans"/>
                        </a:rPr>
                        <a:t>Definition</a:t>
                      </a:r>
                      <a:endParaRPr b="1" sz="1100">
                        <a:latin typeface="Josefin Sans"/>
                        <a:ea typeface="Josefin Sans"/>
                        <a:cs typeface="Josefin Sans"/>
                        <a:sym typeface="Josefin Sans"/>
                      </a:endParaRPr>
                    </a:p>
                  </a:txBody>
                  <a:tcPr marT="91425" marB="91425" marR="91425" marL="91425">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1"/>
                    </a:solidFill>
                  </a:tcPr>
                </a:tc>
                <a:tc>
                  <a:txBody>
                    <a:bodyPr/>
                    <a:lstStyle/>
                    <a:p>
                      <a:pPr indent="0" lvl="0" marL="0" rtl="0" algn="ctr">
                        <a:lnSpc>
                          <a:spcPct val="171429"/>
                        </a:lnSpc>
                        <a:spcBef>
                          <a:spcPts val="1100"/>
                        </a:spcBef>
                        <a:spcAft>
                          <a:spcPts val="1100"/>
                        </a:spcAft>
                        <a:buNone/>
                      </a:pPr>
                      <a:r>
                        <a:rPr b="1" lang="en-GB" sz="1100">
                          <a:latin typeface="Josefin Sans"/>
                          <a:ea typeface="Josefin Sans"/>
                          <a:cs typeface="Josefin Sans"/>
                          <a:sym typeface="Josefin Sans"/>
                        </a:rPr>
                        <a:t>Thresholds</a:t>
                      </a:r>
                      <a:endParaRPr b="1" sz="1100">
                        <a:latin typeface="Josefin Sans"/>
                        <a:ea typeface="Josefin Sans"/>
                        <a:cs typeface="Josefin Sans"/>
                        <a:sym typeface="Josefin Sans"/>
                      </a:endParaRPr>
                    </a:p>
                  </a:txBody>
                  <a:tcPr marT="91425" marB="91425" marR="91425" marL="91425">
                    <a:lnL cap="flat" cmpd="sng">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1"/>
                    </a:solidFill>
                  </a:tcPr>
                </a:tc>
              </a:tr>
              <a:tr h="483675">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Near-miss rate</a:t>
                      </a:r>
                      <a:endParaRPr sz="11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Vehicle-pedestrian distance &lt;1.0m</a:t>
                      </a:r>
                      <a:endParaRPr sz="11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&gt;15 events/hour</a:t>
                      </a:r>
                      <a:endParaRPr sz="11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3675">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Emergency braking</a:t>
                      </a:r>
                      <a:endParaRPr sz="11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Deceleration &gt;4 m/s²</a:t>
                      </a:r>
                      <a:endParaRPr sz="11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&gt;10% of vehicles</a:t>
                      </a:r>
                      <a:endParaRPr sz="11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3675">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Time-to-Collision (TTC)</a:t>
                      </a:r>
                      <a:endParaRPr sz="11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Time until collision if speeds continue</a:t>
                      </a:r>
                      <a:endParaRPr sz="11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&lt;1.5 seconds</a:t>
                      </a:r>
                      <a:endParaRPr sz="11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3675">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Intrusion duration</a:t>
                      </a:r>
                      <a:endParaRPr sz="11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Pedestrian on road per crossing</a:t>
                      </a:r>
                      <a:endParaRPr sz="11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100">
                          <a:latin typeface="Josefin Sans"/>
                          <a:ea typeface="Josefin Sans"/>
                          <a:cs typeface="Josefin Sans"/>
                          <a:sym typeface="Josefin Sans"/>
                        </a:rPr>
                        <a:t>&gt;5 seconds</a:t>
                      </a:r>
                      <a:endParaRPr sz="11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544" name="Google Shape;544;p54"/>
          <p:cNvSpPr txBox="1"/>
          <p:nvPr/>
        </p:nvSpPr>
        <p:spPr>
          <a:xfrm>
            <a:off x="2880450" y="1113603"/>
            <a:ext cx="3382800" cy="345600"/>
          </a:xfrm>
          <a:prstGeom prst="rect">
            <a:avLst/>
          </a:prstGeom>
          <a:solidFill>
            <a:srgbClr val="0216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rgbClr val="FFFFFF"/>
                </a:solidFill>
                <a:latin typeface="Josefin Sans"/>
                <a:ea typeface="Josefin Sans"/>
                <a:cs typeface="Josefin Sans"/>
                <a:sym typeface="Josefin Sans"/>
              </a:rPr>
              <a:t>Metrics to monitor</a:t>
            </a:r>
            <a:endParaRPr b="1" sz="1300">
              <a:solidFill>
                <a:srgbClr val="FFFFFF"/>
              </a:solidFill>
              <a:latin typeface="Josefin Sans"/>
              <a:ea typeface="Josefin Sans"/>
              <a:cs typeface="Josefin Sans"/>
              <a:sym typeface="Josefin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5"/>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Unsafe Situation</a:t>
            </a:r>
            <a:r>
              <a:rPr b="1" lang="en-GB">
                <a:solidFill>
                  <a:schemeClr val="lt1"/>
                </a:solidFill>
                <a:highlight>
                  <a:schemeClr val="accent1"/>
                </a:highlight>
                <a:latin typeface="Josefin Sans"/>
                <a:ea typeface="Josefin Sans"/>
                <a:cs typeface="Josefin Sans"/>
                <a:sym typeface="Josefin Sans"/>
              </a:rPr>
              <a:t>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550" name="Google Shape;550;p55"/>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Quantitative Analysis</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551" name="Google Shape;551;p55"/>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lt1"/>
                </a:solidFill>
                <a:latin typeface="Josefin Sans"/>
                <a:ea typeface="Josefin Sans"/>
                <a:cs typeface="Josefin Sans"/>
                <a:sym typeface="Josefin Sans"/>
              </a:rPr>
              <a:t>A quantitative analysis of unsafe situation</a:t>
            </a:r>
            <a:r>
              <a:rPr lang="en-GB" sz="1100">
                <a:solidFill>
                  <a:srgbClr val="FFFFFF"/>
                </a:solidFill>
                <a:latin typeface="Josefin Sans"/>
                <a:ea typeface="Josefin Sans"/>
                <a:cs typeface="Josefin Sans"/>
                <a:sym typeface="Josefin Sans"/>
              </a:rPr>
              <a:t>  </a:t>
            </a:r>
            <a:endParaRPr sz="1100">
              <a:solidFill>
                <a:srgbClr val="FFFFFF"/>
              </a:solidFill>
              <a:latin typeface="Josefin Sans"/>
              <a:ea typeface="Josefin Sans"/>
              <a:cs typeface="Josefin Sans"/>
              <a:sym typeface="Josefin Sans"/>
            </a:endParaRPr>
          </a:p>
        </p:txBody>
      </p:sp>
      <p:pic>
        <p:nvPicPr>
          <p:cNvPr id="552" name="Google Shape;552;p55"/>
          <p:cNvPicPr preferRelativeResize="0"/>
          <p:nvPr/>
        </p:nvPicPr>
        <p:blipFill>
          <a:blip r:embed="rId3">
            <a:alphaModFix/>
          </a:blip>
          <a:stretch>
            <a:fillRect/>
          </a:stretch>
        </p:blipFill>
        <p:spPr>
          <a:xfrm>
            <a:off x="52150" y="-5850"/>
            <a:ext cx="407152" cy="457200"/>
          </a:xfrm>
          <a:prstGeom prst="rect">
            <a:avLst/>
          </a:prstGeom>
          <a:noFill/>
          <a:ln>
            <a:noFill/>
          </a:ln>
        </p:spPr>
      </p:pic>
      <p:sp>
        <p:nvSpPr>
          <p:cNvPr id="553" name="Google Shape;553;p55"/>
          <p:cNvSpPr txBox="1"/>
          <p:nvPr/>
        </p:nvSpPr>
        <p:spPr>
          <a:xfrm>
            <a:off x="592350" y="947750"/>
            <a:ext cx="7730100" cy="3456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20000"/>
              </a:lnSpc>
              <a:spcBef>
                <a:spcPts val="0"/>
              </a:spcBef>
              <a:spcAft>
                <a:spcPts val="0"/>
              </a:spcAft>
              <a:buClr>
                <a:schemeClr val="dk1"/>
              </a:buClr>
              <a:buSzPts val="1100"/>
              <a:buFont typeface="Arial"/>
              <a:buNone/>
            </a:pPr>
            <a:r>
              <a:rPr lang="en-GB" sz="1200">
                <a:solidFill>
                  <a:schemeClr val="dk1"/>
                </a:solidFill>
                <a:latin typeface="Josefin Sans"/>
                <a:ea typeface="Josefin Sans"/>
                <a:cs typeface="Josefin Sans"/>
                <a:sym typeface="Josefin Sans"/>
              </a:rPr>
              <a:t>The conflict probability formula can be modeled as</a:t>
            </a:r>
            <a:endParaRPr b="1" sz="1000">
              <a:solidFill>
                <a:schemeClr val="dk1"/>
              </a:solidFill>
              <a:latin typeface="Josefin Sans"/>
              <a:ea typeface="Josefin Sans"/>
              <a:cs typeface="Josefin Sans"/>
              <a:sym typeface="Josefin Sans"/>
            </a:endParaRPr>
          </a:p>
        </p:txBody>
      </p:sp>
      <p:graphicFrame>
        <p:nvGraphicFramePr>
          <p:cNvPr id="554" name="Google Shape;554;p55"/>
          <p:cNvGraphicFramePr/>
          <p:nvPr/>
        </p:nvGraphicFramePr>
        <p:xfrm>
          <a:off x="952350" y="2139263"/>
          <a:ext cx="3000000" cy="3000000"/>
        </p:xfrm>
        <a:graphic>
          <a:graphicData uri="http://schemas.openxmlformats.org/drawingml/2006/table">
            <a:tbl>
              <a:tblPr>
                <a:noFill/>
                <a:tableStyleId>{D45A3726-6D87-4FA0-885B-04208B5A4D76}</a:tableStyleId>
              </a:tblPr>
              <a:tblGrid>
                <a:gridCol w="1761425"/>
                <a:gridCol w="4012325"/>
                <a:gridCol w="1465250"/>
              </a:tblGrid>
              <a:tr h="381000">
                <a:tc>
                  <a:txBody>
                    <a:bodyPr/>
                    <a:lstStyle/>
                    <a:p>
                      <a:pPr indent="0" lvl="0" marL="0" rtl="0" algn="ctr">
                        <a:lnSpc>
                          <a:spcPct val="171429"/>
                        </a:lnSpc>
                        <a:spcBef>
                          <a:spcPts val="1100"/>
                        </a:spcBef>
                        <a:spcAft>
                          <a:spcPts val="1100"/>
                        </a:spcAft>
                        <a:buNone/>
                      </a:pPr>
                      <a:r>
                        <a:rPr b="1" lang="en-GB" sz="950">
                          <a:latin typeface="Josefin Sans"/>
                          <a:ea typeface="Josefin Sans"/>
                          <a:cs typeface="Josefin Sans"/>
                          <a:sym typeface="Josefin Sans"/>
                        </a:rPr>
                        <a:t>Term</a:t>
                      </a:r>
                      <a:endParaRPr b="1" sz="950">
                        <a:latin typeface="Josefin Sans"/>
                        <a:ea typeface="Josefin Sans"/>
                        <a:cs typeface="Josefin Sans"/>
                        <a:sym typeface="Josefi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1"/>
                    </a:solidFill>
                  </a:tcPr>
                </a:tc>
                <a:tc>
                  <a:txBody>
                    <a:bodyPr/>
                    <a:lstStyle/>
                    <a:p>
                      <a:pPr indent="0" lvl="0" marL="0" rtl="0" algn="ctr">
                        <a:lnSpc>
                          <a:spcPct val="171429"/>
                        </a:lnSpc>
                        <a:spcBef>
                          <a:spcPts val="1100"/>
                        </a:spcBef>
                        <a:spcAft>
                          <a:spcPts val="1100"/>
                        </a:spcAft>
                        <a:buNone/>
                      </a:pPr>
                      <a:r>
                        <a:rPr b="1" lang="en-GB" sz="950">
                          <a:latin typeface="Josefin Sans"/>
                          <a:ea typeface="Josefin Sans"/>
                          <a:cs typeface="Josefin Sans"/>
                          <a:sym typeface="Josefin Sans"/>
                        </a:rPr>
                        <a:t>Description</a:t>
                      </a:r>
                      <a:endParaRPr b="1" sz="950">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solidFill>
                      <a:srgbClr val="4285F4"/>
                    </a:solidFill>
                  </a:tcPr>
                </a:tc>
                <a:tc>
                  <a:txBody>
                    <a:bodyPr/>
                    <a:lstStyle/>
                    <a:p>
                      <a:pPr indent="0" lvl="0" marL="0" rtl="0" algn="ctr">
                        <a:lnSpc>
                          <a:spcPct val="171429"/>
                        </a:lnSpc>
                        <a:spcBef>
                          <a:spcPts val="1100"/>
                        </a:spcBef>
                        <a:spcAft>
                          <a:spcPts val="1100"/>
                        </a:spcAft>
                        <a:buNone/>
                      </a:pPr>
                      <a:r>
                        <a:rPr b="1" lang="en-GB" sz="950">
                          <a:latin typeface="Josefin Sans"/>
                          <a:ea typeface="Josefin Sans"/>
                          <a:cs typeface="Josefin Sans"/>
                          <a:sym typeface="Josefin Sans"/>
                        </a:rPr>
                        <a:t>Example Values</a:t>
                      </a:r>
                      <a:endParaRPr b="1" sz="950">
                        <a:latin typeface="Josefin Sans"/>
                        <a:ea typeface="Josefin Sans"/>
                        <a:cs typeface="Josefin Sans"/>
                        <a:sym typeface="Josefin Sa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1"/>
                    </a:solidFill>
                  </a:tcPr>
                </a:tc>
              </a:tr>
              <a:tr h="381000">
                <a:tc>
                  <a:txBody>
                    <a:bodyPr/>
                    <a:lstStyle/>
                    <a:p>
                      <a:pPr indent="0" lvl="0" marL="0" rtl="0" algn="l">
                        <a:lnSpc>
                          <a:spcPct val="171429"/>
                        </a:lnSpc>
                        <a:spcBef>
                          <a:spcPts val="1100"/>
                        </a:spcBef>
                        <a:spcAft>
                          <a:spcPts val="1100"/>
                        </a:spcAft>
                        <a:buNone/>
                      </a:pPr>
                      <a:r>
                        <a:rPr lang="en-GB" sz="1000">
                          <a:latin typeface="Josefin Sans"/>
                          <a:ea typeface="Josefin Sans"/>
                          <a:cs typeface="Josefin Sans"/>
                          <a:sym typeface="Josefin Sans"/>
                        </a:rPr>
                        <a:t>0.12</a:t>
                      </a:r>
                      <a:endParaRPr sz="10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000">
                          <a:latin typeface="Josefin Sans"/>
                          <a:ea typeface="Josefin Sans"/>
                          <a:cs typeface="Josefin Sans"/>
                          <a:sym typeface="Josefin Sans"/>
                        </a:rPr>
                        <a:t>Baseline risk factor from empirical studies</a:t>
                      </a:r>
                      <a:endParaRPr sz="10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000">
                          <a:latin typeface="Josefin Sans"/>
                          <a:ea typeface="Josefin Sans"/>
                          <a:cs typeface="Josefin Sans"/>
                          <a:sym typeface="Josefin Sans"/>
                        </a:rPr>
                        <a:t>Constant</a:t>
                      </a:r>
                      <a:endParaRPr sz="10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71429"/>
                        </a:lnSpc>
                        <a:spcBef>
                          <a:spcPts val="1100"/>
                        </a:spcBef>
                        <a:spcAft>
                          <a:spcPts val="1100"/>
                        </a:spcAft>
                        <a:buNone/>
                      </a:pPr>
                      <a:r>
                        <a:rPr lang="en-GB" sz="1000">
                          <a:latin typeface="Josefin Sans"/>
                          <a:ea typeface="Josefin Sans"/>
                          <a:cs typeface="Josefin Sans"/>
                          <a:sym typeface="Josefin Sans"/>
                        </a:rPr>
                        <a:t>v_veh</a:t>
                      </a:r>
                      <a:endParaRPr sz="10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000">
                          <a:latin typeface="Josefin Sans"/>
                          <a:ea typeface="Josefin Sans"/>
                          <a:cs typeface="Josefin Sans"/>
                          <a:sym typeface="Josefin Sans"/>
                        </a:rPr>
                        <a:t>Vehicle speed (meters/second)</a:t>
                      </a:r>
                      <a:endParaRPr sz="10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000">
                          <a:latin typeface="Josefin Sans"/>
                          <a:ea typeface="Josefin Sans"/>
                          <a:cs typeface="Josefin Sans"/>
                          <a:sym typeface="Josefin Sans"/>
                        </a:rPr>
                        <a:t>13.9 m/s (50 km/h)</a:t>
                      </a:r>
                      <a:endParaRPr sz="10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71429"/>
                        </a:lnSpc>
                        <a:spcBef>
                          <a:spcPts val="1100"/>
                        </a:spcBef>
                        <a:spcAft>
                          <a:spcPts val="1100"/>
                        </a:spcAft>
                        <a:buNone/>
                      </a:pPr>
                      <a:r>
                        <a:rPr lang="en-GB" sz="1000">
                          <a:latin typeface="Josefin Sans"/>
                          <a:ea typeface="Josefin Sans"/>
                          <a:cs typeface="Josefin Sans"/>
                          <a:sym typeface="Josefin Sans"/>
                        </a:rPr>
                        <a:t>N_ped</a:t>
                      </a:r>
                      <a:endParaRPr sz="10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000">
                          <a:latin typeface="Josefin Sans"/>
                          <a:ea typeface="Josefin Sans"/>
                          <a:cs typeface="Josefin Sans"/>
                          <a:sym typeface="Josefin Sans"/>
                        </a:rPr>
                        <a:t>Pedestrian density (pedestrians/hour within 100m radius)</a:t>
                      </a:r>
                      <a:endParaRPr sz="10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000">
                          <a:latin typeface="Josefin Sans"/>
                          <a:ea typeface="Josefin Sans"/>
                          <a:cs typeface="Josefin Sans"/>
                          <a:sym typeface="Josefin Sans"/>
                        </a:rPr>
                        <a:t>800 pedestrians/hour</a:t>
                      </a:r>
                      <a:endParaRPr sz="10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71429"/>
                        </a:lnSpc>
                        <a:spcBef>
                          <a:spcPts val="1100"/>
                        </a:spcBef>
                        <a:spcAft>
                          <a:spcPts val="1100"/>
                        </a:spcAft>
                        <a:buNone/>
                      </a:pPr>
                      <a:r>
                        <a:rPr lang="en-GB" sz="1000">
                          <a:latin typeface="Josefin Sans"/>
                          <a:ea typeface="Josefin Sans"/>
                          <a:cs typeface="Josefin Sans"/>
                          <a:sym typeface="Josefin Sans"/>
                        </a:rPr>
                        <a:t>v_veh^0.8</a:t>
                      </a:r>
                      <a:endParaRPr sz="10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000">
                          <a:latin typeface="Josefin Sans"/>
                          <a:ea typeface="Josefin Sans"/>
                          <a:cs typeface="Josefin Sans"/>
                          <a:sym typeface="Josefin Sans"/>
                        </a:rPr>
                        <a:t>Non-linear speed impact (doubling speed increases risk by ~74%)</a:t>
                      </a:r>
                      <a:endParaRPr sz="10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000">
                          <a:latin typeface="Josefin Sans"/>
                          <a:ea typeface="Josefin Sans"/>
                          <a:cs typeface="Josefin Sans"/>
                          <a:sym typeface="Josefin Sans"/>
                        </a:rPr>
                        <a:t>13.9^0.8 ≈ 8.7</a:t>
                      </a:r>
                      <a:endParaRPr sz="10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71429"/>
                        </a:lnSpc>
                        <a:spcBef>
                          <a:spcPts val="1100"/>
                        </a:spcBef>
                        <a:spcAft>
                          <a:spcPts val="1100"/>
                        </a:spcAft>
                        <a:buNone/>
                      </a:pPr>
                      <a:r>
                        <a:rPr lang="en-GB" sz="1000">
                          <a:latin typeface="Josefin Sans"/>
                          <a:ea typeface="Josefin Sans"/>
                          <a:cs typeface="Josefin Sans"/>
                          <a:sym typeface="Josefin Sans"/>
                        </a:rPr>
                        <a:t>√N_ped</a:t>
                      </a:r>
                      <a:endParaRPr sz="10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000">
                          <a:latin typeface="Josefin Sans"/>
                          <a:ea typeface="Josefin Sans"/>
                          <a:cs typeface="Josefin Sans"/>
                          <a:sym typeface="Josefin Sans"/>
                        </a:rPr>
                        <a:t>Square root scaling of pedestrian density</a:t>
                      </a:r>
                      <a:endParaRPr sz="10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1000">
                          <a:latin typeface="Josefin Sans"/>
                          <a:ea typeface="Josefin Sans"/>
                          <a:cs typeface="Josefin Sans"/>
                          <a:sym typeface="Josefin Sans"/>
                        </a:rPr>
                        <a:t>√800 ≈ 28.3</a:t>
                      </a:r>
                      <a:endParaRPr sz="1000">
                        <a:latin typeface="Josefin Sans"/>
                        <a:ea typeface="Josefin Sans"/>
                        <a:cs typeface="Josefin Sans"/>
                        <a:sym typeface="Josefin Sans"/>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555" name="Google Shape;555;p55" title="Screenshot 2025-04-07 at 5.08.46 PM.png"/>
          <p:cNvPicPr preferRelativeResize="0"/>
          <p:nvPr/>
        </p:nvPicPr>
        <p:blipFill>
          <a:blip r:embed="rId4">
            <a:alphaModFix/>
          </a:blip>
          <a:stretch>
            <a:fillRect/>
          </a:stretch>
        </p:blipFill>
        <p:spPr>
          <a:xfrm>
            <a:off x="3259538" y="1487713"/>
            <a:ext cx="2395731" cy="457200"/>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6"/>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Unsafe Situation</a:t>
            </a:r>
            <a:r>
              <a:rPr b="1" lang="en-GB">
                <a:solidFill>
                  <a:schemeClr val="lt1"/>
                </a:solidFill>
                <a:highlight>
                  <a:schemeClr val="accent1"/>
                </a:highlight>
                <a:latin typeface="Josefin Sans"/>
                <a:ea typeface="Josefin Sans"/>
                <a:cs typeface="Josefin Sans"/>
                <a:sym typeface="Josefin Sans"/>
              </a:rPr>
              <a:t>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561" name="Google Shape;561;p56"/>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Observed results</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562" name="Google Shape;562;p56"/>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lt1"/>
                </a:solidFill>
                <a:latin typeface="Josefin Sans"/>
                <a:ea typeface="Josefin Sans"/>
                <a:cs typeface="Josefin Sans"/>
                <a:sym typeface="Josefin Sans"/>
              </a:rPr>
              <a:t>Results obtained after simulations and statistical analysis</a:t>
            </a:r>
            <a:r>
              <a:rPr lang="en-GB" sz="1100">
                <a:solidFill>
                  <a:srgbClr val="FFFFFF"/>
                </a:solidFill>
                <a:latin typeface="Josefin Sans"/>
                <a:ea typeface="Josefin Sans"/>
                <a:cs typeface="Josefin Sans"/>
                <a:sym typeface="Josefin Sans"/>
              </a:rPr>
              <a:t>  </a:t>
            </a:r>
            <a:endParaRPr sz="1100">
              <a:solidFill>
                <a:srgbClr val="FFFFFF"/>
              </a:solidFill>
              <a:latin typeface="Josefin Sans"/>
              <a:ea typeface="Josefin Sans"/>
              <a:cs typeface="Josefin Sans"/>
              <a:sym typeface="Josefin Sans"/>
            </a:endParaRPr>
          </a:p>
        </p:txBody>
      </p:sp>
      <p:pic>
        <p:nvPicPr>
          <p:cNvPr id="563" name="Google Shape;563;p56"/>
          <p:cNvPicPr preferRelativeResize="0"/>
          <p:nvPr/>
        </p:nvPicPr>
        <p:blipFill>
          <a:blip r:embed="rId3">
            <a:alphaModFix/>
          </a:blip>
          <a:stretch>
            <a:fillRect/>
          </a:stretch>
        </p:blipFill>
        <p:spPr>
          <a:xfrm>
            <a:off x="52150" y="-5850"/>
            <a:ext cx="407152" cy="457200"/>
          </a:xfrm>
          <a:prstGeom prst="rect">
            <a:avLst/>
          </a:prstGeom>
          <a:noFill/>
          <a:ln>
            <a:noFill/>
          </a:ln>
        </p:spPr>
      </p:pic>
      <p:sp>
        <p:nvSpPr>
          <p:cNvPr id="564" name="Google Shape;564;p56"/>
          <p:cNvSpPr txBox="1"/>
          <p:nvPr/>
        </p:nvSpPr>
        <p:spPr>
          <a:xfrm>
            <a:off x="661450" y="981500"/>
            <a:ext cx="7730100" cy="3456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20000"/>
              </a:lnSpc>
              <a:spcBef>
                <a:spcPts val="0"/>
              </a:spcBef>
              <a:spcAft>
                <a:spcPts val="0"/>
              </a:spcAft>
              <a:buClr>
                <a:schemeClr val="dk1"/>
              </a:buClr>
              <a:buSzPts val="1100"/>
              <a:buFont typeface="Arial"/>
              <a:buNone/>
            </a:pPr>
            <a:r>
              <a:rPr lang="en-GB" sz="1200">
                <a:solidFill>
                  <a:schemeClr val="dk1"/>
                </a:solidFill>
                <a:latin typeface="Josefin Sans"/>
                <a:ea typeface="Josefin Sans"/>
                <a:cs typeface="Josefin Sans"/>
                <a:sym typeface="Josefin Sans"/>
              </a:rPr>
              <a:t>The results obtained on conflict frequency, behavior patterns, and spatial distribution   </a:t>
            </a:r>
            <a:endParaRPr b="1" sz="1000">
              <a:solidFill>
                <a:schemeClr val="dk1"/>
              </a:solidFill>
              <a:latin typeface="Josefin Sans"/>
              <a:ea typeface="Josefin Sans"/>
              <a:cs typeface="Josefin Sans"/>
              <a:sym typeface="Josefin Sans"/>
            </a:endParaRPr>
          </a:p>
        </p:txBody>
      </p:sp>
      <p:sp>
        <p:nvSpPr>
          <p:cNvPr id="565" name="Google Shape;565;p56"/>
          <p:cNvSpPr txBox="1"/>
          <p:nvPr/>
        </p:nvSpPr>
        <p:spPr>
          <a:xfrm>
            <a:off x="437025" y="1488900"/>
            <a:ext cx="3338400" cy="31470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1500"/>
              </a:spcBef>
              <a:spcAft>
                <a:spcPts val="0"/>
              </a:spcAft>
              <a:buNone/>
            </a:pPr>
            <a:r>
              <a:rPr b="1" lang="en-GB" sz="1100">
                <a:solidFill>
                  <a:schemeClr val="dk1"/>
                </a:solidFill>
                <a:highlight>
                  <a:srgbClr val="F3F3F3"/>
                </a:highlight>
                <a:latin typeface="Josefin Sans"/>
                <a:ea typeface="Josefin Sans"/>
                <a:cs typeface="Josefin Sans"/>
                <a:sym typeface="Josefin Sans"/>
              </a:rPr>
              <a:t>Conflict Frequency</a:t>
            </a:r>
            <a:r>
              <a:rPr b="1" lang="en-GB" sz="1100">
                <a:solidFill>
                  <a:schemeClr val="dk1"/>
                </a:solidFill>
                <a:highlight>
                  <a:srgbClr val="F3F3F3"/>
                </a:highlight>
                <a:latin typeface="Josefin Sans"/>
                <a:ea typeface="Josefin Sans"/>
                <a:cs typeface="Josefin Sans"/>
                <a:sym typeface="Josefin Sans"/>
              </a:rPr>
              <a:t> :</a:t>
            </a:r>
            <a:endParaRPr b="1" sz="1100">
              <a:solidFill>
                <a:schemeClr val="dk1"/>
              </a:solidFill>
              <a:highlight>
                <a:srgbClr val="F3F3F3"/>
              </a:highlight>
              <a:latin typeface="Josefin Sans"/>
              <a:ea typeface="Josefin Sans"/>
              <a:cs typeface="Josefin Sans"/>
              <a:sym typeface="Josefin Sans"/>
            </a:endParaRPr>
          </a:p>
          <a:p>
            <a:pPr indent="0" lvl="0" marL="0" rtl="0" algn="l">
              <a:lnSpc>
                <a:spcPct val="115000"/>
              </a:lnSpc>
              <a:spcBef>
                <a:spcPts val="2100"/>
              </a:spcBef>
              <a:spcAft>
                <a:spcPts val="0"/>
              </a:spcAft>
              <a:buNone/>
            </a:pPr>
            <a:r>
              <a:rPr lang="en-GB" sz="1100">
                <a:solidFill>
                  <a:schemeClr val="dk1"/>
                </a:solidFill>
                <a:latin typeface="Josefin Sans"/>
                <a:ea typeface="Josefin Sans"/>
                <a:cs typeface="Josefin Sans"/>
                <a:sym typeface="Josefin Sans"/>
              </a:rPr>
              <a:t>1. </a:t>
            </a:r>
            <a:r>
              <a:rPr lang="en-GB" sz="1200">
                <a:solidFill>
                  <a:schemeClr val="dk1"/>
                </a:solidFill>
                <a:latin typeface="Josefin Sans"/>
                <a:ea typeface="Josefin Sans"/>
                <a:cs typeface="Josefin Sans"/>
                <a:sym typeface="Josefin Sans"/>
              </a:rPr>
              <a:t>Mid-block crossings: 3.2× more conflicts than intersections</a:t>
            </a:r>
            <a:endParaRPr sz="1200">
              <a:solidFill>
                <a:schemeClr val="dk1"/>
              </a:solidFill>
              <a:latin typeface="Josefin Sans"/>
              <a:ea typeface="Josefin Sans"/>
              <a:cs typeface="Josefin Sans"/>
              <a:sym typeface="Josefin Sans"/>
            </a:endParaRPr>
          </a:p>
          <a:p>
            <a:pPr indent="0" lvl="0" marL="0" rtl="0" algn="l">
              <a:lnSpc>
                <a:spcPct val="115000"/>
              </a:lnSpc>
              <a:spcBef>
                <a:spcPts val="2100"/>
              </a:spcBef>
              <a:spcAft>
                <a:spcPts val="0"/>
              </a:spcAft>
              <a:buNone/>
            </a:pPr>
            <a:r>
              <a:rPr lang="en-GB" sz="1200">
                <a:solidFill>
                  <a:schemeClr val="dk1"/>
                </a:solidFill>
                <a:latin typeface="Josefin Sans"/>
                <a:ea typeface="Josefin Sans"/>
                <a:cs typeface="Josefin Sans"/>
                <a:sym typeface="Josefin Sans"/>
              </a:rPr>
              <a:t>2. Peak hours (1,200+ ped/hr): 25–35 unsafe events/hour</a:t>
            </a:r>
            <a:endParaRPr sz="1200">
              <a:solidFill>
                <a:schemeClr val="dk1"/>
              </a:solidFill>
              <a:latin typeface="Josefin Sans"/>
              <a:ea typeface="Josefin Sans"/>
              <a:cs typeface="Josefin Sans"/>
              <a:sym typeface="Josefin Sans"/>
            </a:endParaRPr>
          </a:p>
          <a:p>
            <a:pPr indent="0" lvl="0" marL="0" rtl="0" algn="l">
              <a:lnSpc>
                <a:spcPct val="115000"/>
              </a:lnSpc>
              <a:spcBef>
                <a:spcPts val="1500"/>
              </a:spcBef>
              <a:spcAft>
                <a:spcPts val="1500"/>
              </a:spcAft>
              <a:buNone/>
            </a:pPr>
            <a:r>
              <a:rPr lang="en-GB" sz="1200">
                <a:solidFill>
                  <a:schemeClr val="dk1"/>
                </a:solidFill>
                <a:latin typeface="Josefin Sans"/>
                <a:ea typeface="Josefin Sans"/>
                <a:cs typeface="Josefin Sans"/>
                <a:sym typeface="Josefin Sans"/>
              </a:rPr>
              <a:t>3. Speed correlation: 70% of conflicts occur when vehicles &gt;40 km/h</a:t>
            </a:r>
            <a:endParaRPr sz="1100">
              <a:solidFill>
                <a:schemeClr val="dk1"/>
              </a:solidFill>
              <a:latin typeface="Josefin Sans"/>
              <a:ea typeface="Josefin Sans"/>
              <a:cs typeface="Josefin Sans"/>
              <a:sym typeface="Josefin Sans"/>
            </a:endParaRPr>
          </a:p>
        </p:txBody>
      </p:sp>
      <p:sp>
        <p:nvSpPr>
          <p:cNvPr id="566" name="Google Shape;566;p56"/>
          <p:cNvSpPr txBox="1"/>
          <p:nvPr/>
        </p:nvSpPr>
        <p:spPr>
          <a:xfrm>
            <a:off x="3896675" y="1488900"/>
            <a:ext cx="4719300" cy="1563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1500"/>
              </a:spcBef>
              <a:spcAft>
                <a:spcPts val="0"/>
              </a:spcAft>
              <a:buNone/>
            </a:pPr>
            <a:r>
              <a:rPr b="1" lang="en-GB" sz="1100">
                <a:solidFill>
                  <a:schemeClr val="dk1"/>
                </a:solidFill>
                <a:highlight>
                  <a:schemeClr val="lt1"/>
                </a:highlight>
                <a:latin typeface="Josefin Sans"/>
                <a:ea typeface="Josefin Sans"/>
                <a:cs typeface="Josefin Sans"/>
                <a:sym typeface="Josefin Sans"/>
              </a:rPr>
              <a:t>Behavior Patterns</a:t>
            </a:r>
            <a:r>
              <a:rPr b="1" lang="en-GB" sz="1100">
                <a:solidFill>
                  <a:schemeClr val="dk1"/>
                </a:solidFill>
                <a:highlight>
                  <a:schemeClr val="lt1"/>
                </a:highlight>
                <a:latin typeface="Josefin Sans"/>
                <a:ea typeface="Josefin Sans"/>
                <a:cs typeface="Josefin Sans"/>
                <a:sym typeface="Josefin Sans"/>
              </a:rPr>
              <a:t> :</a:t>
            </a:r>
            <a:endParaRPr b="1" sz="1100">
              <a:solidFill>
                <a:schemeClr val="dk1"/>
              </a:solidFill>
              <a:highlight>
                <a:schemeClr val="lt1"/>
              </a:highlight>
              <a:latin typeface="Josefin Sans"/>
              <a:ea typeface="Josefin Sans"/>
              <a:cs typeface="Josefin Sans"/>
              <a:sym typeface="Josefin Sans"/>
            </a:endParaRPr>
          </a:p>
          <a:p>
            <a:pPr indent="0" lvl="0" marL="0" rtl="0" algn="l">
              <a:lnSpc>
                <a:spcPct val="115000"/>
              </a:lnSpc>
              <a:spcBef>
                <a:spcPts val="2100"/>
              </a:spcBef>
              <a:spcAft>
                <a:spcPts val="0"/>
              </a:spcAft>
              <a:buNone/>
            </a:pPr>
            <a:r>
              <a:rPr lang="en-GB" sz="1100">
                <a:solidFill>
                  <a:schemeClr val="dk1"/>
                </a:solidFill>
                <a:latin typeface="Josefin Sans"/>
                <a:ea typeface="Josefin Sans"/>
                <a:cs typeface="Josefin Sans"/>
                <a:sym typeface="Josefin Sans"/>
              </a:rPr>
              <a:t>1. </a:t>
            </a:r>
            <a:r>
              <a:rPr lang="en-GB" sz="1200">
                <a:solidFill>
                  <a:schemeClr val="dk1"/>
                </a:solidFill>
                <a:latin typeface="Josefin Sans"/>
                <a:ea typeface="Josefin Sans"/>
                <a:cs typeface="Josefin Sans"/>
                <a:sym typeface="Josefin Sans"/>
              </a:rPr>
              <a:t>Risk-taking pedestrians (15–20% population) cause 55% of conflicts</a:t>
            </a:r>
            <a:endParaRPr sz="1200">
              <a:solidFill>
                <a:schemeClr val="dk1"/>
              </a:solidFill>
              <a:latin typeface="Josefin Sans"/>
              <a:ea typeface="Josefin Sans"/>
              <a:cs typeface="Josefin Sans"/>
              <a:sym typeface="Josefin Sans"/>
            </a:endParaRPr>
          </a:p>
          <a:p>
            <a:pPr indent="0" lvl="0" marL="0" rtl="0" algn="l">
              <a:lnSpc>
                <a:spcPct val="115000"/>
              </a:lnSpc>
              <a:spcBef>
                <a:spcPts val="2100"/>
              </a:spcBef>
              <a:spcAft>
                <a:spcPts val="1500"/>
              </a:spcAft>
              <a:buNone/>
            </a:pPr>
            <a:r>
              <a:rPr lang="en-GB" sz="1200">
                <a:solidFill>
                  <a:schemeClr val="dk1"/>
                </a:solidFill>
                <a:latin typeface="Josefin Sans"/>
                <a:ea typeface="Josefin Sans"/>
                <a:cs typeface="Josefin Sans"/>
                <a:sym typeface="Josefin Sans"/>
              </a:rPr>
              <a:t>2. 35% of drivers fail to yield within safe stopping distances</a:t>
            </a:r>
            <a:endParaRPr sz="1100">
              <a:solidFill>
                <a:schemeClr val="dk1"/>
              </a:solidFill>
              <a:latin typeface="Josefin Sans"/>
              <a:ea typeface="Josefin Sans"/>
              <a:cs typeface="Josefin Sans"/>
              <a:sym typeface="Josefin Sans"/>
            </a:endParaRPr>
          </a:p>
        </p:txBody>
      </p:sp>
      <p:sp>
        <p:nvSpPr>
          <p:cNvPr id="567" name="Google Shape;567;p56"/>
          <p:cNvSpPr txBox="1"/>
          <p:nvPr/>
        </p:nvSpPr>
        <p:spPr>
          <a:xfrm>
            <a:off x="3896675" y="3212850"/>
            <a:ext cx="4719300" cy="14232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1500"/>
              </a:spcBef>
              <a:spcAft>
                <a:spcPts val="0"/>
              </a:spcAft>
              <a:buNone/>
            </a:pPr>
            <a:r>
              <a:rPr b="1" lang="en-GB" sz="1100">
                <a:solidFill>
                  <a:schemeClr val="dk1"/>
                </a:solidFill>
                <a:highlight>
                  <a:schemeClr val="lt1"/>
                </a:highlight>
                <a:latin typeface="Josefin Sans"/>
                <a:ea typeface="Josefin Sans"/>
                <a:cs typeface="Josefin Sans"/>
                <a:sym typeface="Josefin Sans"/>
              </a:rPr>
              <a:t>Spatial Impact :</a:t>
            </a:r>
            <a:endParaRPr b="1" sz="1100">
              <a:solidFill>
                <a:schemeClr val="dk1"/>
              </a:solidFill>
              <a:highlight>
                <a:schemeClr val="lt1"/>
              </a:highlight>
              <a:latin typeface="Josefin Sans"/>
              <a:ea typeface="Josefin Sans"/>
              <a:cs typeface="Josefin Sans"/>
              <a:sym typeface="Josefin Sans"/>
            </a:endParaRPr>
          </a:p>
          <a:p>
            <a:pPr indent="0" lvl="0" marL="0" rtl="0" algn="l">
              <a:lnSpc>
                <a:spcPct val="115000"/>
              </a:lnSpc>
              <a:spcBef>
                <a:spcPts val="2100"/>
              </a:spcBef>
              <a:spcAft>
                <a:spcPts val="0"/>
              </a:spcAft>
              <a:buNone/>
            </a:pPr>
            <a:r>
              <a:rPr lang="en-GB" sz="1100">
                <a:solidFill>
                  <a:schemeClr val="dk1"/>
                </a:solidFill>
                <a:latin typeface="Josefin Sans"/>
                <a:ea typeface="Josefin Sans"/>
                <a:cs typeface="Josefin Sans"/>
                <a:sym typeface="Josefin Sans"/>
              </a:rPr>
              <a:t>1. </a:t>
            </a:r>
            <a:r>
              <a:rPr lang="en-GB" sz="1200">
                <a:solidFill>
                  <a:schemeClr val="dk1"/>
                </a:solidFill>
                <a:latin typeface="Josefin Sans"/>
                <a:ea typeface="Josefin Sans"/>
                <a:cs typeface="Josefin Sans"/>
                <a:sym typeface="Josefin Sans"/>
              </a:rPr>
              <a:t>65% of conflicts occur within 50m of intersections</a:t>
            </a:r>
            <a:endParaRPr sz="1200">
              <a:solidFill>
                <a:schemeClr val="dk1"/>
              </a:solidFill>
              <a:latin typeface="Josefin Sans"/>
              <a:ea typeface="Josefin Sans"/>
              <a:cs typeface="Josefin Sans"/>
              <a:sym typeface="Josefin Sans"/>
            </a:endParaRPr>
          </a:p>
          <a:p>
            <a:pPr indent="0" lvl="0" marL="0" rtl="0" algn="l">
              <a:lnSpc>
                <a:spcPct val="115000"/>
              </a:lnSpc>
              <a:spcBef>
                <a:spcPts val="2100"/>
              </a:spcBef>
              <a:spcAft>
                <a:spcPts val="1500"/>
              </a:spcAft>
              <a:buNone/>
            </a:pPr>
            <a:r>
              <a:rPr lang="en-GB" sz="1200">
                <a:solidFill>
                  <a:schemeClr val="dk1"/>
                </a:solidFill>
                <a:latin typeface="Josefin Sans"/>
                <a:ea typeface="Josefin Sans"/>
                <a:cs typeface="Josefin Sans"/>
                <a:sym typeface="Josefin Sans"/>
              </a:rPr>
              <a:t>2. Bus stops generate 2.5× more conflicts than average locations</a:t>
            </a:r>
            <a:endParaRPr sz="1100">
              <a:solidFill>
                <a:schemeClr val="dk1"/>
              </a:solidFill>
              <a:latin typeface="Josefin Sans"/>
              <a:ea typeface="Josefin Sans"/>
              <a:cs typeface="Josefin Sans"/>
              <a:sym typeface="Josefin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57"/>
          <p:cNvSpPr/>
          <p:nvPr/>
        </p:nvSpPr>
        <p:spPr>
          <a:xfrm>
            <a:off x="-26550" y="1075050"/>
            <a:ext cx="9197100" cy="4068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solidFill>
                <a:schemeClr val="lt1"/>
              </a:solidFill>
              <a:highlight>
                <a:schemeClr val="accent1"/>
              </a:highlight>
              <a:latin typeface="Josefin Sans"/>
              <a:ea typeface="Josefin Sans"/>
              <a:cs typeface="Josefin Sans"/>
              <a:sym typeface="Josefin Sans"/>
            </a:endParaRPr>
          </a:p>
          <a:p>
            <a:pPr indent="-387350" lvl="0" marL="457200" rtl="0" algn="l">
              <a:spcBef>
                <a:spcPts val="0"/>
              </a:spcBef>
              <a:spcAft>
                <a:spcPts val="0"/>
              </a:spcAft>
              <a:buClr>
                <a:schemeClr val="lt1"/>
              </a:buClr>
              <a:buSzPts val="2500"/>
              <a:buFont typeface="Josefin Sans"/>
              <a:buChar char="●"/>
            </a:pPr>
            <a:r>
              <a:rPr lang="en-GB" sz="1600">
                <a:solidFill>
                  <a:schemeClr val="lt1"/>
                </a:solidFill>
                <a:highlight>
                  <a:schemeClr val="accent1"/>
                </a:highlight>
                <a:latin typeface="Josefin Sans"/>
                <a:ea typeface="Josefin Sans"/>
                <a:cs typeface="Josefin Sans"/>
                <a:sym typeface="Josefin Sans"/>
              </a:rPr>
              <a:t>Recommendations to tackle the problem of: Traffic efficiency and Unsafe situations</a:t>
            </a:r>
            <a:endParaRPr sz="2500">
              <a:solidFill>
                <a:schemeClr val="lt1"/>
              </a:solidFill>
              <a:highlight>
                <a:schemeClr val="accent1"/>
              </a:highlight>
              <a:latin typeface="Josefin Sans"/>
              <a:ea typeface="Josefin Sans"/>
              <a:cs typeface="Josefin Sans"/>
              <a:sym typeface="Josefin Sans"/>
            </a:endParaRPr>
          </a:p>
        </p:txBody>
      </p:sp>
      <p:sp>
        <p:nvSpPr>
          <p:cNvPr id="573" name="Google Shape;573;p57"/>
          <p:cNvSpPr txBox="1"/>
          <p:nvPr/>
        </p:nvSpPr>
        <p:spPr>
          <a:xfrm>
            <a:off x="6170550" y="0"/>
            <a:ext cx="30000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100">
                <a:solidFill>
                  <a:schemeClr val="lt1"/>
                </a:solidFill>
                <a:latin typeface="Josefin Sans"/>
                <a:ea typeface="Josefin Sans"/>
                <a:cs typeface="Josefin Sans"/>
                <a:sym typeface="Josefin Sans"/>
              </a:rPr>
              <a:t>            TATA POWER</a:t>
            </a:r>
            <a:endParaRPr sz="2300"/>
          </a:p>
        </p:txBody>
      </p:sp>
      <p:sp>
        <p:nvSpPr>
          <p:cNvPr id="574" name="Google Shape;574;p57"/>
          <p:cNvSpPr/>
          <p:nvPr/>
        </p:nvSpPr>
        <p:spPr>
          <a:xfrm>
            <a:off x="0" y="194625"/>
            <a:ext cx="9144000" cy="750900"/>
          </a:xfrm>
          <a:prstGeom prst="rect">
            <a:avLst/>
          </a:pr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100">
                <a:latin typeface="Josefin Sans"/>
                <a:ea typeface="Josefin Sans"/>
                <a:cs typeface="Josefin Sans"/>
                <a:sym typeface="Josefin Sans"/>
              </a:rPr>
              <a:t>TASK VII</a:t>
            </a:r>
            <a:r>
              <a:rPr b="1" lang="en-GB" sz="2100">
                <a:solidFill>
                  <a:srgbClr val="000000"/>
                </a:solidFill>
                <a:latin typeface="Josefin Sans"/>
                <a:ea typeface="Josefin Sans"/>
                <a:cs typeface="Josefin Sans"/>
                <a:sym typeface="Josefin Sans"/>
              </a:rPr>
              <a:t>   </a:t>
            </a:r>
            <a:endParaRPr b="1" sz="2100">
              <a:solidFill>
                <a:srgbClr val="000000"/>
              </a:solidFill>
              <a:latin typeface="Josefin Sans"/>
              <a:ea typeface="Josefin Sans"/>
              <a:cs typeface="Josefin Sans"/>
              <a:sym typeface="Josefin Sans"/>
            </a:endParaRPr>
          </a:p>
        </p:txBody>
      </p:sp>
      <p:pic>
        <p:nvPicPr>
          <p:cNvPr id="575" name="Google Shape;575;p57"/>
          <p:cNvPicPr preferRelativeResize="0"/>
          <p:nvPr/>
        </p:nvPicPr>
        <p:blipFill>
          <a:blip r:embed="rId3">
            <a:alphaModFix/>
          </a:blip>
          <a:stretch>
            <a:fillRect/>
          </a:stretch>
        </p:blipFill>
        <p:spPr>
          <a:xfrm>
            <a:off x="52150" y="25350"/>
            <a:ext cx="407152" cy="4572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58"/>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Traffic Efficiency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581" name="Google Shape;581;p58"/>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Detailed recommendations to tackle this problem</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582" name="Google Shape;582;p58"/>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Placing and design interventions for traffic efficiency problem</a:t>
            </a:r>
            <a:r>
              <a:rPr lang="en-GB" sz="1100">
                <a:solidFill>
                  <a:srgbClr val="FFFFFF"/>
                </a:solidFill>
                <a:latin typeface="Josefin Sans"/>
                <a:ea typeface="Josefin Sans"/>
                <a:cs typeface="Josefin Sans"/>
                <a:sym typeface="Josefin Sans"/>
              </a:rPr>
              <a:t>  </a:t>
            </a:r>
            <a:endParaRPr sz="1100">
              <a:solidFill>
                <a:srgbClr val="FFFFFF"/>
              </a:solidFill>
              <a:latin typeface="Josefin Sans"/>
              <a:ea typeface="Josefin Sans"/>
              <a:cs typeface="Josefin Sans"/>
              <a:sym typeface="Josefin Sans"/>
            </a:endParaRPr>
          </a:p>
        </p:txBody>
      </p:sp>
      <p:pic>
        <p:nvPicPr>
          <p:cNvPr id="583" name="Google Shape;583;p58"/>
          <p:cNvPicPr preferRelativeResize="0"/>
          <p:nvPr/>
        </p:nvPicPr>
        <p:blipFill>
          <a:blip r:embed="rId3">
            <a:alphaModFix/>
          </a:blip>
          <a:stretch>
            <a:fillRect/>
          </a:stretch>
        </p:blipFill>
        <p:spPr>
          <a:xfrm>
            <a:off x="52150" y="-5850"/>
            <a:ext cx="407152" cy="457200"/>
          </a:xfrm>
          <a:prstGeom prst="rect">
            <a:avLst/>
          </a:prstGeom>
          <a:noFill/>
          <a:ln>
            <a:noFill/>
          </a:ln>
        </p:spPr>
      </p:pic>
      <p:graphicFrame>
        <p:nvGraphicFramePr>
          <p:cNvPr id="584" name="Google Shape;584;p58"/>
          <p:cNvGraphicFramePr/>
          <p:nvPr/>
        </p:nvGraphicFramePr>
        <p:xfrm>
          <a:off x="4700350" y="1648800"/>
          <a:ext cx="3000000" cy="3000000"/>
        </p:xfrm>
        <a:graphic>
          <a:graphicData uri="http://schemas.openxmlformats.org/drawingml/2006/table">
            <a:tbl>
              <a:tblPr>
                <a:noFill/>
                <a:tableStyleId>{D45A3726-6D87-4FA0-885B-04208B5A4D76}</a:tableStyleId>
              </a:tblPr>
              <a:tblGrid>
                <a:gridCol w="1344675"/>
                <a:gridCol w="1344675"/>
                <a:gridCol w="1344675"/>
              </a:tblGrid>
              <a:tr h="746775">
                <a:tc>
                  <a:txBody>
                    <a:bodyPr/>
                    <a:lstStyle/>
                    <a:p>
                      <a:pPr indent="0" lvl="0" marL="0" rtl="0" algn="ctr">
                        <a:lnSpc>
                          <a:spcPct val="171429"/>
                        </a:lnSpc>
                        <a:spcBef>
                          <a:spcPts val="1100"/>
                        </a:spcBef>
                        <a:spcAft>
                          <a:spcPts val="1100"/>
                        </a:spcAft>
                        <a:buNone/>
                      </a:pPr>
                      <a:r>
                        <a:rPr b="1" lang="en-GB" sz="950">
                          <a:latin typeface="Roboto"/>
                          <a:ea typeface="Roboto"/>
                          <a:cs typeface="Roboto"/>
                          <a:sym typeface="Roboto"/>
                        </a:rPr>
                        <a:t>Feature</a:t>
                      </a:r>
                      <a:endParaRPr b="1" sz="950">
                        <a:latin typeface="Roboto"/>
                        <a:ea typeface="Roboto"/>
                        <a:cs typeface="Roboto"/>
                        <a:sym typeface="Robo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5E7EB"/>
                      </a:solidFill>
                      <a:prstDash val="solid"/>
                      <a:round/>
                      <a:headEnd len="sm" w="sm" type="none"/>
                      <a:tailEnd len="sm" w="sm" type="none"/>
                    </a:lnB>
                    <a:solidFill>
                      <a:schemeClr val="accent1"/>
                    </a:solidFill>
                  </a:tcPr>
                </a:tc>
                <a:tc>
                  <a:txBody>
                    <a:bodyPr/>
                    <a:lstStyle/>
                    <a:p>
                      <a:pPr indent="0" lvl="0" marL="0" rtl="0" algn="ctr">
                        <a:lnSpc>
                          <a:spcPct val="171429"/>
                        </a:lnSpc>
                        <a:spcBef>
                          <a:spcPts val="1100"/>
                        </a:spcBef>
                        <a:spcAft>
                          <a:spcPts val="1100"/>
                        </a:spcAft>
                        <a:buNone/>
                      </a:pPr>
                      <a:r>
                        <a:rPr b="1" lang="en-GB" sz="950">
                          <a:latin typeface="Roboto"/>
                          <a:ea typeface="Roboto"/>
                          <a:cs typeface="Roboto"/>
                          <a:sym typeface="Roboto"/>
                        </a:rPr>
                        <a:t>Impact</a:t>
                      </a:r>
                      <a:endParaRPr b="1" sz="950">
                        <a:latin typeface="Roboto"/>
                        <a:ea typeface="Roboto"/>
                        <a:cs typeface="Roboto"/>
                        <a:sym typeface="Roboto"/>
                      </a:endParaRPr>
                    </a:p>
                  </a:txBody>
                  <a:tcPr marT="91425" marB="91425" marR="91425" marL="91425" anchor="ctr">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5E7EB"/>
                      </a:solidFill>
                      <a:prstDash val="solid"/>
                      <a:round/>
                      <a:headEnd len="sm" w="sm" type="none"/>
                      <a:tailEnd len="sm" w="sm" type="none"/>
                    </a:lnB>
                    <a:solidFill>
                      <a:schemeClr val="accent1"/>
                    </a:solidFill>
                  </a:tcPr>
                </a:tc>
                <a:tc>
                  <a:txBody>
                    <a:bodyPr/>
                    <a:lstStyle/>
                    <a:p>
                      <a:pPr indent="0" lvl="0" marL="0" rtl="0" algn="ctr">
                        <a:lnSpc>
                          <a:spcPct val="171429"/>
                        </a:lnSpc>
                        <a:spcBef>
                          <a:spcPts val="1100"/>
                        </a:spcBef>
                        <a:spcAft>
                          <a:spcPts val="0"/>
                        </a:spcAft>
                        <a:buNone/>
                      </a:pPr>
                      <a:r>
                        <a:rPr b="1" lang="en-GB" sz="950">
                          <a:latin typeface="Roboto"/>
                          <a:ea typeface="Roboto"/>
                          <a:cs typeface="Roboto"/>
                          <a:sym typeface="Roboto"/>
                        </a:rPr>
                        <a:t>Implementation Cost</a:t>
                      </a:r>
                      <a:endParaRPr b="1" sz="950">
                        <a:latin typeface="Roboto"/>
                        <a:ea typeface="Roboto"/>
                        <a:cs typeface="Roboto"/>
                        <a:sym typeface="Roboto"/>
                      </a:endParaRPr>
                    </a:p>
                    <a:p>
                      <a:pPr indent="0" lvl="0" marL="0" rtl="0" algn="ctr">
                        <a:lnSpc>
                          <a:spcPct val="171429"/>
                        </a:lnSpc>
                        <a:spcBef>
                          <a:spcPts val="1100"/>
                        </a:spcBef>
                        <a:spcAft>
                          <a:spcPts val="1100"/>
                        </a:spcAft>
                        <a:buNone/>
                      </a:pPr>
                      <a:r>
                        <a:rPr b="1" lang="en-GB" sz="950">
                          <a:latin typeface="Roboto"/>
                          <a:ea typeface="Roboto"/>
                          <a:cs typeface="Roboto"/>
                          <a:sym typeface="Roboto"/>
                        </a:rPr>
                        <a:t>(Per 30 sq km)</a:t>
                      </a:r>
                      <a:endParaRPr b="1" sz="950">
                        <a:latin typeface="Roboto"/>
                        <a:ea typeface="Roboto"/>
                        <a:cs typeface="Roboto"/>
                        <a:sym typeface="Roboto"/>
                      </a:endParaRPr>
                    </a:p>
                  </a:txBody>
                  <a:tcPr marT="91425" marB="91425" marR="91425" marL="91425" anchor="ctr">
                    <a:lnL cap="flat" cmpd="sng" w="9525">
                      <a:solidFill>
                        <a:schemeClr val="accen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5E7EB"/>
                      </a:solidFill>
                      <a:prstDash val="solid"/>
                      <a:round/>
                      <a:headEnd len="sm" w="sm" type="none"/>
                      <a:tailEnd len="sm" w="sm" type="none"/>
                    </a:lnB>
                    <a:solidFill>
                      <a:schemeClr val="accent1"/>
                    </a:solidFill>
                  </a:tcPr>
                </a:tc>
              </a:tr>
              <a:tr h="746775">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Raised crosswalks</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40% reduction in pedestrian crashes</a:t>
                      </a:r>
                      <a:endParaRPr sz="950">
                        <a:solidFill>
                          <a:schemeClr val="hlink"/>
                        </a:solidFill>
                        <a:latin typeface="Courier New"/>
                        <a:ea typeface="Courier New"/>
                        <a:cs typeface="Courier New"/>
                        <a:sym typeface="Courier New"/>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Medium ($15–25k)</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000000"/>
                      </a:solidFill>
                      <a:prstDash val="solid"/>
                      <a:round/>
                      <a:headEnd len="sm" w="sm" type="none"/>
                      <a:tailEnd len="sm" w="sm" type="none"/>
                    </a:lnB>
                  </a:tcPr>
                </a:tc>
              </a:tr>
              <a:tr h="746775">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LED-embedded crossings</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62% better nighttime visibility</a:t>
                      </a:r>
                      <a:endParaRPr sz="950">
                        <a:solidFill>
                          <a:schemeClr val="hlink"/>
                        </a:solidFill>
                        <a:latin typeface="Courier New"/>
                        <a:ea typeface="Courier New"/>
                        <a:cs typeface="Courier New"/>
                        <a:sym typeface="Courier New"/>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High ($30–50k)</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46775">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Curb extensions</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35% slower vehicle speeds</a:t>
                      </a:r>
                      <a:endParaRPr sz="950">
                        <a:solidFill>
                          <a:schemeClr val="hlink"/>
                        </a:solidFill>
                        <a:latin typeface="Courier New"/>
                        <a:ea typeface="Courier New"/>
                        <a:cs typeface="Courier New"/>
                        <a:sym typeface="Courier New"/>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Medium ($20–30k)</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585" name="Google Shape;585;p58"/>
          <p:cNvSpPr txBox="1"/>
          <p:nvPr/>
        </p:nvSpPr>
        <p:spPr>
          <a:xfrm>
            <a:off x="437025" y="1648675"/>
            <a:ext cx="3551400" cy="29871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Frequency: Install crossings every 80–150m in urban cores</a:t>
            </a:r>
            <a:endParaRPr sz="1200">
              <a:solidFill>
                <a:schemeClr val="dk1"/>
              </a:solidFill>
              <a:latin typeface="Josefin Sans"/>
              <a:ea typeface="Josefin Sans"/>
              <a:cs typeface="Josefin Sans"/>
              <a:sym typeface="Josefin Sans"/>
            </a:endParaRPr>
          </a:p>
          <a:p>
            <a:pPr indent="0" lvl="0" marL="0" rtl="0" algn="l">
              <a:lnSpc>
                <a:spcPct val="115000"/>
              </a:lnSpc>
              <a:spcBef>
                <a:spcPts val="2100"/>
              </a:spcBef>
              <a:spcAft>
                <a:spcPts val="0"/>
              </a:spcAft>
              <a:buNone/>
            </a:pPr>
            <a:r>
              <a:rPr i="1" lang="en-GB" sz="1200">
                <a:solidFill>
                  <a:schemeClr val="dk1"/>
                </a:solidFill>
                <a:latin typeface="Josefin Sans"/>
                <a:ea typeface="Josefin Sans"/>
                <a:cs typeface="Josefin Sans"/>
                <a:sym typeface="Josefin Sans"/>
              </a:rPr>
              <a:t>Threshold</a:t>
            </a:r>
            <a:r>
              <a:rPr lang="en-GB" sz="1200">
                <a:solidFill>
                  <a:schemeClr val="dk1"/>
                </a:solidFill>
                <a:latin typeface="Josefin Sans"/>
                <a:ea typeface="Josefin Sans"/>
                <a:cs typeface="Josefin Sans"/>
                <a:sym typeface="Josefin Sans"/>
              </a:rPr>
              <a:t>: &gt;25 pedestrians/hour triggers need for marked crossing</a:t>
            </a:r>
            <a:endParaRPr sz="1200">
              <a:solidFill>
                <a:schemeClr val="hlink"/>
              </a:solidFill>
              <a:latin typeface="Josefin Sans"/>
              <a:ea typeface="Josefin Sans"/>
              <a:cs typeface="Josefin Sans"/>
              <a:sym typeface="Josefin Sans"/>
            </a:endParaRPr>
          </a:p>
          <a:p>
            <a:pPr indent="0" lvl="0" marL="0" rtl="0" algn="l">
              <a:lnSpc>
                <a:spcPct val="115000"/>
              </a:lnSpc>
              <a:spcBef>
                <a:spcPts val="2100"/>
              </a:spcBef>
              <a:spcAft>
                <a:spcPts val="0"/>
              </a:spcAft>
              <a:buNone/>
            </a:pPr>
            <a:r>
              <a:rPr lang="en-GB" sz="1200">
                <a:solidFill>
                  <a:schemeClr val="dk1"/>
                </a:solidFill>
                <a:latin typeface="Josefin Sans"/>
                <a:ea typeface="Josefin Sans"/>
                <a:cs typeface="Josefin Sans"/>
                <a:sym typeface="Josefin Sans"/>
              </a:rPr>
              <a:t>Location Priorities:</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210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Mid-block near transit stops (50m radius)</a:t>
            </a:r>
            <a:endParaRPr sz="1200">
              <a:solidFill>
                <a:schemeClr val="hlink"/>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Within 100m of schools/hospitals</a:t>
            </a:r>
            <a:endParaRPr sz="1200">
              <a:solidFill>
                <a:schemeClr val="hlink"/>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Align with natural desire lines (85% compliance when placed correctly)</a:t>
            </a:r>
            <a:endParaRPr b="1" sz="1100">
              <a:solidFill>
                <a:schemeClr val="dk1"/>
              </a:solidFill>
              <a:highlight>
                <a:srgbClr val="F3F3F3"/>
              </a:highlight>
              <a:latin typeface="Josefin Sans"/>
              <a:ea typeface="Josefin Sans"/>
              <a:cs typeface="Josefin Sans"/>
              <a:sym typeface="Josefin Sans"/>
            </a:endParaRPr>
          </a:p>
        </p:txBody>
      </p:sp>
      <p:sp>
        <p:nvSpPr>
          <p:cNvPr id="586" name="Google Shape;586;p58"/>
          <p:cNvSpPr txBox="1"/>
          <p:nvPr/>
        </p:nvSpPr>
        <p:spPr>
          <a:xfrm>
            <a:off x="992325" y="1140975"/>
            <a:ext cx="2440800" cy="345600"/>
          </a:xfrm>
          <a:prstGeom prst="rect">
            <a:avLst/>
          </a:prstGeom>
          <a:solidFill>
            <a:srgbClr val="02164F"/>
          </a:solidFill>
          <a:ln>
            <a:noFill/>
          </a:ln>
        </p:spPr>
        <p:txBody>
          <a:bodyPr anchorCtr="0" anchor="ctr" bIns="91425" lIns="91425" spcFirstLastPara="1" rIns="91425" wrap="square" tIns="91425">
            <a:noAutofit/>
          </a:bodyPr>
          <a:lstStyle/>
          <a:p>
            <a:pPr indent="0" lvl="0" marL="457200" rtl="0" algn="l">
              <a:spcBef>
                <a:spcPts val="0"/>
              </a:spcBef>
              <a:spcAft>
                <a:spcPts val="0"/>
              </a:spcAft>
              <a:buNone/>
            </a:pPr>
            <a:r>
              <a:rPr b="1" lang="en-GB" sz="1300">
                <a:solidFill>
                  <a:srgbClr val="FFFFFF"/>
                </a:solidFill>
                <a:latin typeface="Josefin Sans"/>
                <a:ea typeface="Josefin Sans"/>
                <a:cs typeface="Josefin Sans"/>
                <a:sym typeface="Josefin Sans"/>
              </a:rPr>
              <a:t>Crosswalk placing</a:t>
            </a:r>
            <a:endParaRPr b="1" sz="1300">
              <a:solidFill>
                <a:srgbClr val="FFFFFF"/>
              </a:solidFill>
              <a:latin typeface="Josefin Sans"/>
              <a:ea typeface="Josefin Sans"/>
              <a:cs typeface="Josefin Sans"/>
              <a:sym typeface="Josefin Sans"/>
            </a:endParaRPr>
          </a:p>
        </p:txBody>
      </p:sp>
      <p:sp>
        <p:nvSpPr>
          <p:cNvPr id="587" name="Google Shape;587;p58"/>
          <p:cNvSpPr txBox="1"/>
          <p:nvPr/>
        </p:nvSpPr>
        <p:spPr>
          <a:xfrm>
            <a:off x="5496962" y="1141225"/>
            <a:ext cx="2440800" cy="345600"/>
          </a:xfrm>
          <a:prstGeom prst="rect">
            <a:avLst/>
          </a:prstGeom>
          <a:solidFill>
            <a:srgbClr val="0216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300">
                <a:solidFill>
                  <a:srgbClr val="FFFFFF"/>
                </a:solidFill>
                <a:latin typeface="Josefin Sans"/>
                <a:ea typeface="Josefin Sans"/>
                <a:cs typeface="Josefin Sans"/>
                <a:sym typeface="Josefin Sans"/>
              </a:rPr>
              <a:t>      Design Interventions</a:t>
            </a:r>
            <a:endParaRPr b="1" sz="1300">
              <a:solidFill>
                <a:srgbClr val="FFFFFF"/>
              </a:solidFill>
              <a:latin typeface="Josefin Sans"/>
              <a:ea typeface="Josefin Sans"/>
              <a:cs typeface="Josefin Sans"/>
              <a:sym typeface="Josefin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59"/>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Traffic Efficiency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593" name="Google Shape;593;p59"/>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Detailed recommendations to tackle this problem</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594" name="Google Shape;594;p59"/>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Technology and safety balance for traffic efficiency problem</a:t>
            </a:r>
            <a:r>
              <a:rPr lang="en-GB" sz="1100">
                <a:solidFill>
                  <a:srgbClr val="FFFFFF"/>
                </a:solidFill>
                <a:latin typeface="Josefin Sans"/>
                <a:ea typeface="Josefin Sans"/>
                <a:cs typeface="Josefin Sans"/>
                <a:sym typeface="Josefin Sans"/>
              </a:rPr>
              <a:t>  </a:t>
            </a:r>
            <a:endParaRPr sz="1100">
              <a:solidFill>
                <a:srgbClr val="FFFFFF"/>
              </a:solidFill>
              <a:latin typeface="Josefin Sans"/>
              <a:ea typeface="Josefin Sans"/>
              <a:cs typeface="Josefin Sans"/>
              <a:sym typeface="Josefin Sans"/>
            </a:endParaRPr>
          </a:p>
        </p:txBody>
      </p:sp>
      <p:pic>
        <p:nvPicPr>
          <p:cNvPr id="595" name="Google Shape;595;p59"/>
          <p:cNvPicPr preferRelativeResize="0"/>
          <p:nvPr/>
        </p:nvPicPr>
        <p:blipFill>
          <a:blip r:embed="rId3">
            <a:alphaModFix/>
          </a:blip>
          <a:stretch>
            <a:fillRect/>
          </a:stretch>
        </p:blipFill>
        <p:spPr>
          <a:xfrm>
            <a:off x="52150" y="-5850"/>
            <a:ext cx="407152" cy="457200"/>
          </a:xfrm>
          <a:prstGeom prst="rect">
            <a:avLst/>
          </a:prstGeom>
          <a:noFill/>
          <a:ln>
            <a:noFill/>
          </a:ln>
        </p:spPr>
      </p:pic>
      <p:sp>
        <p:nvSpPr>
          <p:cNvPr id="596" name="Google Shape;596;p59"/>
          <p:cNvSpPr txBox="1"/>
          <p:nvPr/>
        </p:nvSpPr>
        <p:spPr>
          <a:xfrm>
            <a:off x="437025" y="1648675"/>
            <a:ext cx="3551400" cy="29871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Smart Signals:</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210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Adaptive timers reducing pedestrian wait time by 40%</a:t>
            </a:r>
            <a:endParaRPr sz="1200">
              <a:solidFill>
                <a:schemeClr val="hlink"/>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Pedestrian-actuated beacons decreasing jaywalking by 55%</a:t>
            </a:r>
            <a:endParaRPr sz="1200">
              <a:solidFill>
                <a:schemeClr val="hlink"/>
              </a:solidFill>
              <a:latin typeface="Josefin Sans"/>
              <a:ea typeface="Josefin Sans"/>
              <a:cs typeface="Josefin Sans"/>
              <a:sym typeface="Josefin Sans"/>
            </a:endParaRPr>
          </a:p>
          <a:p>
            <a:pPr indent="0" lvl="0" marL="0" rtl="0" algn="l">
              <a:lnSpc>
                <a:spcPct val="115000"/>
              </a:lnSpc>
              <a:spcBef>
                <a:spcPts val="2100"/>
              </a:spcBef>
              <a:spcAft>
                <a:spcPts val="0"/>
              </a:spcAft>
              <a:buNone/>
            </a:pPr>
            <a:r>
              <a:rPr lang="en-GB" sz="1200">
                <a:solidFill>
                  <a:schemeClr val="dk1"/>
                </a:solidFill>
                <a:latin typeface="Josefin Sans"/>
                <a:ea typeface="Josefin Sans"/>
                <a:cs typeface="Josefin Sans"/>
                <a:sym typeface="Josefin Sans"/>
              </a:rPr>
              <a:t>Detection Systems:</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210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Thermal cameras alert drivers 50m before crossings</a:t>
            </a:r>
            <a:endParaRPr sz="1200">
              <a:solidFill>
                <a:schemeClr val="hlink"/>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Mobile apps showing real-time crossing opportunities</a:t>
            </a:r>
            <a:endParaRPr sz="1200">
              <a:solidFill>
                <a:schemeClr val="dk1"/>
              </a:solidFill>
              <a:latin typeface="Josefin Sans"/>
              <a:ea typeface="Josefin Sans"/>
              <a:cs typeface="Josefin Sans"/>
              <a:sym typeface="Josefin Sans"/>
            </a:endParaRPr>
          </a:p>
        </p:txBody>
      </p:sp>
      <p:sp>
        <p:nvSpPr>
          <p:cNvPr id="597" name="Google Shape;597;p59"/>
          <p:cNvSpPr txBox="1"/>
          <p:nvPr/>
        </p:nvSpPr>
        <p:spPr>
          <a:xfrm>
            <a:off x="4804925" y="1648675"/>
            <a:ext cx="3551400" cy="29871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Critical Thresholds:</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210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Vehicles: &gt;800 veh/hr/lane → signalize crossings</a:t>
            </a:r>
            <a:endParaRPr sz="1200">
              <a:solidFill>
                <a:schemeClr val="hlink"/>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Pedestrians: &gt;75 crossings/hr → install refuge islands</a:t>
            </a:r>
            <a:endParaRPr sz="1200">
              <a:solidFill>
                <a:schemeClr val="hlink"/>
              </a:solidFill>
              <a:latin typeface="Josefin Sans"/>
              <a:ea typeface="Josefin Sans"/>
              <a:cs typeface="Josefin Sans"/>
              <a:sym typeface="Josefin Sans"/>
            </a:endParaRPr>
          </a:p>
          <a:p>
            <a:pPr indent="0" lvl="0" marL="0" rtl="0" algn="l">
              <a:lnSpc>
                <a:spcPct val="115000"/>
              </a:lnSpc>
              <a:spcBef>
                <a:spcPts val="2100"/>
              </a:spcBef>
              <a:spcAft>
                <a:spcPts val="0"/>
              </a:spcAft>
              <a:buNone/>
            </a:pPr>
            <a:r>
              <a:rPr lang="en-GB" sz="1200">
                <a:solidFill>
                  <a:schemeClr val="dk1"/>
                </a:solidFill>
                <a:latin typeface="Josefin Sans"/>
                <a:ea typeface="Josefin Sans"/>
                <a:cs typeface="Josefin Sans"/>
                <a:sym typeface="Josefin Sans"/>
              </a:rPr>
              <a:t>Speed Management:</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210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30 km/h zones near crossings reduce fatalities by 65%</a:t>
            </a:r>
            <a:endParaRPr sz="1200">
              <a:solidFill>
                <a:schemeClr val="hlink"/>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Optical speed bars + narrowing → 12–15% speed reduction</a:t>
            </a:r>
            <a:endParaRPr sz="1200">
              <a:solidFill>
                <a:schemeClr val="dk1"/>
              </a:solidFill>
              <a:latin typeface="Josefin Sans"/>
              <a:ea typeface="Josefin Sans"/>
              <a:cs typeface="Josefin Sans"/>
              <a:sym typeface="Josefin Sans"/>
            </a:endParaRPr>
          </a:p>
        </p:txBody>
      </p:sp>
      <p:sp>
        <p:nvSpPr>
          <p:cNvPr id="598" name="Google Shape;598;p59"/>
          <p:cNvSpPr txBox="1"/>
          <p:nvPr/>
        </p:nvSpPr>
        <p:spPr>
          <a:xfrm>
            <a:off x="992325" y="1140975"/>
            <a:ext cx="2440800" cy="345600"/>
          </a:xfrm>
          <a:prstGeom prst="rect">
            <a:avLst/>
          </a:prstGeom>
          <a:solidFill>
            <a:srgbClr val="0216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300">
                <a:solidFill>
                  <a:srgbClr val="FFFFFF"/>
                </a:solidFill>
                <a:latin typeface="Josefin Sans"/>
                <a:ea typeface="Josefin Sans"/>
                <a:cs typeface="Josefin Sans"/>
                <a:sym typeface="Josefin Sans"/>
              </a:rPr>
              <a:t>    Technology integration</a:t>
            </a:r>
            <a:endParaRPr b="1" sz="1300">
              <a:solidFill>
                <a:srgbClr val="FFFFFF"/>
              </a:solidFill>
              <a:latin typeface="Josefin Sans"/>
              <a:ea typeface="Josefin Sans"/>
              <a:cs typeface="Josefin Sans"/>
              <a:sym typeface="Josefin Sans"/>
            </a:endParaRPr>
          </a:p>
        </p:txBody>
      </p:sp>
      <p:sp>
        <p:nvSpPr>
          <p:cNvPr id="599" name="Google Shape;599;p59"/>
          <p:cNvSpPr txBox="1"/>
          <p:nvPr/>
        </p:nvSpPr>
        <p:spPr>
          <a:xfrm>
            <a:off x="5496962" y="1141225"/>
            <a:ext cx="2440800" cy="345600"/>
          </a:xfrm>
          <a:prstGeom prst="rect">
            <a:avLst/>
          </a:prstGeom>
          <a:solidFill>
            <a:srgbClr val="0216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300">
                <a:solidFill>
                  <a:srgbClr val="FFFFFF"/>
                </a:solidFill>
                <a:latin typeface="Josefin Sans"/>
                <a:ea typeface="Josefin Sans"/>
                <a:cs typeface="Josefin Sans"/>
                <a:sym typeface="Josefin Sans"/>
              </a:rPr>
              <a:t>    Safety-capacity balance</a:t>
            </a:r>
            <a:endParaRPr b="1" sz="1300">
              <a:solidFill>
                <a:srgbClr val="FFFFFF"/>
              </a:solidFill>
              <a:latin typeface="Josefin Sans"/>
              <a:ea typeface="Josefin Sans"/>
              <a:cs typeface="Josefin Sans"/>
              <a:sym typeface="Josefin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60"/>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Unsafe Situation</a:t>
            </a:r>
            <a:r>
              <a:rPr b="1" lang="en-GB">
                <a:solidFill>
                  <a:schemeClr val="lt1"/>
                </a:solidFill>
                <a:highlight>
                  <a:schemeClr val="accent1"/>
                </a:highlight>
                <a:latin typeface="Josefin Sans"/>
                <a:ea typeface="Josefin Sans"/>
                <a:cs typeface="Josefin Sans"/>
                <a:sym typeface="Josefin Sans"/>
              </a:rPr>
              <a:t>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605" name="Google Shape;605;p60"/>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Detailed recommendations to tackle this problem</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606" name="Google Shape;606;p60"/>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Infrastructure</a:t>
            </a:r>
            <a:r>
              <a:rPr lang="en-GB" sz="1100">
                <a:solidFill>
                  <a:srgbClr val="FFFFFF"/>
                </a:solidFill>
                <a:latin typeface="Josefin Sans"/>
                <a:ea typeface="Josefin Sans"/>
                <a:cs typeface="Josefin Sans"/>
                <a:sym typeface="Josefin Sans"/>
              </a:rPr>
              <a:t> interventions for tacking unsafe situation</a:t>
            </a:r>
            <a:r>
              <a:rPr lang="en-GB" sz="1100">
                <a:solidFill>
                  <a:srgbClr val="FFFFFF"/>
                </a:solidFill>
                <a:latin typeface="Josefin Sans"/>
                <a:ea typeface="Josefin Sans"/>
                <a:cs typeface="Josefin Sans"/>
                <a:sym typeface="Josefin Sans"/>
              </a:rPr>
              <a:t>  </a:t>
            </a:r>
            <a:endParaRPr sz="1100">
              <a:solidFill>
                <a:srgbClr val="FFFFFF"/>
              </a:solidFill>
              <a:latin typeface="Josefin Sans"/>
              <a:ea typeface="Josefin Sans"/>
              <a:cs typeface="Josefin Sans"/>
              <a:sym typeface="Josefin Sans"/>
            </a:endParaRPr>
          </a:p>
        </p:txBody>
      </p:sp>
      <p:pic>
        <p:nvPicPr>
          <p:cNvPr id="607" name="Google Shape;607;p60"/>
          <p:cNvPicPr preferRelativeResize="0"/>
          <p:nvPr/>
        </p:nvPicPr>
        <p:blipFill>
          <a:blip r:embed="rId3">
            <a:alphaModFix/>
          </a:blip>
          <a:stretch>
            <a:fillRect/>
          </a:stretch>
        </p:blipFill>
        <p:spPr>
          <a:xfrm>
            <a:off x="52150" y="-5850"/>
            <a:ext cx="407152" cy="457200"/>
          </a:xfrm>
          <a:prstGeom prst="rect">
            <a:avLst/>
          </a:prstGeom>
          <a:noFill/>
          <a:ln>
            <a:noFill/>
          </a:ln>
        </p:spPr>
      </p:pic>
      <p:graphicFrame>
        <p:nvGraphicFramePr>
          <p:cNvPr id="608" name="Google Shape;608;p60"/>
          <p:cNvGraphicFramePr/>
          <p:nvPr/>
        </p:nvGraphicFramePr>
        <p:xfrm>
          <a:off x="4602725" y="1648788"/>
          <a:ext cx="3000000" cy="3000000"/>
        </p:xfrm>
        <a:graphic>
          <a:graphicData uri="http://schemas.openxmlformats.org/drawingml/2006/table">
            <a:tbl>
              <a:tblPr>
                <a:noFill/>
                <a:tableStyleId>{D45A3726-6D87-4FA0-885B-04208B5A4D76}</a:tableStyleId>
              </a:tblPr>
              <a:tblGrid>
                <a:gridCol w="1344675"/>
                <a:gridCol w="1344675"/>
                <a:gridCol w="1344675"/>
              </a:tblGrid>
              <a:tr h="746775">
                <a:tc>
                  <a:txBody>
                    <a:bodyPr/>
                    <a:lstStyle/>
                    <a:p>
                      <a:pPr indent="0" lvl="0" marL="0" rtl="0" algn="ctr">
                        <a:lnSpc>
                          <a:spcPct val="171429"/>
                        </a:lnSpc>
                        <a:spcBef>
                          <a:spcPts val="1100"/>
                        </a:spcBef>
                        <a:spcAft>
                          <a:spcPts val="1100"/>
                        </a:spcAft>
                        <a:buNone/>
                      </a:pPr>
                      <a:r>
                        <a:rPr b="1" lang="en-GB" sz="950">
                          <a:latin typeface="Roboto"/>
                          <a:ea typeface="Roboto"/>
                          <a:cs typeface="Roboto"/>
                          <a:sym typeface="Roboto"/>
                        </a:rPr>
                        <a:t>Zone Type</a:t>
                      </a:r>
                      <a:endParaRPr b="1" sz="950">
                        <a:latin typeface="Roboto"/>
                        <a:ea typeface="Roboto"/>
                        <a:cs typeface="Roboto"/>
                        <a:sym typeface="Robo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c>
                  <a:txBody>
                    <a:bodyPr/>
                    <a:lstStyle/>
                    <a:p>
                      <a:pPr indent="0" lvl="0" marL="0" rtl="0" algn="ctr">
                        <a:lnSpc>
                          <a:spcPct val="171429"/>
                        </a:lnSpc>
                        <a:spcBef>
                          <a:spcPts val="1100"/>
                        </a:spcBef>
                        <a:spcAft>
                          <a:spcPts val="1100"/>
                        </a:spcAft>
                        <a:buNone/>
                      </a:pPr>
                      <a:r>
                        <a:rPr b="1" lang="en-GB" sz="950">
                          <a:latin typeface="Roboto"/>
                          <a:ea typeface="Roboto"/>
                          <a:cs typeface="Roboto"/>
                          <a:sym typeface="Roboto"/>
                        </a:rPr>
                        <a:t>Design Features</a:t>
                      </a:r>
                      <a:endParaRPr b="1" sz="950">
                        <a:latin typeface="Roboto"/>
                        <a:ea typeface="Roboto"/>
                        <a:cs typeface="Roboto"/>
                        <a:sym typeface="Roboto"/>
                      </a:endParaRPr>
                    </a:p>
                  </a:txBody>
                  <a:tcPr marT="91425" marB="91425" marR="91425" marL="91425" anchor="ctr">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c>
                  <a:txBody>
                    <a:bodyPr/>
                    <a:lstStyle/>
                    <a:p>
                      <a:pPr indent="0" lvl="0" marL="0" rtl="0" algn="ctr">
                        <a:lnSpc>
                          <a:spcPct val="171429"/>
                        </a:lnSpc>
                        <a:spcBef>
                          <a:spcPts val="1100"/>
                        </a:spcBef>
                        <a:spcAft>
                          <a:spcPts val="1100"/>
                        </a:spcAft>
                        <a:buNone/>
                      </a:pPr>
                      <a:r>
                        <a:rPr b="1" lang="en-GB" sz="950">
                          <a:latin typeface="Roboto"/>
                          <a:ea typeface="Roboto"/>
                          <a:cs typeface="Roboto"/>
                          <a:sym typeface="Roboto"/>
                        </a:rPr>
                        <a:t>Conflict Reduction</a:t>
                      </a:r>
                      <a:endParaRPr b="1" sz="950">
                        <a:latin typeface="Roboto"/>
                        <a:ea typeface="Roboto"/>
                        <a:cs typeface="Roboto"/>
                        <a:sym typeface="Roboto"/>
                      </a:endParaRPr>
                    </a:p>
                  </a:txBody>
                  <a:tcPr marT="91425" marB="91425" marR="91425" marL="91425" anchor="ctr">
                    <a:lnL cap="flat" cmpd="sng" w="9525">
                      <a:solidFill>
                        <a:schemeClr val="accen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r>
              <a:tr h="746775">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School areas</a:t>
                      </a:r>
                      <a:endParaRPr sz="950">
                        <a:latin typeface="Roboto"/>
                        <a:ea typeface="Roboto"/>
                        <a:cs typeface="Roboto"/>
                        <a:sym typeface="Roboto"/>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Flashing beacons + speed humps</a:t>
                      </a:r>
                      <a:endParaRPr sz="950">
                        <a:latin typeface="Roboto"/>
                        <a:ea typeface="Roboto"/>
                        <a:cs typeface="Roboto"/>
                        <a:sym typeface="Roboto"/>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55-60%</a:t>
                      </a:r>
                      <a:endParaRPr sz="950">
                        <a:latin typeface="Roboto"/>
                        <a:ea typeface="Roboto"/>
                        <a:cs typeface="Roboto"/>
                        <a:sym typeface="Roboto"/>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46775">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Commercial corridors</a:t>
                      </a:r>
                      <a:endParaRPr sz="950">
                        <a:latin typeface="Roboto"/>
                        <a:ea typeface="Roboto"/>
                        <a:cs typeface="Roboto"/>
                        <a:sym typeface="Roboto"/>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Refuge islands + pedestrian countdowns</a:t>
                      </a:r>
                      <a:endParaRPr sz="950">
                        <a:latin typeface="Roboto"/>
                        <a:ea typeface="Roboto"/>
                        <a:cs typeface="Roboto"/>
                        <a:sym typeface="Roboto"/>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40-45%</a:t>
                      </a:r>
                      <a:endParaRPr sz="950">
                        <a:latin typeface="Roboto"/>
                        <a:ea typeface="Roboto"/>
                        <a:cs typeface="Roboto"/>
                        <a:sym typeface="Roboto"/>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46775">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Transit hubs</a:t>
                      </a:r>
                      <a:endParaRPr sz="950">
                        <a:latin typeface="Roboto"/>
                        <a:ea typeface="Roboto"/>
                        <a:cs typeface="Roboto"/>
                        <a:sym typeface="Roboto"/>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Elevated crossings + tactile paving</a:t>
                      </a:r>
                      <a:endParaRPr sz="950">
                        <a:latin typeface="Roboto"/>
                        <a:ea typeface="Roboto"/>
                        <a:cs typeface="Roboto"/>
                        <a:sym typeface="Roboto"/>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50-55%</a:t>
                      </a:r>
                      <a:endParaRPr sz="950">
                        <a:latin typeface="Roboto"/>
                        <a:ea typeface="Roboto"/>
                        <a:cs typeface="Roboto"/>
                        <a:sym typeface="Roboto"/>
                      </a:endParaRPr>
                    </a:p>
                  </a:txBody>
                  <a:tcPr marT="68950" marB="689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609" name="Google Shape;609;p60"/>
          <p:cNvSpPr txBox="1"/>
          <p:nvPr/>
        </p:nvSpPr>
        <p:spPr>
          <a:xfrm>
            <a:off x="507225" y="1648688"/>
            <a:ext cx="3551400" cy="29871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Crosswalk Spacing:</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210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Install semi-controlled crossings every 120-150m in areas with &gt;500 ped/hr</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Use raised crosswalks (7-10 cm height) to force 30-40% speed reduction</a:t>
            </a:r>
            <a:endParaRPr sz="1200">
              <a:solidFill>
                <a:schemeClr val="dk1"/>
              </a:solidFill>
              <a:latin typeface="Josefin Sans"/>
              <a:ea typeface="Josefin Sans"/>
              <a:cs typeface="Josefin Sans"/>
              <a:sym typeface="Josefin Sans"/>
            </a:endParaRPr>
          </a:p>
          <a:p>
            <a:pPr indent="0" lvl="0" marL="0" rtl="0" algn="l">
              <a:lnSpc>
                <a:spcPct val="115000"/>
              </a:lnSpc>
              <a:spcBef>
                <a:spcPts val="2100"/>
              </a:spcBef>
              <a:spcAft>
                <a:spcPts val="0"/>
              </a:spcAft>
              <a:buNone/>
            </a:pPr>
            <a:r>
              <a:rPr lang="en-GB" sz="1200">
                <a:solidFill>
                  <a:schemeClr val="dk1"/>
                </a:solidFill>
                <a:latin typeface="Josefin Sans"/>
                <a:ea typeface="Josefin Sans"/>
                <a:cs typeface="Josefin Sans"/>
                <a:sym typeface="Josefin Sans"/>
              </a:rPr>
              <a:t>Traffic Calming:</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210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Implement optical narrowing (3.0-3.5m lane width) near schools/hospitals</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Add chicanes with 15-20° deflection angles to limit speeds to 30 km/h</a:t>
            </a:r>
            <a:endParaRPr b="1" sz="1100">
              <a:solidFill>
                <a:schemeClr val="dk1"/>
              </a:solidFill>
              <a:highlight>
                <a:srgbClr val="F3F3F3"/>
              </a:highlight>
              <a:latin typeface="Josefin Sans"/>
              <a:ea typeface="Josefin Sans"/>
              <a:cs typeface="Josefin Sans"/>
              <a:sym typeface="Josefin Sans"/>
            </a:endParaRPr>
          </a:p>
        </p:txBody>
      </p:sp>
      <p:sp>
        <p:nvSpPr>
          <p:cNvPr id="610" name="Google Shape;610;p60"/>
          <p:cNvSpPr txBox="1"/>
          <p:nvPr/>
        </p:nvSpPr>
        <p:spPr>
          <a:xfrm>
            <a:off x="3351462" y="1042438"/>
            <a:ext cx="2440800" cy="345600"/>
          </a:xfrm>
          <a:prstGeom prst="rect">
            <a:avLst/>
          </a:prstGeom>
          <a:solidFill>
            <a:srgbClr val="0216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300">
                <a:solidFill>
                  <a:srgbClr val="FFFFFF"/>
                </a:solidFill>
                <a:latin typeface="Josefin Sans"/>
                <a:ea typeface="Josefin Sans"/>
                <a:cs typeface="Josefin Sans"/>
                <a:sym typeface="Josefin Sans"/>
              </a:rPr>
              <a:t>      Infrastructure design</a:t>
            </a:r>
            <a:endParaRPr b="1" sz="1300">
              <a:solidFill>
                <a:srgbClr val="FFFFFF"/>
              </a:solidFill>
              <a:latin typeface="Josefin Sans"/>
              <a:ea typeface="Josefin Sans"/>
              <a:cs typeface="Josefin Sans"/>
              <a:sym typeface="Josefin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61"/>
          <p:cNvSpPr/>
          <p:nvPr/>
        </p:nvSpPr>
        <p:spPr>
          <a:xfrm>
            <a:off x="-150" y="-51600"/>
            <a:ext cx="9144000" cy="548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highlight>
                  <a:schemeClr val="accent1"/>
                </a:highlight>
                <a:latin typeface="Josefin Sans"/>
                <a:ea typeface="Josefin Sans"/>
                <a:cs typeface="Josefin Sans"/>
                <a:sym typeface="Josefin Sans"/>
              </a:rPr>
              <a:t>Unsafe Situation </a:t>
            </a:r>
            <a:r>
              <a:rPr b="1" lang="en-GB">
                <a:solidFill>
                  <a:srgbClr val="FFFFFF"/>
                </a:solidFill>
                <a:latin typeface="Josefin Sans"/>
                <a:ea typeface="Josefin Sans"/>
                <a:cs typeface="Josefin Sans"/>
                <a:sym typeface="Josefin Sans"/>
              </a:rPr>
              <a:t> </a:t>
            </a:r>
            <a:endParaRPr b="1">
              <a:solidFill>
                <a:srgbClr val="FFFFFF"/>
              </a:solidFill>
              <a:latin typeface="Josefin Sans"/>
              <a:ea typeface="Josefin Sans"/>
              <a:cs typeface="Josefin Sans"/>
              <a:sym typeface="Josefin Sans"/>
            </a:endParaRPr>
          </a:p>
        </p:txBody>
      </p:sp>
      <p:sp>
        <p:nvSpPr>
          <p:cNvPr id="616" name="Google Shape;616;p61"/>
          <p:cNvSpPr/>
          <p:nvPr/>
        </p:nvSpPr>
        <p:spPr>
          <a:xfrm>
            <a:off x="-150" y="507600"/>
            <a:ext cx="9144000" cy="274200"/>
          </a:xfrm>
          <a:prstGeom prst="rect">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latin typeface="Josefin Sans"/>
                <a:ea typeface="Josefin Sans"/>
                <a:cs typeface="Josefin Sans"/>
                <a:sym typeface="Josefin Sans"/>
              </a:rPr>
              <a:t>Detailed recommendations to tackle this problem</a:t>
            </a:r>
            <a:r>
              <a:rPr b="1" lang="en-GB" sz="1000">
                <a:solidFill>
                  <a:srgbClr val="000000"/>
                </a:solidFill>
                <a:latin typeface="Josefin Sans"/>
                <a:ea typeface="Josefin Sans"/>
                <a:cs typeface="Josefin Sans"/>
                <a:sym typeface="Josefin Sans"/>
              </a:rPr>
              <a:t>   </a:t>
            </a:r>
            <a:endParaRPr b="1" sz="1000">
              <a:solidFill>
                <a:srgbClr val="000000"/>
              </a:solidFill>
              <a:latin typeface="Josefin Sans"/>
              <a:ea typeface="Josefin Sans"/>
              <a:cs typeface="Josefin Sans"/>
              <a:sym typeface="Josefin Sans"/>
            </a:endParaRPr>
          </a:p>
        </p:txBody>
      </p:sp>
      <p:sp>
        <p:nvSpPr>
          <p:cNvPr id="617" name="Google Shape;617;p61"/>
          <p:cNvSpPr/>
          <p:nvPr/>
        </p:nvSpPr>
        <p:spPr>
          <a:xfrm>
            <a:off x="0" y="4797875"/>
            <a:ext cx="9144000" cy="345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FFFFFF"/>
                </a:solidFill>
                <a:latin typeface="Josefin Sans"/>
                <a:ea typeface="Josefin Sans"/>
                <a:cs typeface="Josefin Sans"/>
                <a:sym typeface="Josefin Sans"/>
              </a:rPr>
              <a:t>Technology and cost effective solutions for solving unsafe situation</a:t>
            </a:r>
            <a:r>
              <a:rPr lang="en-GB" sz="1100">
                <a:solidFill>
                  <a:srgbClr val="FFFFFF"/>
                </a:solidFill>
                <a:latin typeface="Josefin Sans"/>
                <a:ea typeface="Josefin Sans"/>
                <a:cs typeface="Josefin Sans"/>
                <a:sym typeface="Josefin Sans"/>
              </a:rPr>
              <a:t>  </a:t>
            </a:r>
            <a:endParaRPr sz="1100">
              <a:solidFill>
                <a:srgbClr val="FFFFFF"/>
              </a:solidFill>
              <a:latin typeface="Josefin Sans"/>
              <a:ea typeface="Josefin Sans"/>
              <a:cs typeface="Josefin Sans"/>
              <a:sym typeface="Josefin Sans"/>
            </a:endParaRPr>
          </a:p>
        </p:txBody>
      </p:sp>
      <p:pic>
        <p:nvPicPr>
          <p:cNvPr id="618" name="Google Shape;618;p61"/>
          <p:cNvPicPr preferRelativeResize="0"/>
          <p:nvPr/>
        </p:nvPicPr>
        <p:blipFill>
          <a:blip r:embed="rId3">
            <a:alphaModFix/>
          </a:blip>
          <a:stretch>
            <a:fillRect/>
          </a:stretch>
        </p:blipFill>
        <p:spPr>
          <a:xfrm>
            <a:off x="52150" y="-5850"/>
            <a:ext cx="407152" cy="457200"/>
          </a:xfrm>
          <a:prstGeom prst="rect">
            <a:avLst/>
          </a:prstGeom>
          <a:noFill/>
          <a:ln>
            <a:noFill/>
          </a:ln>
        </p:spPr>
      </p:pic>
      <p:sp>
        <p:nvSpPr>
          <p:cNvPr id="619" name="Google Shape;619;p61"/>
          <p:cNvSpPr txBox="1"/>
          <p:nvPr/>
        </p:nvSpPr>
        <p:spPr>
          <a:xfrm>
            <a:off x="1062537" y="1042438"/>
            <a:ext cx="2440800" cy="345600"/>
          </a:xfrm>
          <a:prstGeom prst="rect">
            <a:avLst/>
          </a:prstGeom>
          <a:solidFill>
            <a:srgbClr val="0216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300">
                <a:solidFill>
                  <a:srgbClr val="FFFFFF"/>
                </a:solidFill>
                <a:latin typeface="Josefin Sans"/>
                <a:ea typeface="Josefin Sans"/>
                <a:cs typeface="Josefin Sans"/>
                <a:sym typeface="Josefin Sans"/>
              </a:rPr>
              <a:t>      </a:t>
            </a:r>
            <a:r>
              <a:rPr b="1" lang="en-GB" sz="1300">
                <a:solidFill>
                  <a:srgbClr val="FFFFFF"/>
                </a:solidFill>
                <a:latin typeface="Josefin Sans"/>
                <a:ea typeface="Josefin Sans"/>
                <a:cs typeface="Josefin Sans"/>
                <a:sym typeface="Josefin Sans"/>
              </a:rPr>
              <a:t>Technology</a:t>
            </a:r>
            <a:r>
              <a:rPr b="1" lang="en-GB" sz="1300">
                <a:solidFill>
                  <a:srgbClr val="FFFFFF"/>
                </a:solidFill>
                <a:latin typeface="Josefin Sans"/>
                <a:ea typeface="Josefin Sans"/>
                <a:cs typeface="Josefin Sans"/>
                <a:sym typeface="Josefin Sans"/>
              </a:rPr>
              <a:t> integration</a:t>
            </a:r>
            <a:endParaRPr b="1" sz="1300">
              <a:solidFill>
                <a:srgbClr val="FFFFFF"/>
              </a:solidFill>
              <a:latin typeface="Josefin Sans"/>
              <a:ea typeface="Josefin Sans"/>
              <a:cs typeface="Josefin Sans"/>
              <a:sym typeface="Josefin Sans"/>
            </a:endParaRPr>
          </a:p>
        </p:txBody>
      </p:sp>
      <p:sp>
        <p:nvSpPr>
          <p:cNvPr id="620" name="Google Shape;620;p61"/>
          <p:cNvSpPr txBox="1"/>
          <p:nvPr/>
        </p:nvSpPr>
        <p:spPr>
          <a:xfrm>
            <a:off x="507225" y="1648688"/>
            <a:ext cx="3551400" cy="2987100"/>
          </a:xfrm>
          <a:prstGeom prst="rect">
            <a:avLst/>
          </a:prstGeom>
          <a:solidFill>
            <a:srgbClr val="EFEFE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600"/>
              </a:spcBef>
              <a:spcAft>
                <a:spcPts val="0"/>
              </a:spcAft>
              <a:buNone/>
            </a:pPr>
            <a:r>
              <a:rPr lang="en-GB" sz="1200">
                <a:solidFill>
                  <a:schemeClr val="dk1"/>
                </a:solidFill>
                <a:latin typeface="Josefin Sans"/>
                <a:ea typeface="Josefin Sans"/>
                <a:cs typeface="Josefin Sans"/>
                <a:sym typeface="Josefin Sans"/>
              </a:rPr>
              <a:t>Smart Systems:</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210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Thermal cameras triggering LED warnings 50m ahead of crossings</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Adaptive signals prioritizing pedestrians during peak hours (70-90% green time)</a:t>
            </a:r>
            <a:endParaRPr sz="1200">
              <a:solidFill>
                <a:schemeClr val="dk1"/>
              </a:solidFill>
              <a:latin typeface="Josefin Sans"/>
              <a:ea typeface="Josefin Sans"/>
              <a:cs typeface="Josefin Sans"/>
              <a:sym typeface="Josefin Sans"/>
            </a:endParaRPr>
          </a:p>
          <a:p>
            <a:pPr indent="0" lvl="0" marL="0" rtl="0" algn="l">
              <a:lnSpc>
                <a:spcPct val="115000"/>
              </a:lnSpc>
              <a:spcBef>
                <a:spcPts val="2100"/>
              </a:spcBef>
              <a:spcAft>
                <a:spcPts val="0"/>
              </a:spcAft>
              <a:buNone/>
            </a:pPr>
            <a:r>
              <a:rPr lang="en-GB" sz="1200">
                <a:solidFill>
                  <a:schemeClr val="dk1"/>
                </a:solidFill>
                <a:latin typeface="Josefin Sans"/>
                <a:ea typeface="Josefin Sans"/>
                <a:cs typeface="Josefin Sans"/>
                <a:sym typeface="Josefin Sans"/>
              </a:rPr>
              <a:t>Vehicle-to-Pedestrian (V2P):</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210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Mobile apps alerting drivers to hidden pedestrians (30% faster reaction time)</a:t>
            </a:r>
            <a:endParaRPr sz="1200">
              <a:solidFill>
                <a:schemeClr val="dk1"/>
              </a:solidFill>
              <a:latin typeface="Josefin Sans"/>
              <a:ea typeface="Josefin Sans"/>
              <a:cs typeface="Josefin Sans"/>
              <a:sym typeface="Josefin Sans"/>
            </a:endParaRPr>
          </a:p>
          <a:p>
            <a:pPr indent="-304800" lvl="0" marL="457200" rtl="0" algn="l">
              <a:lnSpc>
                <a:spcPct val="115000"/>
              </a:lnSpc>
              <a:spcBef>
                <a:spcPts val="0"/>
              </a:spcBef>
              <a:spcAft>
                <a:spcPts val="0"/>
              </a:spcAft>
              <a:buClr>
                <a:schemeClr val="dk1"/>
              </a:buClr>
              <a:buSzPts val="1200"/>
              <a:buFont typeface="Josefin Sans"/>
              <a:buChar char="●"/>
            </a:pPr>
            <a:r>
              <a:rPr lang="en-GB" sz="1200">
                <a:solidFill>
                  <a:schemeClr val="dk1"/>
                </a:solidFill>
                <a:latin typeface="Josefin Sans"/>
                <a:ea typeface="Josefin Sans"/>
                <a:cs typeface="Josefin Sans"/>
                <a:sym typeface="Josefin Sans"/>
              </a:rPr>
              <a:t>On-board units warning drivers via haptic steering (↓ 40% late braking)</a:t>
            </a:r>
            <a:endParaRPr sz="1200">
              <a:solidFill>
                <a:schemeClr val="dk1"/>
              </a:solidFill>
              <a:latin typeface="Josefin Sans"/>
              <a:ea typeface="Josefin Sans"/>
              <a:cs typeface="Josefin Sans"/>
              <a:sym typeface="Josefin Sans"/>
            </a:endParaRPr>
          </a:p>
        </p:txBody>
      </p:sp>
      <p:graphicFrame>
        <p:nvGraphicFramePr>
          <p:cNvPr id="621" name="Google Shape;621;p61"/>
          <p:cNvGraphicFramePr/>
          <p:nvPr/>
        </p:nvGraphicFramePr>
        <p:xfrm>
          <a:off x="4602725" y="1648788"/>
          <a:ext cx="3000000" cy="3000000"/>
        </p:xfrm>
        <a:graphic>
          <a:graphicData uri="http://schemas.openxmlformats.org/drawingml/2006/table">
            <a:tbl>
              <a:tblPr>
                <a:noFill/>
                <a:tableStyleId>{D45A3726-6D87-4FA0-885B-04208B5A4D76}</a:tableStyleId>
              </a:tblPr>
              <a:tblGrid>
                <a:gridCol w="1008500"/>
                <a:gridCol w="1008500"/>
                <a:gridCol w="1008500"/>
                <a:gridCol w="1008500"/>
              </a:tblGrid>
              <a:tr h="746775">
                <a:tc>
                  <a:txBody>
                    <a:bodyPr/>
                    <a:lstStyle/>
                    <a:p>
                      <a:pPr indent="0" lvl="0" marL="0" rtl="0" algn="ctr">
                        <a:lnSpc>
                          <a:spcPct val="171429"/>
                        </a:lnSpc>
                        <a:spcBef>
                          <a:spcPts val="1100"/>
                        </a:spcBef>
                        <a:spcAft>
                          <a:spcPts val="1100"/>
                        </a:spcAft>
                        <a:buNone/>
                      </a:pPr>
                      <a:r>
                        <a:rPr b="1" lang="en-GB" sz="950">
                          <a:latin typeface="Roboto"/>
                          <a:ea typeface="Roboto"/>
                          <a:cs typeface="Roboto"/>
                          <a:sym typeface="Roboto"/>
                        </a:rPr>
                        <a:t>Intervention</a:t>
                      </a:r>
                      <a:endParaRPr b="1" sz="950">
                        <a:latin typeface="Roboto"/>
                        <a:ea typeface="Roboto"/>
                        <a:cs typeface="Roboto"/>
                        <a:sym typeface="Robo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c>
                  <a:txBody>
                    <a:bodyPr/>
                    <a:lstStyle/>
                    <a:p>
                      <a:pPr indent="0" lvl="0" marL="0" rtl="0" algn="ctr">
                        <a:lnSpc>
                          <a:spcPct val="171429"/>
                        </a:lnSpc>
                        <a:spcBef>
                          <a:spcPts val="1100"/>
                        </a:spcBef>
                        <a:spcAft>
                          <a:spcPts val="1100"/>
                        </a:spcAft>
                        <a:buNone/>
                      </a:pPr>
                      <a:r>
                        <a:rPr b="1" lang="en-GB" sz="950">
                          <a:latin typeface="Roboto"/>
                          <a:ea typeface="Roboto"/>
                          <a:cs typeface="Roboto"/>
                          <a:sym typeface="Roboto"/>
                        </a:rPr>
                        <a:t>Cost (USD/m)</a:t>
                      </a:r>
                      <a:endParaRPr b="1" sz="950">
                        <a:latin typeface="Roboto"/>
                        <a:ea typeface="Roboto"/>
                        <a:cs typeface="Roboto"/>
                        <a:sym typeface="Roboto"/>
                      </a:endParaRPr>
                    </a:p>
                  </a:txBody>
                  <a:tcPr marT="91425" marB="91425" marR="91425" marL="91425" anchor="ctr">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c>
                  <a:txBody>
                    <a:bodyPr/>
                    <a:lstStyle/>
                    <a:p>
                      <a:pPr indent="0" lvl="0" marL="0" rtl="0" algn="ctr">
                        <a:lnSpc>
                          <a:spcPct val="171429"/>
                        </a:lnSpc>
                        <a:spcBef>
                          <a:spcPts val="1100"/>
                        </a:spcBef>
                        <a:spcAft>
                          <a:spcPts val="1100"/>
                        </a:spcAft>
                        <a:buNone/>
                      </a:pPr>
                      <a:r>
                        <a:rPr b="1" lang="en-GB" sz="950">
                          <a:latin typeface="Roboto"/>
                          <a:ea typeface="Roboto"/>
                          <a:cs typeface="Roboto"/>
                          <a:sym typeface="Roboto"/>
                        </a:rPr>
                        <a:t>Effectiveness</a:t>
                      </a:r>
                      <a:endParaRPr b="1" sz="950">
                        <a:latin typeface="Roboto"/>
                        <a:ea typeface="Roboto"/>
                        <a:cs typeface="Roboto"/>
                        <a:sym typeface="Roboto"/>
                      </a:endParaRPr>
                    </a:p>
                  </a:txBody>
                  <a:tcPr marT="91425" marB="91425" marR="91425" marL="91425" anchor="ctr">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c>
                  <a:txBody>
                    <a:bodyPr/>
                    <a:lstStyle/>
                    <a:p>
                      <a:pPr indent="0" lvl="0" marL="0" rtl="0" algn="ctr">
                        <a:lnSpc>
                          <a:spcPct val="171429"/>
                        </a:lnSpc>
                        <a:spcBef>
                          <a:spcPts val="1100"/>
                        </a:spcBef>
                        <a:spcAft>
                          <a:spcPts val="1100"/>
                        </a:spcAft>
                        <a:buNone/>
                      </a:pPr>
                      <a:r>
                        <a:rPr b="1" lang="en-GB" sz="950">
                          <a:latin typeface="Roboto"/>
                          <a:ea typeface="Roboto"/>
                          <a:cs typeface="Roboto"/>
                          <a:sym typeface="Roboto"/>
                        </a:rPr>
                        <a:t>Implementation Time</a:t>
                      </a:r>
                      <a:endParaRPr b="1" sz="950">
                        <a:latin typeface="Roboto"/>
                        <a:ea typeface="Roboto"/>
                        <a:cs typeface="Roboto"/>
                        <a:sym typeface="Roboto"/>
                      </a:endParaRPr>
                    </a:p>
                  </a:txBody>
                  <a:tcPr marT="91425" marB="91425" marR="91425" marL="91425" anchor="ctr">
                    <a:lnL cap="flat" cmpd="sng" w="9525">
                      <a:solidFill>
                        <a:schemeClr val="accen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r>
              <a:tr h="746775">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Pavement markings</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$15-20</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25-30%</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1-2 days</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r>
              <a:tr h="746775">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Rubber speed humps</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$50-80</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40-45%</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3-5 days</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46775">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Curb extensions</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$120-150</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35-40%</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71429"/>
                        </a:lnSpc>
                        <a:spcBef>
                          <a:spcPts val="1100"/>
                        </a:spcBef>
                        <a:spcAft>
                          <a:spcPts val="1100"/>
                        </a:spcAft>
                        <a:buNone/>
                      </a:pPr>
                      <a:r>
                        <a:rPr lang="en-GB" sz="950">
                          <a:latin typeface="Roboto"/>
                          <a:ea typeface="Roboto"/>
                          <a:cs typeface="Roboto"/>
                          <a:sym typeface="Roboto"/>
                        </a:rPr>
                        <a:t>2-3 weeks</a:t>
                      </a:r>
                      <a:endParaRPr sz="950">
                        <a:latin typeface="Roboto"/>
                        <a:ea typeface="Roboto"/>
                        <a:cs typeface="Roboto"/>
                        <a:sym typeface="Roboto"/>
                      </a:endParaRPr>
                    </a:p>
                  </a:txBody>
                  <a:tcPr marT="68950" marB="689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622" name="Google Shape;622;p61"/>
          <p:cNvSpPr txBox="1"/>
          <p:nvPr/>
        </p:nvSpPr>
        <p:spPr>
          <a:xfrm>
            <a:off x="5399337" y="1081988"/>
            <a:ext cx="2440800" cy="345600"/>
          </a:xfrm>
          <a:prstGeom prst="rect">
            <a:avLst/>
          </a:prstGeom>
          <a:solidFill>
            <a:srgbClr val="0216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300">
                <a:solidFill>
                  <a:srgbClr val="FFFFFF"/>
                </a:solidFill>
                <a:latin typeface="Josefin Sans"/>
                <a:ea typeface="Josefin Sans"/>
                <a:cs typeface="Josefin Sans"/>
                <a:sym typeface="Josefin Sans"/>
              </a:rPr>
              <a:t>      Cost-effective solutions</a:t>
            </a:r>
            <a:endParaRPr b="1" sz="1300">
              <a:solidFill>
                <a:srgbClr val="FFFFFF"/>
              </a:solidFill>
              <a:latin typeface="Josefin Sans"/>
              <a:ea typeface="Josefin Sans"/>
              <a:cs typeface="Josefin Sans"/>
              <a:sym typeface="Josefin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2"/>
          <p:cNvSpPr/>
          <p:nvPr/>
        </p:nvSpPr>
        <p:spPr>
          <a:xfrm>
            <a:off x="-150" y="-51600"/>
            <a:ext cx="9144000" cy="5195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3200">
                <a:solidFill>
                  <a:schemeClr val="lt1"/>
                </a:solidFill>
                <a:highlight>
                  <a:schemeClr val="accent1"/>
                </a:highlight>
                <a:latin typeface="Josefin Sans"/>
                <a:ea typeface="Josefin Sans"/>
                <a:cs typeface="Josefin Sans"/>
                <a:sym typeface="Josefin Sans"/>
              </a:rPr>
              <a:t>THANK YOU</a:t>
            </a:r>
            <a:r>
              <a:rPr b="1" lang="en-GB" sz="1800">
                <a:solidFill>
                  <a:schemeClr val="lt1"/>
                </a:solidFill>
                <a:highlight>
                  <a:schemeClr val="accent1"/>
                </a:highlight>
                <a:latin typeface="Josefin Sans"/>
                <a:ea typeface="Josefin Sans"/>
                <a:cs typeface="Josefin Sans"/>
                <a:sym typeface="Josefin Sans"/>
              </a:rPr>
              <a:t> </a:t>
            </a:r>
            <a:r>
              <a:rPr b="1" lang="en-GB" sz="1800">
                <a:solidFill>
                  <a:srgbClr val="FFFFFF"/>
                </a:solidFill>
                <a:latin typeface="Josefin Sans"/>
                <a:ea typeface="Josefin Sans"/>
                <a:cs typeface="Josefin Sans"/>
                <a:sym typeface="Josefin Sans"/>
              </a:rPr>
              <a:t> </a:t>
            </a:r>
            <a:endParaRPr b="1" sz="1800">
              <a:solidFill>
                <a:srgbClr val="FFFFFF"/>
              </a:solidFill>
              <a:latin typeface="Josefin Sans"/>
              <a:ea typeface="Josefin Sans"/>
              <a:cs typeface="Josefin Sans"/>
              <a:sym typeface="Josefi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